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section explains how Tripwire actually works, in plain English. Two promises to the audience: (1) every technical idea gets a lay explanation, and (2) by the end you'll see why this is a system with an AI component — not 'an AI'. The word 'honest' is deliberate: the problem is content silently drifting out of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line: our advice is a cached copy of a moving world. 156 is the live count of monitored sources in the registry; 139 is the number of IPFR pages in the corpus database. Emphasise the zero: there is no notification infrastructure anywhere in the chain — not from parliament, not from agencies. Monitoring is nobody's job description, so it silently becomes everybody's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lineage. The AI Steward Dashboard watched AI-governance policy pages, hashed the text, asked Gemini to summarise changes, and published a static dashboard — all on free GitHub infrastructure. It proved automated watching works and taught the core habits: snapshots, fingerprints, scheduled runs, zero-cost hosting. Its ceiling: change detection without impact analysis. Tripwire is the same instinct, re-engineered to answer 'so what, for OUR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elevator version before the internals. Three verbs: detect (in the world), connect (to our corpus), recommend (to a human). The bottom bar pre-empts the scariest misreading: nothing is auto-published. The system's output is an email to a person, never an edit to the site. These three icons come from the main deck — same system, same visual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picture: a funnel of gates. Left rail: what each question costs per item. Right rail: how many items survive on a typical design-load day (156 due → ~25 → ~10 → ~5 → 2–3). The punchline is economic: expensive reasoning is a privilege earned by surviving cheap checks, so the AI bill stays at cents per day no matter how many mornings are quiet. This is also the safety story: most of the machine is boring arithmetic that cannot make things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crux slide for the sceptics. Two kinds of computation, deliberately separated. Deterministic parts: repeatable, loggable, free, incapable of hallucination — they do nearly all the work. The language model is powerful but fallible, so it is architecturally caged: last position, smallest surface, strict output contract, an explicit licence to say UNCERTAIN, and no write access to anything. If you remember one slide, make it this one: the design question was never 'can AI do this job?' but 'what is the smallest act of judgement we actually need, and how do we surround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slide — 'influencers' are upstream sources (legislation register, agency pages, news feeds); 'the influenced' is our own site, mirrored into a small database. Two operability points for the audience: the watch-list is a one-row-per-source spreadsheet any content owner can edit, and everything lives in version control, so the system's entire memory is inspectable and auditable. Swap these two lists and the same machine watches a completely different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unglamorous secret of the whole system: preparation. A separate overnight pipeline re-reads the IPFR site and pre-computes everything the day shift will need — clean text, fingerprints, passages, key phrases, named entities, meaning-map coordinates, and a web of inter-page connections. All numbers on this slide are live counts from the actual database. Because all of this is done once and stored, the daytime pipeline never pays to re-derive it — that is what makes 'compare against everything'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costs almost nothing: it reads the metadata a web server hands out for free — like checking a letterbox flag before opening the box. Note the asymmetry: when signals are missing, the system errs toward looking, never toward skipping. Stage 2 separates real change from cosmetic churn in three passes: an exact fingerprint (SHA-256 — a hash: any one-character difference produces a completely different fingerprint), a word-level comparison to catch formatting-only edits, and a 'significance sniff' for the words that matter in law — dates, amounts, section references, must/may/shall. The sniff only annotates; it can't suppress a genuine change. Everything here is deterministic and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3 turns 'changed' into 'changed HOW'. For webpages that's a before/after comparison of stored snapshots — shown here as strikeout and addition; the real example on screen is the kind of edit that matters: a fee and a deadline. Legislation is easier: the Federal Register publishes an explanatory statement with every amendment, so we fetch the authoritative description instead of reverse-engineering one. News feeds are easiest: new items are the change. From here on, the pipeline reasons about this small change document, not whole websites — precision and economy in 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the two retrieval methods, and the easier one to trust: keyword search with rare-word weighting. Key phrases are extracted from the change automatically, then scored against every page — the arithmetic (BM25) has powered search engines since the 1990s. Deterministic, explainable, fast. But the failure mode is on the right: paraphrase. Law and plain-English guidance constantly say the same thing in different words. That is the precise gap the meaning map fills — neither method is trusted alone; each covers the other's blind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lay explanation. A reading model — trained once, by someone else, open-source — has seen billions of sentences and learned which words appear in similar company. Give it any passage and it produces 768 numbers: a location. Similar meaning, similar location. 'Renewal fee' and 'cost of keeping your registration' land side by side despite sharing no words — that fixes the previous slide's catch. Two properties matter for governance: it's frozen (same text always maps to the same point — this is measurement, not generation, so there is nothing to hallucinate), and it's cheap (coordinates are computed once at ingestion; a daytime comparison is just measuring a distance). If asked: 768 dimensions because more directions of meaning fit than a flat map allows; the distance measure is cosine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4 runs both judges over the whole corpus and blends their rankings (reciprocal rank fusion, with the meaning signal weighted double — paraphrase is the harder problem). A per-source importance weight then nudges totals, and selection is top-5 plus a floor, with a fast-pass for the most critical sources so a sweeping amendment isn't throttled to five pages. Gate 5 changes resolution: from whole pages to sections, using the passages pre-computed at ingestion. The two keep-rules mirror how a human skims — either one section is clearly on point, or lots of it is vaguely on point. Thresholds aren't guesses: they were calibrated during a silent observation period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share gate 6. First, a more expensive comparison: the fast reader (bi-encoder) never sees the two texts together — it compares summaries-by-coordinates. The careful reader (a cross-encoder) reads change and page simultaneously and scores their fit far more sharply. It would be too slow for 139 pages every morning; for five finalists it's nothing. Second, the ripple: pages the site itself connects — by similarity, shared entities, or direct hyperlinks — receive a decaying share of a confirmed hit's alert score. That's how a change to an Act can surface a procedure page that never mentions the Act by name. Design details worth stating out loud: the propagation only boosts (fail-closed again), it decays geometrically, and it dies out after three hops so one hit can't set the whole site on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non-deterministic step, and it looks less like a chatbot and more like a candidate sitting an exam. Gate 7 assembles one briefing per affected page (so five upstream changes to one page produce one call, one email item, one decision). Gate 8's constraints do the governance work: a JSON answer-sheet checked by the machinery, an explicit UNCERTAIN escape hatch so the model is never forced to fake confidence, low temperature to shrink variance, and a parking lane (deferred triggers) so an API outage delays work instead of losing it. The economics land here too: because only finalists reach this stage, the entire AI bill is 2–3 calls — cents —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system's entire output is one email — and silence on quiet days is deliberate: no alert theatre, no inbox training people to ignore it. Three sections: firm recommendations with evidence; the UNCERTAIN pile for human judgement; and near-misses, so a too-aggressive filter is as visible as a false alarm. The four feedback buttons are pre-addressed replies. A scheduled job reads that mailbox and files each reply as structured data. Each button diagnoses a different organ: 'wrong page' means retrieval erred, 'wrong amendment' means the judgement erred, 'not significant' means thresholds are too twitchy. That's what makes tuning evidence-based rather than vibes-based. And the human stays load-bearing: every change to the website is made by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slide. Observation mode meant the system ran silently for weeks while score distributions were studied and thresholds calibrated — it earned the right to send email. Fail-closed is a design invariant: at every gate, uncertainty escalates rather than discards. Deferred retry means an outage costs a day's latency, not a lost signal. Logging is at the decision level, not just 'it ran' — 12,000+ per-source records so far, and a weekly observability report watches for drift. Everything — including the data — is versioned in git, so any morning's decision can be replayed. And the pipeline monitors itself, alerting an admin when IT misbehaves. The point for doubters: responsible and fast aren't opposites. These safeguards were built in from the start by one person, because caution is cheap when it's designed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every public servant asks, and it deserves a straight answer. No Copilot-bashing: a chat assistant is genuinely useful, and we use one. But it's a different species of thing: interactive, general, conversational, unaccountable-by-design (its reasoning isn't logged for audit). Tripwire inverts every one of those properties: autonomous, narrow, mostly deterministic, logged to the decision level, with the one generative step boxed in. The closing line is the thesis of the whole deck: the moment you see AI as a component you architect around — rather than the product itself — a much bigger design space opens than 'buy licences for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accounting. One person, not from a software background, working with an AI pair-programmer (Claude Code) in part-time hours over weeks. The tooling collapsed the cost of building; it did not remove the need to think — the design document preceded the code, and the tests, runbooks, logging and health alerts are what make it an engineered system rather than a script. Standing costs: effectively zero infrastructure (scheduled free compute, open-source models) and cents a day of AI spend. Bridge to the talk's closing theme: building at this speed is now the easy part — the organisational work of deploying is where the effort really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of the Tripwire section. Recap the three-part pattern — deterministic machinery, one boxed-in act of judgement, a human who owns the decision — and generalise it: this is a reusable template for public-sector AI, not an IP-law novelty. Hand back to the talk's wider arc: the barrier to building this way is no longer capability or cost — it's curiosity and the permission to try. Deploying at that speed is the real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442"/>
        </a:solidFill>
      </p:bgPr>
    </p:bg>
    <p:spTree>
      <p:nvGrpSpPr>
        <p:cNvPr id="1" name=""/>
        <p:cNvGrpSpPr/>
        <p:nvPr/>
      </p:nvGrpSpPr>
      <p:grpSpPr>
        <a:xfrm>
          <a:off x="0" y="0"/>
          <a:ext cx="0" cy="0"/>
          <a:chOff x="0" y="0"/>
          <a:chExt cx="0" cy="0"/>
        </a:xfrm>
      </p:grpSpPr>
      <p:sp>
        <p:nvSpPr>
          <p:cNvPr id="2" name="Shape 0"/>
          <p:cNvSpPr/>
          <p:nvPr/>
        </p:nvSpPr>
        <p:spPr>
          <a:xfrm>
            <a:off x="2990088" y="1298448"/>
            <a:ext cx="6217920" cy="2148840"/>
          </a:xfrm>
          <a:prstGeom prst="roundRect">
            <a:avLst>
              <a:gd name="adj" fmla="val 5957"/>
            </a:avLst>
          </a:prstGeom>
          <a:solidFill>
            <a:srgbClr val="FFFFFF"/>
          </a:solidFill>
          <a:ln/>
        </p:spPr>
      </p:sp>
      <p:pic>
        <p:nvPicPr>
          <p:cNvPr id="3" name="Image 0" descr="/home/user/pptx-work/image23.png">    </p:cNvPr>
          <p:cNvPicPr>
            <a:picLocks noChangeAspect="1"/>
          </p:cNvPicPr>
          <p:nvPr/>
        </p:nvPicPr>
        <p:blipFill>
          <a:blip r:embed="rId1"/>
          <a:stretch>
            <a:fillRect/>
          </a:stretch>
        </p:blipFill>
        <p:spPr>
          <a:xfrm>
            <a:off x="3675888" y="1847088"/>
            <a:ext cx="4846320" cy="1316736"/>
          </a:xfrm>
          <a:prstGeom prst="rect">
            <a:avLst/>
          </a:prstGeom>
        </p:spPr>
      </p:pic>
      <p:sp>
        <p:nvSpPr>
          <p:cNvPr id="4" name="Text 1"/>
          <p:cNvSpPr/>
          <p:nvPr/>
        </p:nvSpPr>
        <p:spPr>
          <a:xfrm>
            <a:off x="1097280" y="3913632"/>
            <a:ext cx="9994392" cy="777240"/>
          </a:xfrm>
          <a:prstGeom prst="rect">
            <a:avLst/>
          </a:prstGeom>
          <a:noFill/>
          <a:ln/>
        </p:spPr>
        <p:txBody>
          <a:bodyPr wrap="square" lIns="0" tIns="0" rIns="0" bIns="0" rtlCol="0" anchor="ctr"/>
          <a:lstStyle/>
          <a:p>
            <a:pPr algn="ctr" indent="0" marL="0">
              <a:buNone/>
            </a:pPr>
            <a:r>
              <a:rPr lang="en-US" sz="2300" b="1" dirty="0">
                <a:solidFill>
                  <a:srgbClr val="FFFFFF"/>
                </a:solidFill>
                <a:latin typeface="Arial" pitchFamily="34" charset="0"/>
                <a:ea typeface="Arial" pitchFamily="34" charset="-122"/>
                <a:cs typeface="Arial" pitchFamily="34" charset="-120"/>
              </a:rPr>
              <a:t>How an autonomous watchdog keeps a government website honest</a:t>
            </a:r>
            <a:endParaRPr lang="en-US" sz="2300" dirty="0"/>
          </a:p>
        </p:txBody>
      </p:sp>
      <p:sp>
        <p:nvSpPr>
          <p:cNvPr id="5" name="Text 2"/>
          <p:cNvSpPr/>
          <p:nvPr/>
        </p:nvSpPr>
        <p:spPr>
          <a:xfrm>
            <a:off x="1097280" y="4736592"/>
            <a:ext cx="9994392" cy="365760"/>
          </a:xfrm>
          <a:prstGeom prst="rect">
            <a:avLst/>
          </a:prstGeom>
          <a:noFill/>
          <a:ln/>
        </p:spPr>
        <p:txBody>
          <a:bodyPr wrap="square" lIns="0" tIns="0" rIns="0" bIns="0" rtlCol="0" anchor="ctr"/>
          <a:lstStyle/>
          <a:p>
            <a:pPr algn="ctr" indent="0" marL="0">
              <a:buNone/>
            </a:pPr>
            <a:r>
              <a:rPr lang="en-US" sz="1500" i="1" dirty="0">
                <a:solidFill>
                  <a:srgbClr val="7C99B4"/>
                </a:solidFill>
                <a:latin typeface="Calibri" pitchFamily="34" charset="0"/>
                <a:ea typeface="Calibri" pitchFamily="34" charset="-122"/>
                <a:cs typeface="Calibri" pitchFamily="34" charset="-120"/>
              </a:rPr>
              <a:t>A plain-English tour of the machinery. No computer science required.</a:t>
            </a:r>
            <a:endParaRPr lang="en-US" sz="1500" dirty="0"/>
          </a:p>
        </p:txBody>
      </p:sp>
      <p:sp>
        <p:nvSpPr>
          <p:cNvPr id="6" name="Text 3"/>
          <p:cNvSpPr/>
          <p:nvPr/>
        </p:nvSpPr>
        <p:spPr>
          <a:xfrm>
            <a:off x="1097280" y="5989320"/>
            <a:ext cx="9994392" cy="320040"/>
          </a:xfrm>
          <a:prstGeom prst="rect">
            <a:avLst/>
          </a:prstGeom>
          <a:noFill/>
          <a:ln/>
        </p:spPr>
        <p:txBody>
          <a:bodyPr wrap="square" lIns="0" tIns="0" rIns="0" bIns="0" rtlCol="0" anchor="ctr"/>
          <a:lstStyle/>
          <a:p>
            <a:pPr algn="ctr" indent="0" marL="0">
              <a:buNone/>
            </a:pPr>
            <a:r>
              <a:rPr lang="en-US" sz="1200" b="1" dirty="0">
                <a:solidFill>
                  <a:srgbClr val="B9C8D8"/>
                </a:solidFill>
                <a:latin typeface="Calibri" pitchFamily="34" charset="0"/>
                <a:ea typeface="Calibri" pitchFamily="34" charset="-122"/>
                <a:cs typeface="Calibri" pitchFamily="34" charset="-120"/>
              </a:rPr>
              <a:t>IPAVentures · IP Australia</a:t>
            </a:r>
            <a:pPr algn="ctr" indent="0" marL="0">
              <a:buNone/>
            </a:pPr>
            <a:r>
              <a:rPr lang="en-US" sz="1200" dirty="0">
                <a:solidFill>
                  <a:srgbClr val="B9C8D8"/>
                </a:solidFill>
                <a:latin typeface="Calibri" pitchFamily="34" charset="0"/>
                <a:ea typeface="Calibri" pitchFamily="34" charset="-122"/>
                <a:cs typeface="Calibri" pitchFamily="34" charset="-120"/>
              </a:rPr>
              <a:t>      part of “Building at the speed of curiosity”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WHY THIS EXISTS</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Accurate today. Quietly wrong by Thursday.</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2</a:t>
            </a:r>
            <a:endParaRPr lang="en-US" sz="900" dirty="0"/>
          </a:p>
        </p:txBody>
      </p:sp>
      <p:sp>
        <p:nvSpPr>
          <p:cNvPr id="5" name="Text 3"/>
          <p:cNvSpPr/>
          <p:nvPr/>
        </p:nvSpPr>
        <p:spPr>
          <a:xfrm>
            <a:off x="502920" y="1325880"/>
            <a:ext cx="5577840" cy="914400"/>
          </a:xfrm>
          <a:prstGeom prst="rect">
            <a:avLst/>
          </a:prstGeom>
          <a:noFill/>
          <a:ln/>
        </p:spPr>
        <p:txBody>
          <a:bodyPr wrap="square" lIns="0" tIns="0" rIns="0" bIns="0" rtlCol="0" anchor="ctr"/>
          <a:lstStyle/>
          <a:p>
            <a:pPr indent="0" marL="0">
              <a:buNone/>
            </a:pPr>
            <a:r>
              <a:rPr lang="en-US" sz="1350" dirty="0">
                <a:solidFill>
                  <a:srgbClr val="1F2A3A"/>
                </a:solidFill>
                <a:latin typeface="Calibri" pitchFamily="34" charset="0"/>
                <a:ea typeface="Calibri" pitchFamily="34" charset="-122"/>
                <a:cs typeface="Calibri" pitchFamily="34" charset="-120"/>
              </a:rPr>
              <a:t>IP First Response (IPFR) explains intellectual property in plain English — trade marks, patents, designs, disputes, scams — so people don't have to read legislation.</a:t>
            </a:r>
            <a:endParaRPr lang="en-US" sz="1350" dirty="0"/>
          </a:p>
        </p:txBody>
      </p:sp>
      <p:sp>
        <p:nvSpPr>
          <p:cNvPr id="6" name="Text 4"/>
          <p:cNvSpPr/>
          <p:nvPr/>
        </p:nvSpPr>
        <p:spPr>
          <a:xfrm>
            <a:off x="502920" y="2331720"/>
            <a:ext cx="5577840" cy="1051560"/>
          </a:xfrm>
          <a:prstGeom prst="rect">
            <a:avLst/>
          </a:prstGeom>
          <a:noFill/>
          <a:ln/>
        </p:spPr>
        <p:txBody>
          <a:bodyPr wrap="square" lIns="0" tIns="0" rIns="0" bIns="0" rtlCol="0" anchor="ctr"/>
          <a:lstStyle/>
          <a:p>
            <a:pPr indent="0" marL="0">
              <a:buNone/>
            </a:pPr>
            <a:r>
              <a:rPr lang="en-US" sz="1350" dirty="0">
                <a:solidFill>
                  <a:srgbClr val="1F2A3A"/>
                </a:solidFill>
                <a:latin typeface="Calibri" pitchFamily="34" charset="0"/>
                <a:ea typeface="Calibri" pitchFamily="34" charset="-122"/>
                <a:cs typeface="Calibri" pitchFamily="34" charset="-120"/>
              </a:rPr>
              <a:t>Every page distils laws, regulations, fees, court practice and other agencies' guidance. All of that keeps moving: Acts are amended, fees change, policies are replaced, new guidance appears.</a:t>
            </a:r>
            <a:endParaRPr lang="en-US" sz="1350" dirty="0"/>
          </a:p>
        </p:txBody>
      </p:sp>
      <p:sp>
        <p:nvSpPr>
          <p:cNvPr id="7" name="Text 5"/>
          <p:cNvSpPr/>
          <p:nvPr/>
        </p:nvSpPr>
        <p:spPr>
          <a:xfrm>
            <a:off x="502920" y="3520440"/>
            <a:ext cx="5577840" cy="640080"/>
          </a:xfrm>
          <a:prstGeom prst="rect">
            <a:avLst/>
          </a:prstGeom>
          <a:noFill/>
          <a:ln/>
        </p:spPr>
        <p:txBody>
          <a:bodyPr wrap="square" lIns="0" tIns="0" rIns="0" bIns="0" rtlCol="0" anchor="ctr"/>
          <a:lstStyle/>
          <a:p>
            <a:pPr indent="0" marL="0">
              <a:buNone/>
            </a:pPr>
            <a:r>
              <a:rPr lang="en-US" sz="1550" b="1" dirty="0">
                <a:solidFill>
                  <a:srgbClr val="0C2442"/>
                </a:solidFill>
                <a:latin typeface="Calibri" pitchFamily="34" charset="0"/>
                <a:ea typeface="Calibri" pitchFamily="34" charset="-122"/>
                <a:cs typeface="Calibri" pitchFamily="34" charset="-120"/>
              </a:rPr>
              <a:t>Nobody sends a memo when the world changes underneath your website.</a:t>
            </a:r>
            <a:endParaRPr lang="en-US" sz="1550" dirty="0"/>
          </a:p>
        </p:txBody>
      </p:sp>
      <p:sp>
        <p:nvSpPr>
          <p:cNvPr id="8" name="Text 6"/>
          <p:cNvSpPr/>
          <p:nvPr/>
        </p:nvSpPr>
        <p:spPr>
          <a:xfrm>
            <a:off x="502920" y="4343400"/>
            <a:ext cx="5577840" cy="1005840"/>
          </a:xfrm>
          <a:prstGeom prst="rect">
            <a:avLst/>
          </a:prstGeom>
          <a:noFill/>
          <a:ln/>
        </p:spPr>
        <p:txBody>
          <a:bodyPr wrap="square" lIns="0" tIns="0" rIns="0" bIns="0" rtlCol="0" anchor="ctr"/>
          <a:lstStyle/>
          <a:p>
            <a:pPr indent="0" marL="0">
              <a:buNone/>
            </a:pPr>
            <a:r>
              <a:rPr lang="en-US" sz="1350" dirty="0">
                <a:solidFill>
                  <a:srgbClr val="1F2A3A"/>
                </a:solidFill>
                <a:latin typeface="Calibri" pitchFamily="34" charset="0"/>
                <a:ea typeface="Calibri" pitchFamily="34" charset="-122"/>
                <a:cs typeface="Calibri" pitchFamily="34" charset="-120"/>
              </a:rPr>
              <a:t>The manual fix is a person re-reading every source against every page, forever. That person does not exist — so drift accumulates until someone is misled by our own guidance.</a:t>
            </a:r>
            <a:endParaRPr lang="en-US" sz="1350" dirty="0"/>
          </a:p>
        </p:txBody>
      </p:sp>
      <p:sp>
        <p:nvSpPr>
          <p:cNvPr id="9" name="Text 7"/>
          <p:cNvSpPr/>
          <p:nvPr/>
        </p:nvSpPr>
        <p:spPr>
          <a:xfrm>
            <a:off x="502920" y="5577840"/>
            <a:ext cx="5577840" cy="457200"/>
          </a:xfrm>
          <a:prstGeom prst="rect">
            <a:avLst/>
          </a:prstGeom>
          <a:noFill/>
          <a:ln/>
        </p:spPr>
        <p:txBody>
          <a:bodyPr wrap="square" lIns="0" tIns="0" rIns="0" bIns="0" rtlCol="0" anchor="ctr"/>
          <a:lstStyle/>
          <a:p>
            <a:pPr indent="0" marL="0">
              <a:buNone/>
            </a:pPr>
            <a:r>
              <a:rPr lang="en-US" sz="1350" i="1" dirty="0">
                <a:solidFill>
                  <a:srgbClr val="5E6B7A"/>
                </a:solidFill>
                <a:latin typeface="Calibri" pitchFamily="34" charset="0"/>
                <a:ea typeface="Calibri" pitchFamily="34" charset="-122"/>
                <a:cs typeface="Calibri" pitchFamily="34" charset="-120"/>
              </a:rPr>
              <a:t>Stale guidance isn't cosmetic. People act on it.</a:t>
            </a:r>
            <a:endParaRPr lang="en-US" sz="1350" dirty="0"/>
          </a:p>
        </p:txBody>
      </p:sp>
      <p:sp>
        <p:nvSpPr>
          <p:cNvPr id="10" name="Shape 8"/>
          <p:cNvSpPr/>
          <p:nvPr/>
        </p:nvSpPr>
        <p:spPr>
          <a:xfrm>
            <a:off x="6446520" y="1371600"/>
            <a:ext cx="5212080" cy="1389888"/>
          </a:xfrm>
          <a:prstGeom prst="roundRect">
            <a:avLst>
              <a:gd name="adj" fmla="val 5921"/>
            </a:avLst>
          </a:prstGeom>
          <a:solidFill>
            <a:srgbClr val="EEF2F7"/>
          </a:solidFill>
          <a:ln/>
        </p:spPr>
      </p:sp>
      <p:sp>
        <p:nvSpPr>
          <p:cNvPr id="11" name="Text 9"/>
          <p:cNvSpPr/>
          <p:nvPr/>
        </p:nvSpPr>
        <p:spPr>
          <a:xfrm>
            <a:off x="6675120" y="1463040"/>
            <a:ext cx="1600200" cy="1207008"/>
          </a:xfrm>
          <a:prstGeom prst="rect">
            <a:avLst/>
          </a:prstGeom>
          <a:noFill/>
          <a:ln/>
        </p:spPr>
        <p:txBody>
          <a:bodyPr wrap="square" lIns="0" tIns="0" rIns="0" bIns="0" rtlCol="0" anchor="ctr"/>
          <a:lstStyle/>
          <a:p>
            <a:pPr algn="ctr" indent="0" marL="0">
              <a:buNone/>
            </a:pPr>
            <a:r>
              <a:rPr lang="en-US" sz="4800" b="1" dirty="0">
                <a:solidFill>
                  <a:srgbClr val="0C2442"/>
                </a:solidFill>
                <a:latin typeface="Arial" pitchFamily="34" charset="0"/>
                <a:ea typeface="Arial" pitchFamily="34" charset="-122"/>
                <a:cs typeface="Arial" pitchFamily="34" charset="-120"/>
              </a:rPr>
              <a:t>156</a:t>
            </a:r>
            <a:endParaRPr lang="en-US" sz="4800" dirty="0"/>
          </a:p>
        </p:txBody>
      </p:sp>
      <p:sp>
        <p:nvSpPr>
          <p:cNvPr id="12" name="Text 10"/>
          <p:cNvSpPr/>
          <p:nvPr/>
        </p:nvSpPr>
        <p:spPr>
          <a:xfrm>
            <a:off x="8366760" y="1517904"/>
            <a:ext cx="3154680" cy="109728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authoritative sources we don't control — each able to invalidate our advice</a:t>
            </a:r>
            <a:endParaRPr lang="en-US" sz="1250" dirty="0"/>
          </a:p>
        </p:txBody>
      </p:sp>
      <p:sp>
        <p:nvSpPr>
          <p:cNvPr id="13" name="Shape 11"/>
          <p:cNvSpPr/>
          <p:nvPr/>
        </p:nvSpPr>
        <p:spPr>
          <a:xfrm>
            <a:off x="6446520" y="2999232"/>
            <a:ext cx="5212080" cy="1389888"/>
          </a:xfrm>
          <a:prstGeom prst="roundRect">
            <a:avLst>
              <a:gd name="adj" fmla="val 5921"/>
            </a:avLst>
          </a:prstGeom>
          <a:solidFill>
            <a:srgbClr val="EEF2F7"/>
          </a:solidFill>
          <a:ln/>
        </p:spPr>
      </p:sp>
      <p:sp>
        <p:nvSpPr>
          <p:cNvPr id="14" name="Text 12"/>
          <p:cNvSpPr/>
          <p:nvPr/>
        </p:nvSpPr>
        <p:spPr>
          <a:xfrm>
            <a:off x="6675120" y="3090672"/>
            <a:ext cx="1600200" cy="1207008"/>
          </a:xfrm>
          <a:prstGeom prst="rect">
            <a:avLst/>
          </a:prstGeom>
          <a:noFill/>
          <a:ln/>
        </p:spPr>
        <p:txBody>
          <a:bodyPr wrap="square" lIns="0" tIns="0" rIns="0" bIns="0" rtlCol="0" anchor="ctr"/>
          <a:lstStyle/>
          <a:p>
            <a:pPr algn="ctr" indent="0" marL="0">
              <a:buNone/>
            </a:pPr>
            <a:r>
              <a:rPr lang="en-US" sz="4800" b="1" dirty="0">
                <a:solidFill>
                  <a:srgbClr val="0C2442"/>
                </a:solidFill>
                <a:latin typeface="Arial" pitchFamily="34" charset="0"/>
                <a:ea typeface="Arial" pitchFamily="34" charset="-122"/>
                <a:cs typeface="Arial" pitchFamily="34" charset="-120"/>
              </a:rPr>
              <a:t>139</a:t>
            </a:r>
            <a:endParaRPr lang="en-US" sz="4800" dirty="0"/>
          </a:p>
        </p:txBody>
      </p:sp>
      <p:sp>
        <p:nvSpPr>
          <p:cNvPr id="15" name="Text 13"/>
          <p:cNvSpPr/>
          <p:nvPr/>
        </p:nvSpPr>
        <p:spPr>
          <a:xfrm>
            <a:off x="8366760" y="3145536"/>
            <a:ext cx="3154680" cy="109728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published IPFR pages we are responsible for keeping true</a:t>
            </a:r>
            <a:endParaRPr lang="en-US" sz="1250" dirty="0"/>
          </a:p>
        </p:txBody>
      </p:sp>
      <p:sp>
        <p:nvSpPr>
          <p:cNvPr id="16" name="Shape 14"/>
          <p:cNvSpPr/>
          <p:nvPr/>
        </p:nvSpPr>
        <p:spPr>
          <a:xfrm>
            <a:off x="6446520" y="4626864"/>
            <a:ext cx="5212080" cy="1389888"/>
          </a:xfrm>
          <a:prstGeom prst="roundRect">
            <a:avLst>
              <a:gd name="adj" fmla="val 5921"/>
            </a:avLst>
          </a:prstGeom>
          <a:solidFill>
            <a:srgbClr val="EEF2F7"/>
          </a:solidFill>
          <a:ln/>
        </p:spPr>
      </p:sp>
      <p:sp>
        <p:nvSpPr>
          <p:cNvPr id="17" name="Text 15"/>
          <p:cNvSpPr/>
          <p:nvPr/>
        </p:nvSpPr>
        <p:spPr>
          <a:xfrm>
            <a:off x="6675120" y="4718304"/>
            <a:ext cx="1600200" cy="1207008"/>
          </a:xfrm>
          <a:prstGeom prst="rect">
            <a:avLst/>
          </a:prstGeom>
          <a:noFill/>
          <a:ln/>
        </p:spPr>
        <p:txBody>
          <a:bodyPr wrap="square" lIns="0" tIns="0" rIns="0" bIns="0" rtlCol="0" anchor="ctr"/>
          <a:lstStyle/>
          <a:p>
            <a:pPr algn="ctr" indent="0" marL="0">
              <a:buNone/>
            </a:pPr>
            <a:r>
              <a:rPr lang="en-US" sz="4800" b="1" dirty="0">
                <a:solidFill>
                  <a:srgbClr val="C94F4A"/>
                </a:solidFill>
                <a:latin typeface="Arial" pitchFamily="34" charset="0"/>
                <a:ea typeface="Arial" pitchFamily="34" charset="-122"/>
                <a:cs typeface="Arial" pitchFamily="34" charset="-120"/>
              </a:rPr>
              <a:t>0</a:t>
            </a:r>
            <a:endParaRPr lang="en-US" sz="4800" dirty="0"/>
          </a:p>
        </p:txBody>
      </p:sp>
      <p:sp>
        <p:nvSpPr>
          <p:cNvPr id="18" name="Text 16"/>
          <p:cNvSpPr/>
          <p:nvPr/>
        </p:nvSpPr>
        <p:spPr>
          <a:xfrm>
            <a:off x="8366760" y="4773168"/>
            <a:ext cx="3154680" cy="109728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notifications anyone sends us when any of it changes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WHERE IT STARTED</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A small prototype proved the itch was real</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502920" y="1207008"/>
            <a:ext cx="5486400" cy="274320"/>
          </a:xfrm>
          <a:prstGeom prst="rect">
            <a:avLst/>
          </a:prstGeom>
          <a:noFill/>
          <a:ln/>
        </p:spPr>
        <p:txBody>
          <a:bodyPr wrap="square" lIns="0" tIns="0" rIns="0" bIns="0" rtlCol="0" anchor="ctr"/>
          <a:lstStyle/>
          <a:p>
            <a:pPr indent="0" marL="0">
              <a:buNone/>
            </a:pPr>
            <a:r>
              <a:rPr lang="en-US" sz="1150" b="1" spc="150" kern="0" dirty="0">
                <a:solidFill>
                  <a:srgbClr val="4F7492"/>
                </a:solidFill>
                <a:latin typeface="Arial" pitchFamily="34" charset="0"/>
                <a:ea typeface="Arial" pitchFamily="34" charset="-122"/>
                <a:cs typeface="Arial" pitchFamily="34" charset="-120"/>
              </a:rPr>
              <a:t>THE AI STEWARD DASHBOARD — THE ORIGINAL TRIPWIRE</a:t>
            </a:r>
            <a:endParaRPr lang="en-US" sz="1150" dirty="0"/>
          </a:p>
        </p:txBody>
      </p:sp>
      <p:sp>
        <p:nvSpPr>
          <p:cNvPr id="6" name="Shape 4"/>
          <p:cNvSpPr/>
          <p:nvPr/>
        </p:nvSpPr>
        <p:spPr>
          <a:xfrm>
            <a:off x="502920" y="1600200"/>
            <a:ext cx="5486400" cy="868680"/>
          </a:xfrm>
          <a:prstGeom prst="roundRect">
            <a:avLst>
              <a:gd name="adj" fmla="val 9474"/>
            </a:avLst>
          </a:prstGeom>
          <a:solidFill>
            <a:srgbClr val="FFFFFF"/>
          </a:solidFill>
          <a:ln w="12700">
            <a:solidFill>
              <a:srgbClr val="C9D6E2"/>
            </a:solidFill>
            <a:prstDash val="solid"/>
          </a:ln>
        </p:spPr>
      </p:sp>
      <p:sp>
        <p:nvSpPr>
          <p:cNvPr id="7" name="Shape 5"/>
          <p:cNvSpPr/>
          <p:nvPr/>
        </p:nvSpPr>
        <p:spPr>
          <a:xfrm>
            <a:off x="667512" y="1801368"/>
            <a:ext cx="457200" cy="457200"/>
          </a:xfrm>
          <a:prstGeom prst="ellipse">
            <a:avLst/>
          </a:prstGeom>
          <a:solidFill>
            <a:srgbClr val="0C2442"/>
          </a:solidFill>
          <a:ln/>
        </p:spPr>
      </p:sp>
      <p:pic>
        <p:nvPicPr>
          <p:cNvPr id="8" name="Image 0" descr="preencoded.png">    </p:cNvPr>
          <p:cNvPicPr>
            <a:picLocks noChangeAspect="1"/>
          </p:cNvPicPr>
          <p:nvPr/>
        </p:nvPicPr>
        <p:blipFill>
          <a:blip r:embed="rId1"/>
          <a:stretch>
            <a:fillRect/>
          </a:stretch>
        </p:blipFill>
        <p:spPr>
          <a:xfrm>
            <a:off x="786384" y="1920240"/>
            <a:ext cx="219456" cy="219456"/>
          </a:xfrm>
          <a:prstGeom prst="rect">
            <a:avLst/>
          </a:prstGeom>
        </p:spPr>
      </p:pic>
      <p:sp>
        <p:nvSpPr>
          <p:cNvPr id="9" name="Text 6"/>
          <p:cNvSpPr/>
          <p:nvPr/>
        </p:nvSpPr>
        <p:spPr>
          <a:xfrm>
            <a:off x="1280160" y="1691640"/>
            <a:ext cx="4572000" cy="713232"/>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Watch a fixed list of public AI-policy pages</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government and vendor terms, policies, guidance</a:t>
            </a:r>
            <a:endParaRPr lang="en-US" sz="1250" dirty="0"/>
          </a:p>
        </p:txBody>
      </p:sp>
      <p:sp>
        <p:nvSpPr>
          <p:cNvPr id="10" name="Shape 7"/>
          <p:cNvSpPr/>
          <p:nvPr/>
        </p:nvSpPr>
        <p:spPr>
          <a:xfrm flipV="1">
            <a:off x="3145536" y="2505456"/>
            <a:ext cx="201168" cy="146304"/>
          </a:xfrm>
          <a:prstGeom prst="triangle">
            <a:avLst/>
          </a:prstGeom>
          <a:solidFill>
            <a:srgbClr val="4F7492"/>
          </a:solidFill>
          <a:ln/>
        </p:spPr>
      </p:sp>
      <p:sp>
        <p:nvSpPr>
          <p:cNvPr id="11" name="Shape 8"/>
          <p:cNvSpPr/>
          <p:nvPr/>
        </p:nvSpPr>
        <p:spPr>
          <a:xfrm>
            <a:off x="502920" y="2679192"/>
            <a:ext cx="5486400" cy="868680"/>
          </a:xfrm>
          <a:prstGeom prst="roundRect">
            <a:avLst>
              <a:gd name="adj" fmla="val 9474"/>
            </a:avLst>
          </a:prstGeom>
          <a:solidFill>
            <a:srgbClr val="FFFFFF"/>
          </a:solidFill>
          <a:ln w="12700">
            <a:solidFill>
              <a:srgbClr val="C9D6E2"/>
            </a:solidFill>
            <a:prstDash val="solid"/>
          </a:ln>
        </p:spPr>
      </p:sp>
      <p:sp>
        <p:nvSpPr>
          <p:cNvPr id="12" name="Shape 9"/>
          <p:cNvSpPr/>
          <p:nvPr/>
        </p:nvSpPr>
        <p:spPr>
          <a:xfrm>
            <a:off x="667512" y="2880360"/>
            <a:ext cx="457200" cy="457200"/>
          </a:xfrm>
          <a:prstGeom prst="ellipse">
            <a:avLst/>
          </a:prstGeom>
          <a:solidFill>
            <a:srgbClr val="0C2442"/>
          </a:solidFill>
          <a:ln/>
        </p:spPr>
      </p:sp>
      <p:pic>
        <p:nvPicPr>
          <p:cNvPr id="13" name="Image 1" descr="preencoded.png">    </p:cNvPr>
          <p:cNvPicPr>
            <a:picLocks noChangeAspect="1"/>
          </p:cNvPicPr>
          <p:nvPr/>
        </p:nvPicPr>
        <p:blipFill>
          <a:blip r:embed="rId2"/>
          <a:stretch>
            <a:fillRect/>
          </a:stretch>
        </p:blipFill>
        <p:spPr>
          <a:xfrm>
            <a:off x="786384" y="2999232"/>
            <a:ext cx="219456" cy="219456"/>
          </a:xfrm>
          <a:prstGeom prst="rect">
            <a:avLst/>
          </a:prstGeom>
        </p:spPr>
      </p:pic>
      <p:sp>
        <p:nvSpPr>
          <p:cNvPr id="14" name="Text 10"/>
          <p:cNvSpPr/>
          <p:nvPr/>
        </p:nvSpPr>
        <p:spPr>
          <a:xfrm>
            <a:off x="1280160" y="2770632"/>
            <a:ext cx="4572000" cy="713232"/>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Notice when the text changes</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keep a digital fingerprint of each page; compare on every visit</a:t>
            </a:r>
            <a:endParaRPr lang="en-US" sz="1250" dirty="0"/>
          </a:p>
        </p:txBody>
      </p:sp>
      <p:sp>
        <p:nvSpPr>
          <p:cNvPr id="15" name="Shape 11"/>
          <p:cNvSpPr/>
          <p:nvPr/>
        </p:nvSpPr>
        <p:spPr>
          <a:xfrm flipV="1">
            <a:off x="3145536" y="3584448"/>
            <a:ext cx="201168" cy="146304"/>
          </a:xfrm>
          <a:prstGeom prst="triangle">
            <a:avLst/>
          </a:prstGeom>
          <a:solidFill>
            <a:srgbClr val="4F7492"/>
          </a:solidFill>
          <a:ln/>
        </p:spPr>
      </p:sp>
      <p:sp>
        <p:nvSpPr>
          <p:cNvPr id="16" name="Shape 12"/>
          <p:cNvSpPr/>
          <p:nvPr/>
        </p:nvSpPr>
        <p:spPr>
          <a:xfrm>
            <a:off x="502920" y="3758184"/>
            <a:ext cx="5486400" cy="868680"/>
          </a:xfrm>
          <a:prstGeom prst="roundRect">
            <a:avLst>
              <a:gd name="adj" fmla="val 9474"/>
            </a:avLst>
          </a:prstGeom>
          <a:solidFill>
            <a:srgbClr val="FFFFFF"/>
          </a:solidFill>
          <a:ln w="12700">
            <a:solidFill>
              <a:srgbClr val="C9D6E2"/>
            </a:solidFill>
            <a:prstDash val="solid"/>
          </a:ln>
        </p:spPr>
      </p:sp>
      <p:sp>
        <p:nvSpPr>
          <p:cNvPr id="17" name="Shape 13"/>
          <p:cNvSpPr/>
          <p:nvPr/>
        </p:nvSpPr>
        <p:spPr>
          <a:xfrm>
            <a:off x="667512" y="3959352"/>
            <a:ext cx="457200" cy="457200"/>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786384" y="4078224"/>
            <a:ext cx="219456" cy="219456"/>
          </a:xfrm>
          <a:prstGeom prst="rect">
            <a:avLst/>
          </a:prstGeom>
        </p:spPr>
      </p:pic>
      <p:sp>
        <p:nvSpPr>
          <p:cNvPr id="19" name="Text 14"/>
          <p:cNvSpPr/>
          <p:nvPr/>
        </p:nvSpPr>
        <p:spPr>
          <a:xfrm>
            <a:off x="1280160" y="3849624"/>
            <a:ext cx="4572000" cy="713232"/>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Ask an AI to describe the change</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plain summary plus an urgency rating</a:t>
            </a:r>
            <a:endParaRPr lang="en-US" sz="1250" dirty="0"/>
          </a:p>
        </p:txBody>
      </p:sp>
      <p:sp>
        <p:nvSpPr>
          <p:cNvPr id="20" name="Shape 15"/>
          <p:cNvSpPr/>
          <p:nvPr/>
        </p:nvSpPr>
        <p:spPr>
          <a:xfrm flipV="1">
            <a:off x="3145536" y="4663440"/>
            <a:ext cx="201168" cy="146304"/>
          </a:xfrm>
          <a:prstGeom prst="triangle">
            <a:avLst/>
          </a:prstGeom>
          <a:solidFill>
            <a:srgbClr val="4F7492"/>
          </a:solidFill>
          <a:ln/>
        </p:spPr>
      </p:sp>
      <p:sp>
        <p:nvSpPr>
          <p:cNvPr id="21" name="Shape 16"/>
          <p:cNvSpPr/>
          <p:nvPr/>
        </p:nvSpPr>
        <p:spPr>
          <a:xfrm>
            <a:off x="502920" y="4837176"/>
            <a:ext cx="5486400" cy="868680"/>
          </a:xfrm>
          <a:prstGeom prst="roundRect">
            <a:avLst>
              <a:gd name="adj" fmla="val 9474"/>
            </a:avLst>
          </a:prstGeom>
          <a:solidFill>
            <a:srgbClr val="FFFFFF"/>
          </a:solidFill>
          <a:ln w="12700">
            <a:solidFill>
              <a:srgbClr val="C9D6E2"/>
            </a:solidFill>
            <a:prstDash val="solid"/>
          </a:ln>
        </p:spPr>
      </p:sp>
      <p:sp>
        <p:nvSpPr>
          <p:cNvPr id="22" name="Shape 17"/>
          <p:cNvSpPr/>
          <p:nvPr/>
        </p:nvSpPr>
        <p:spPr>
          <a:xfrm>
            <a:off x="667512" y="5038344"/>
            <a:ext cx="457200" cy="457200"/>
          </a:xfrm>
          <a:prstGeom prst="ellipse">
            <a:avLst/>
          </a:prstGeom>
          <a:solidFill>
            <a:srgbClr val="0C2442"/>
          </a:solidFill>
          <a:ln/>
        </p:spPr>
      </p:sp>
      <p:pic>
        <p:nvPicPr>
          <p:cNvPr id="23" name="Image 3" descr="preencoded.png">    </p:cNvPr>
          <p:cNvPicPr>
            <a:picLocks noChangeAspect="1"/>
          </p:cNvPicPr>
          <p:nvPr/>
        </p:nvPicPr>
        <p:blipFill>
          <a:blip r:embed="rId4"/>
          <a:stretch>
            <a:fillRect/>
          </a:stretch>
        </p:blipFill>
        <p:spPr>
          <a:xfrm>
            <a:off x="786384" y="5157216"/>
            <a:ext cx="219456" cy="219456"/>
          </a:xfrm>
          <a:prstGeom prst="rect">
            <a:avLst/>
          </a:prstGeom>
        </p:spPr>
      </p:pic>
      <p:sp>
        <p:nvSpPr>
          <p:cNvPr id="24" name="Text 18"/>
          <p:cNvSpPr/>
          <p:nvPr/>
        </p:nvSpPr>
        <p:spPr>
          <a:xfrm>
            <a:off x="1280160" y="4928616"/>
            <a:ext cx="4572000" cy="713232"/>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Publish to a live dashboard</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daily, unattended, on free infrastructure</a:t>
            </a:r>
            <a:endParaRPr lang="en-US" sz="1250" dirty="0"/>
          </a:p>
        </p:txBody>
      </p:sp>
      <p:sp>
        <p:nvSpPr>
          <p:cNvPr id="25" name="Shape 19"/>
          <p:cNvSpPr/>
          <p:nvPr/>
        </p:nvSpPr>
        <p:spPr>
          <a:xfrm>
            <a:off x="6400800" y="1207008"/>
            <a:ext cx="5285232" cy="4160520"/>
          </a:xfrm>
          <a:prstGeom prst="roundRect">
            <a:avLst>
              <a:gd name="adj" fmla="val 1978"/>
            </a:avLst>
          </a:prstGeom>
          <a:solidFill>
            <a:srgbClr val="EEF2F7"/>
          </a:solidFill>
          <a:ln/>
        </p:spPr>
      </p:sp>
      <p:sp>
        <p:nvSpPr>
          <p:cNvPr id="26" name="Text 20"/>
          <p:cNvSpPr/>
          <p:nvPr/>
        </p:nvSpPr>
        <p:spPr>
          <a:xfrm>
            <a:off x="6675120" y="1417320"/>
            <a:ext cx="4754880" cy="274320"/>
          </a:xfrm>
          <a:prstGeom prst="rect">
            <a:avLst/>
          </a:prstGeom>
          <a:noFill/>
          <a:ln/>
        </p:spPr>
        <p:txBody>
          <a:bodyPr wrap="square" lIns="0" tIns="0" rIns="0" bIns="0" rtlCol="0" anchor="ctr"/>
          <a:lstStyle/>
          <a:p>
            <a:pPr indent="0" marL="0">
              <a:buNone/>
            </a:pPr>
            <a:r>
              <a:rPr lang="en-US" sz="1150" b="1" spc="150" kern="0" dirty="0">
                <a:solidFill>
                  <a:srgbClr val="4F7492"/>
                </a:solidFill>
                <a:latin typeface="Arial" pitchFamily="34" charset="0"/>
                <a:ea typeface="Arial" pitchFamily="34" charset="-122"/>
                <a:cs typeface="Arial" pitchFamily="34" charset="-120"/>
              </a:rPr>
              <a:t>WHAT IT TAUGHT US</a:t>
            </a:r>
            <a:endParaRPr lang="en-US" sz="1150" dirty="0"/>
          </a:p>
        </p:txBody>
      </p:sp>
      <p:sp>
        <p:nvSpPr>
          <p:cNvPr id="27" name="Shape 21"/>
          <p:cNvSpPr/>
          <p:nvPr/>
        </p:nvSpPr>
        <p:spPr>
          <a:xfrm>
            <a:off x="6693408" y="1783080"/>
            <a:ext cx="329184" cy="329184"/>
          </a:xfrm>
          <a:prstGeom prst="ellipse">
            <a:avLst/>
          </a:prstGeom>
          <a:solidFill>
            <a:srgbClr val="3E8E52"/>
          </a:solidFill>
          <a:ln/>
        </p:spPr>
      </p:sp>
      <p:pic>
        <p:nvPicPr>
          <p:cNvPr id="28" name="Image 4" descr="preencoded.png">    </p:cNvPr>
          <p:cNvPicPr>
            <a:picLocks noChangeAspect="1"/>
          </p:cNvPicPr>
          <p:nvPr/>
        </p:nvPicPr>
        <p:blipFill>
          <a:blip r:embed="rId5"/>
          <a:stretch>
            <a:fillRect/>
          </a:stretch>
        </p:blipFill>
        <p:spPr>
          <a:xfrm>
            <a:off x="6778996" y="1868668"/>
            <a:ext cx="158008" cy="158008"/>
          </a:xfrm>
          <a:prstGeom prst="rect">
            <a:avLst/>
          </a:prstGeom>
        </p:spPr>
      </p:pic>
      <p:sp>
        <p:nvSpPr>
          <p:cNvPr id="29" name="Text 22"/>
          <p:cNvSpPr/>
          <p:nvPr/>
        </p:nvSpPr>
        <p:spPr>
          <a:xfrm>
            <a:off x="7178040" y="1728216"/>
            <a:ext cx="4343400" cy="685800"/>
          </a:xfrm>
          <a:prstGeom prst="rect">
            <a:avLst/>
          </a:prstGeom>
          <a:noFill/>
          <a:ln/>
        </p:spPr>
        <p:txBody>
          <a:bodyPr wrap="square" lIns="0" tIns="0" rIns="0" bIns="0" rtlCol="0" anchor="t"/>
          <a:lstStyle/>
          <a:p>
            <a:pPr indent="0" marL="0">
              <a:buNone/>
            </a:pPr>
            <a:r>
              <a:rPr lang="en-US" sz="1250" dirty="0">
                <a:solidFill>
                  <a:srgbClr val="1F2A3A"/>
                </a:solidFill>
                <a:latin typeface="Calibri" pitchFamily="34" charset="0"/>
                <a:ea typeface="Calibri" pitchFamily="34" charset="-122"/>
                <a:cs typeface="Calibri" pitchFamily="34" charset="-120"/>
              </a:rPr>
              <a:t>Watching can run itself — scrape, compare, summarise, publish, every day, for free</a:t>
            </a:r>
            <a:endParaRPr lang="en-US" sz="1250" dirty="0"/>
          </a:p>
        </p:txBody>
      </p:sp>
      <p:sp>
        <p:nvSpPr>
          <p:cNvPr id="30" name="Shape 23"/>
          <p:cNvSpPr/>
          <p:nvPr/>
        </p:nvSpPr>
        <p:spPr>
          <a:xfrm>
            <a:off x="6693408" y="2624328"/>
            <a:ext cx="329184" cy="329184"/>
          </a:xfrm>
          <a:prstGeom prst="ellipse">
            <a:avLst/>
          </a:prstGeom>
          <a:solidFill>
            <a:srgbClr val="3E8E52"/>
          </a:solidFill>
          <a:ln/>
        </p:spPr>
      </p:sp>
      <p:pic>
        <p:nvPicPr>
          <p:cNvPr id="31" name="Image 5" descr="preencoded.png">    </p:cNvPr>
          <p:cNvPicPr>
            <a:picLocks noChangeAspect="1"/>
          </p:cNvPicPr>
          <p:nvPr/>
        </p:nvPicPr>
        <p:blipFill>
          <a:blip r:embed="rId6"/>
          <a:stretch>
            <a:fillRect/>
          </a:stretch>
        </p:blipFill>
        <p:spPr>
          <a:xfrm>
            <a:off x="6778996" y="2709916"/>
            <a:ext cx="158008" cy="158008"/>
          </a:xfrm>
          <a:prstGeom prst="rect">
            <a:avLst/>
          </a:prstGeom>
        </p:spPr>
      </p:pic>
      <p:sp>
        <p:nvSpPr>
          <p:cNvPr id="32" name="Text 24"/>
          <p:cNvSpPr/>
          <p:nvPr/>
        </p:nvSpPr>
        <p:spPr>
          <a:xfrm>
            <a:off x="7178040" y="2569464"/>
            <a:ext cx="4343400" cy="685800"/>
          </a:xfrm>
          <a:prstGeom prst="rect">
            <a:avLst/>
          </a:prstGeom>
          <a:noFill/>
          <a:ln/>
        </p:spPr>
        <p:txBody>
          <a:bodyPr wrap="square" lIns="0" tIns="0" rIns="0" bIns="0" rtlCol="0" anchor="t"/>
          <a:lstStyle/>
          <a:p>
            <a:pPr indent="0" marL="0">
              <a:buNone/>
            </a:pPr>
            <a:r>
              <a:rPr lang="en-US" sz="1250" dirty="0">
                <a:solidFill>
                  <a:srgbClr val="1F2A3A"/>
                </a:solidFill>
                <a:latin typeface="Calibri" pitchFamily="34" charset="0"/>
                <a:ea typeface="Calibri" pitchFamily="34" charset="-122"/>
                <a:cs typeface="Calibri" pitchFamily="34" charset="-120"/>
              </a:rPr>
              <a:t>AI summaries turn raw change-logs into something people actually read</a:t>
            </a:r>
            <a:endParaRPr lang="en-US" sz="1250" dirty="0"/>
          </a:p>
        </p:txBody>
      </p:sp>
      <p:sp>
        <p:nvSpPr>
          <p:cNvPr id="33" name="Shape 25"/>
          <p:cNvSpPr/>
          <p:nvPr/>
        </p:nvSpPr>
        <p:spPr>
          <a:xfrm>
            <a:off x="6693408" y="3465576"/>
            <a:ext cx="329184" cy="329184"/>
          </a:xfrm>
          <a:prstGeom prst="ellipse">
            <a:avLst/>
          </a:prstGeom>
          <a:solidFill>
            <a:srgbClr val="C94F4A"/>
          </a:solidFill>
          <a:ln/>
        </p:spPr>
      </p:sp>
      <p:pic>
        <p:nvPicPr>
          <p:cNvPr id="34" name="Image 6" descr="preencoded.png">    </p:cNvPr>
          <p:cNvPicPr>
            <a:picLocks noChangeAspect="1"/>
          </p:cNvPicPr>
          <p:nvPr/>
        </p:nvPicPr>
        <p:blipFill>
          <a:blip r:embed="rId7"/>
          <a:stretch>
            <a:fillRect/>
          </a:stretch>
        </p:blipFill>
        <p:spPr>
          <a:xfrm>
            <a:off x="6778996" y="3551164"/>
            <a:ext cx="158008" cy="158008"/>
          </a:xfrm>
          <a:prstGeom prst="rect">
            <a:avLst/>
          </a:prstGeom>
        </p:spPr>
      </p:pic>
      <p:sp>
        <p:nvSpPr>
          <p:cNvPr id="35" name="Text 26"/>
          <p:cNvSpPr/>
          <p:nvPr/>
        </p:nvSpPr>
        <p:spPr>
          <a:xfrm>
            <a:off x="7178040" y="3410712"/>
            <a:ext cx="4343400" cy="685800"/>
          </a:xfrm>
          <a:prstGeom prst="rect">
            <a:avLst/>
          </a:prstGeom>
          <a:noFill/>
          <a:ln/>
        </p:spPr>
        <p:txBody>
          <a:bodyPr wrap="square" lIns="0" tIns="0" rIns="0" bIns="0" rtlCol="0" anchor="t"/>
          <a:lstStyle/>
          <a:p>
            <a:pPr indent="0" marL="0">
              <a:buNone/>
            </a:pPr>
            <a:r>
              <a:rPr lang="en-US" sz="1250" dirty="0">
                <a:solidFill>
                  <a:srgbClr val="1F2A3A"/>
                </a:solidFill>
                <a:latin typeface="Calibri" pitchFamily="34" charset="0"/>
                <a:ea typeface="Calibri" pitchFamily="34" charset="-122"/>
                <a:cs typeface="Calibri" pitchFamily="34" charset="-120"/>
              </a:rPr>
              <a:t>It knew that a page changed — never whether we should care</a:t>
            </a:r>
            <a:endParaRPr lang="en-US" sz="1250" dirty="0"/>
          </a:p>
        </p:txBody>
      </p:sp>
      <p:sp>
        <p:nvSpPr>
          <p:cNvPr id="36" name="Shape 27"/>
          <p:cNvSpPr/>
          <p:nvPr/>
        </p:nvSpPr>
        <p:spPr>
          <a:xfrm>
            <a:off x="6693408" y="4306824"/>
            <a:ext cx="329184" cy="329184"/>
          </a:xfrm>
          <a:prstGeom prst="ellipse">
            <a:avLst/>
          </a:prstGeom>
          <a:solidFill>
            <a:srgbClr val="C94F4A"/>
          </a:solidFill>
          <a:ln/>
        </p:spPr>
      </p:sp>
      <p:pic>
        <p:nvPicPr>
          <p:cNvPr id="37" name="Image 7" descr="preencoded.png">    </p:cNvPr>
          <p:cNvPicPr>
            <a:picLocks noChangeAspect="1"/>
          </p:cNvPicPr>
          <p:nvPr/>
        </p:nvPicPr>
        <p:blipFill>
          <a:blip r:embed="rId8"/>
          <a:stretch>
            <a:fillRect/>
          </a:stretch>
        </p:blipFill>
        <p:spPr>
          <a:xfrm>
            <a:off x="6778996" y="4392412"/>
            <a:ext cx="158008" cy="158008"/>
          </a:xfrm>
          <a:prstGeom prst="rect">
            <a:avLst/>
          </a:prstGeom>
        </p:spPr>
      </p:pic>
      <p:sp>
        <p:nvSpPr>
          <p:cNvPr id="38" name="Text 28"/>
          <p:cNvSpPr/>
          <p:nvPr/>
        </p:nvSpPr>
        <p:spPr>
          <a:xfrm>
            <a:off x="7178040" y="4251960"/>
            <a:ext cx="4343400" cy="685800"/>
          </a:xfrm>
          <a:prstGeom prst="rect">
            <a:avLst/>
          </a:prstGeom>
          <a:noFill/>
          <a:ln/>
        </p:spPr>
        <p:txBody>
          <a:bodyPr wrap="square" lIns="0" tIns="0" rIns="0" bIns="0" rtlCol="0" anchor="t"/>
          <a:lstStyle/>
          <a:p>
            <a:pPr indent="0" marL="0">
              <a:buNone/>
            </a:pPr>
            <a:r>
              <a:rPr lang="en-US" sz="1250" dirty="0">
                <a:solidFill>
                  <a:srgbClr val="1F2A3A"/>
                </a:solidFill>
                <a:latin typeface="Calibri" pitchFamily="34" charset="0"/>
                <a:ea typeface="Calibri" pitchFamily="34" charset="-122"/>
                <a:cs typeface="Calibri" pitchFamily="34" charset="-120"/>
              </a:rPr>
              <a:t>No link between a change out there and the content we are responsible for</a:t>
            </a:r>
            <a:endParaRPr lang="en-US" sz="1250" dirty="0"/>
          </a:p>
        </p:txBody>
      </p:sp>
      <p:sp>
        <p:nvSpPr>
          <p:cNvPr id="39" name="Shape 29"/>
          <p:cNvSpPr/>
          <p:nvPr/>
        </p:nvSpPr>
        <p:spPr>
          <a:xfrm>
            <a:off x="6400800" y="5577840"/>
            <a:ext cx="5285232" cy="777240"/>
          </a:xfrm>
          <a:prstGeom prst="roundRect">
            <a:avLst>
              <a:gd name="adj" fmla="val 10588"/>
            </a:avLst>
          </a:prstGeom>
          <a:solidFill>
            <a:srgbClr val="0C2442"/>
          </a:solidFill>
          <a:ln/>
        </p:spPr>
      </p:sp>
      <p:sp>
        <p:nvSpPr>
          <p:cNvPr id="40" name="Text 30"/>
          <p:cNvSpPr/>
          <p:nvPr/>
        </p:nvSpPr>
        <p:spPr>
          <a:xfrm>
            <a:off x="6629400" y="5632704"/>
            <a:ext cx="484632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Tripwire keeps the instinct — and adds the missing half: consequences for our content.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PITCH</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Detect. Connect. Recommend.</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02920" y="1280160"/>
            <a:ext cx="3602736" cy="4224528"/>
          </a:xfrm>
          <a:prstGeom prst="roundRect">
            <a:avLst>
              <a:gd name="adj" fmla="val 2284"/>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pic>
        <p:nvPicPr>
          <p:cNvPr id="6" name="Image 0" descr="/home/user/pptx-work/image24.png">    </p:cNvPr>
          <p:cNvPicPr>
            <a:picLocks noChangeAspect="1"/>
          </p:cNvPicPr>
          <p:nvPr/>
        </p:nvPicPr>
        <p:blipFill>
          <a:blip r:embed="rId1"/>
          <a:stretch>
            <a:fillRect/>
          </a:stretch>
        </p:blipFill>
        <p:spPr>
          <a:xfrm>
            <a:off x="1572768" y="1481328"/>
            <a:ext cx="1463040" cy="1463040"/>
          </a:xfrm>
          <a:prstGeom prst="rect">
            <a:avLst/>
          </a:prstGeom>
        </p:spPr>
      </p:pic>
      <p:sp>
        <p:nvSpPr>
          <p:cNvPr id="7" name="Text 4"/>
          <p:cNvSpPr/>
          <p:nvPr/>
        </p:nvSpPr>
        <p:spPr>
          <a:xfrm>
            <a:off x="731520" y="3063240"/>
            <a:ext cx="3145536" cy="365760"/>
          </a:xfrm>
          <a:prstGeom prst="rect">
            <a:avLst/>
          </a:prstGeom>
          <a:noFill/>
          <a:ln/>
        </p:spPr>
        <p:txBody>
          <a:bodyPr wrap="square" lIns="0" tIns="0" rIns="0" bIns="0" rtlCol="0" anchor="ctr"/>
          <a:lstStyle/>
          <a:p>
            <a:pPr algn="ctr" indent="0" marL="0">
              <a:buNone/>
            </a:pPr>
            <a:r>
              <a:rPr lang="en-US" sz="1650" b="1" dirty="0">
                <a:solidFill>
                  <a:srgbClr val="0C2442"/>
                </a:solidFill>
                <a:latin typeface="Arial" pitchFamily="34" charset="0"/>
                <a:ea typeface="Arial" pitchFamily="34" charset="-122"/>
                <a:cs typeface="Arial" pitchFamily="34" charset="-120"/>
              </a:rPr>
              <a:t>Spots real changes</a:t>
            </a:r>
            <a:endParaRPr lang="en-US" sz="1650" dirty="0"/>
          </a:p>
        </p:txBody>
      </p:sp>
      <p:sp>
        <p:nvSpPr>
          <p:cNvPr id="8" name="Text 5"/>
          <p:cNvSpPr/>
          <p:nvPr/>
        </p:nvSpPr>
        <p:spPr>
          <a:xfrm>
            <a:off x="777240" y="3493008"/>
            <a:ext cx="3054096" cy="1417320"/>
          </a:xfrm>
          <a:prstGeom prst="rect">
            <a:avLst/>
          </a:prstGeom>
          <a:noFill/>
          <a:ln/>
        </p:spPr>
        <p:txBody>
          <a:bodyPr wrap="square" lIns="0" tIns="0" rIns="0" bIns="0" rtlCol="0" anchor="ctr"/>
          <a:lstStyle/>
          <a:p>
            <a:pPr algn="ctr" indent="0" marL="0">
              <a:buNone/>
            </a:pPr>
            <a:r>
              <a:rPr lang="en-US" sz="1200" dirty="0">
                <a:solidFill>
                  <a:srgbClr val="1F2A3A"/>
                </a:solidFill>
                <a:latin typeface="Calibri" pitchFamily="34" charset="0"/>
                <a:ea typeface="Calibri" pitchFamily="34" charset="-122"/>
                <a:cs typeface="Calibri" pitchFamily="34" charset="-120"/>
              </a:rPr>
              <a:t>Watches all 156 sources on their own schedules and ignores cosmetic churn — reformatting, timestamps, menu shuffles.</a:t>
            </a:r>
            <a:endParaRPr lang="en-US" sz="1200" dirty="0"/>
          </a:p>
        </p:txBody>
      </p:sp>
      <p:sp>
        <p:nvSpPr>
          <p:cNvPr id="9" name="Text 6"/>
          <p:cNvSpPr/>
          <p:nvPr/>
        </p:nvSpPr>
        <p:spPr>
          <a:xfrm>
            <a:off x="731520" y="5074920"/>
            <a:ext cx="3145536" cy="274320"/>
          </a:xfrm>
          <a:prstGeom prst="rect">
            <a:avLst/>
          </a:prstGeom>
          <a:noFill/>
          <a:ln/>
        </p:spPr>
        <p:txBody>
          <a:bodyPr wrap="square" lIns="0" tIns="0" rIns="0" bIns="0" rtlCol="0" anchor="ctr"/>
          <a:lstStyle/>
          <a:p>
            <a:pPr algn="ctr" indent="0" marL="0">
              <a:buNone/>
            </a:pPr>
            <a:r>
              <a:rPr lang="en-US" sz="950" b="1" spc="200" kern="0" dirty="0">
                <a:solidFill>
                  <a:srgbClr val="4F7492"/>
                </a:solidFill>
                <a:latin typeface="Arial" pitchFamily="34" charset="0"/>
                <a:ea typeface="Arial" pitchFamily="34" charset="-122"/>
                <a:cs typeface="Arial" pitchFamily="34" charset="-120"/>
              </a:rPr>
              <a:t>THE OUTSIDE WORLD</a:t>
            </a:r>
            <a:endParaRPr lang="en-US" sz="950" dirty="0"/>
          </a:p>
        </p:txBody>
      </p:sp>
      <p:sp>
        <p:nvSpPr>
          <p:cNvPr id="10" name="Shape 7"/>
          <p:cNvSpPr/>
          <p:nvPr/>
        </p:nvSpPr>
        <p:spPr>
          <a:xfrm>
            <a:off x="4293108" y="1280160"/>
            <a:ext cx="3602736" cy="4224528"/>
          </a:xfrm>
          <a:prstGeom prst="roundRect">
            <a:avLst>
              <a:gd name="adj" fmla="val 2284"/>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pic>
        <p:nvPicPr>
          <p:cNvPr id="11" name="Image 1" descr="/home/user/pptx-work/image25.png">    </p:cNvPr>
          <p:cNvPicPr>
            <a:picLocks noChangeAspect="1"/>
          </p:cNvPicPr>
          <p:nvPr/>
        </p:nvPicPr>
        <p:blipFill>
          <a:blip r:embed="rId2"/>
          <a:stretch>
            <a:fillRect/>
          </a:stretch>
        </p:blipFill>
        <p:spPr>
          <a:xfrm>
            <a:off x="5362956" y="1481328"/>
            <a:ext cx="1463040" cy="1463040"/>
          </a:xfrm>
          <a:prstGeom prst="rect">
            <a:avLst/>
          </a:prstGeom>
        </p:spPr>
      </p:pic>
      <p:sp>
        <p:nvSpPr>
          <p:cNvPr id="12" name="Text 8"/>
          <p:cNvSpPr/>
          <p:nvPr/>
        </p:nvSpPr>
        <p:spPr>
          <a:xfrm>
            <a:off x="4521708" y="3063240"/>
            <a:ext cx="3145536" cy="365760"/>
          </a:xfrm>
          <a:prstGeom prst="rect">
            <a:avLst/>
          </a:prstGeom>
          <a:noFill/>
          <a:ln/>
        </p:spPr>
        <p:txBody>
          <a:bodyPr wrap="square" lIns="0" tIns="0" rIns="0" bIns="0" rtlCol="0" anchor="ctr"/>
          <a:lstStyle/>
          <a:p>
            <a:pPr algn="ctr" indent="0" marL="0">
              <a:buNone/>
            </a:pPr>
            <a:r>
              <a:rPr lang="en-US" sz="1650" b="1" dirty="0">
                <a:solidFill>
                  <a:srgbClr val="0C2442"/>
                </a:solidFill>
                <a:latin typeface="Arial" pitchFamily="34" charset="0"/>
                <a:ea typeface="Arial" pitchFamily="34" charset="-122"/>
                <a:cs typeface="Arial" pitchFamily="34" charset="-120"/>
              </a:rPr>
              <a:t>Finds the pages affected</a:t>
            </a:r>
            <a:endParaRPr lang="en-US" sz="1650" dirty="0"/>
          </a:p>
        </p:txBody>
      </p:sp>
      <p:sp>
        <p:nvSpPr>
          <p:cNvPr id="13" name="Text 9"/>
          <p:cNvSpPr/>
          <p:nvPr/>
        </p:nvSpPr>
        <p:spPr>
          <a:xfrm>
            <a:off x="4567428" y="3493008"/>
            <a:ext cx="3054096" cy="1417320"/>
          </a:xfrm>
          <a:prstGeom prst="rect">
            <a:avLst/>
          </a:prstGeom>
          <a:noFill/>
          <a:ln/>
        </p:spPr>
        <p:txBody>
          <a:bodyPr wrap="square" lIns="0" tIns="0" rIns="0" bIns="0" rtlCol="0" anchor="ctr"/>
          <a:lstStyle/>
          <a:p>
            <a:pPr algn="ctr" indent="0" marL="0">
              <a:buNone/>
            </a:pPr>
            <a:r>
              <a:rPr lang="en-US" sz="1200" dirty="0">
                <a:solidFill>
                  <a:srgbClr val="1F2A3A"/>
                </a:solidFill>
                <a:latin typeface="Calibri" pitchFamily="34" charset="0"/>
                <a:ea typeface="Calibri" pitchFamily="34" charset="-122"/>
                <a:cs typeface="Calibri" pitchFamily="34" charset="-120"/>
              </a:rPr>
              <a:t>Searches our 139 pages by exact words and by meaning, then shortlists the few pages a change could actually touch.</a:t>
            </a:r>
            <a:endParaRPr lang="en-US" sz="1200" dirty="0"/>
          </a:p>
        </p:txBody>
      </p:sp>
      <p:sp>
        <p:nvSpPr>
          <p:cNvPr id="14" name="Text 10"/>
          <p:cNvSpPr/>
          <p:nvPr/>
        </p:nvSpPr>
        <p:spPr>
          <a:xfrm>
            <a:off x="4521708" y="5074920"/>
            <a:ext cx="3145536" cy="274320"/>
          </a:xfrm>
          <a:prstGeom prst="rect">
            <a:avLst/>
          </a:prstGeom>
          <a:noFill/>
          <a:ln/>
        </p:spPr>
        <p:txBody>
          <a:bodyPr wrap="square" lIns="0" tIns="0" rIns="0" bIns="0" rtlCol="0" anchor="ctr"/>
          <a:lstStyle/>
          <a:p>
            <a:pPr algn="ctr" indent="0" marL="0">
              <a:buNone/>
            </a:pPr>
            <a:r>
              <a:rPr lang="en-US" sz="950" b="1" spc="200" kern="0" dirty="0">
                <a:solidFill>
                  <a:srgbClr val="4F7492"/>
                </a:solidFill>
                <a:latin typeface="Arial" pitchFamily="34" charset="0"/>
                <a:ea typeface="Arial" pitchFamily="34" charset="-122"/>
                <a:cs typeface="Arial" pitchFamily="34" charset="-120"/>
              </a:rPr>
              <a:t>THE CONNECTION</a:t>
            </a:r>
            <a:endParaRPr lang="en-US" sz="950" dirty="0"/>
          </a:p>
        </p:txBody>
      </p:sp>
      <p:sp>
        <p:nvSpPr>
          <p:cNvPr id="15" name="Shape 11"/>
          <p:cNvSpPr/>
          <p:nvPr/>
        </p:nvSpPr>
        <p:spPr>
          <a:xfrm>
            <a:off x="8083296" y="1280160"/>
            <a:ext cx="3602736" cy="4224528"/>
          </a:xfrm>
          <a:prstGeom prst="roundRect">
            <a:avLst>
              <a:gd name="adj" fmla="val 2284"/>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pic>
        <p:nvPicPr>
          <p:cNvPr id="16" name="Image 2" descr="/home/user/pptx-work/image26.png">    </p:cNvPr>
          <p:cNvPicPr>
            <a:picLocks noChangeAspect="1"/>
          </p:cNvPicPr>
          <p:nvPr/>
        </p:nvPicPr>
        <p:blipFill>
          <a:blip r:embed="rId3"/>
          <a:stretch>
            <a:fillRect/>
          </a:stretch>
        </p:blipFill>
        <p:spPr>
          <a:xfrm>
            <a:off x="9153144" y="1481328"/>
            <a:ext cx="1463040" cy="1463040"/>
          </a:xfrm>
          <a:prstGeom prst="rect">
            <a:avLst/>
          </a:prstGeom>
        </p:spPr>
      </p:pic>
      <p:sp>
        <p:nvSpPr>
          <p:cNvPr id="17" name="Text 12"/>
          <p:cNvSpPr/>
          <p:nvPr/>
        </p:nvSpPr>
        <p:spPr>
          <a:xfrm>
            <a:off x="8311896" y="3063240"/>
            <a:ext cx="3145536" cy="365760"/>
          </a:xfrm>
          <a:prstGeom prst="rect">
            <a:avLst/>
          </a:prstGeom>
          <a:noFill/>
          <a:ln/>
        </p:spPr>
        <p:txBody>
          <a:bodyPr wrap="square" lIns="0" tIns="0" rIns="0" bIns="0" rtlCol="0" anchor="ctr"/>
          <a:lstStyle/>
          <a:p>
            <a:pPr algn="ctr" indent="0" marL="0">
              <a:buNone/>
            </a:pPr>
            <a:r>
              <a:rPr lang="en-US" sz="1650" b="1" dirty="0">
                <a:solidFill>
                  <a:srgbClr val="0C2442"/>
                </a:solidFill>
                <a:latin typeface="Arial" pitchFamily="34" charset="0"/>
                <a:ea typeface="Arial" pitchFamily="34" charset="-122"/>
                <a:cs typeface="Arial" pitchFamily="34" charset="-120"/>
              </a:rPr>
              <a:t>Recommends an action</a:t>
            </a:r>
            <a:endParaRPr lang="en-US" sz="1650" dirty="0"/>
          </a:p>
        </p:txBody>
      </p:sp>
      <p:sp>
        <p:nvSpPr>
          <p:cNvPr id="18" name="Text 13"/>
          <p:cNvSpPr/>
          <p:nvPr/>
        </p:nvSpPr>
        <p:spPr>
          <a:xfrm>
            <a:off x="8357616" y="3493008"/>
            <a:ext cx="3054096" cy="1417320"/>
          </a:xfrm>
          <a:prstGeom prst="rect">
            <a:avLst/>
          </a:prstGeom>
          <a:noFill/>
          <a:ln/>
        </p:spPr>
        <p:txBody>
          <a:bodyPr wrap="square" lIns="0" tIns="0" rIns="0" bIns="0" rtlCol="0" anchor="ctr"/>
          <a:lstStyle/>
          <a:p>
            <a:pPr algn="ctr" indent="0" marL="0">
              <a:buNone/>
            </a:pPr>
            <a:r>
              <a:rPr lang="en-US" sz="1200" dirty="0">
                <a:solidFill>
                  <a:srgbClr val="1F2A3A"/>
                </a:solidFill>
                <a:latin typeface="Calibri" pitchFamily="34" charset="0"/>
                <a:ea typeface="Calibri" pitchFamily="34" charset="-122"/>
                <a:cs typeface="Calibri" pitchFamily="34" charset="-120"/>
              </a:rPr>
              <a:t>Drafts the case for an amendment — or says “no change needed”, or “uncertain — human, please look” — and emails the owner.</a:t>
            </a:r>
            <a:endParaRPr lang="en-US" sz="1200" dirty="0"/>
          </a:p>
        </p:txBody>
      </p:sp>
      <p:sp>
        <p:nvSpPr>
          <p:cNvPr id="19" name="Text 14"/>
          <p:cNvSpPr/>
          <p:nvPr/>
        </p:nvSpPr>
        <p:spPr>
          <a:xfrm>
            <a:off x="8311896" y="5074920"/>
            <a:ext cx="3145536" cy="274320"/>
          </a:xfrm>
          <a:prstGeom prst="rect">
            <a:avLst/>
          </a:prstGeom>
          <a:noFill/>
          <a:ln/>
        </p:spPr>
        <p:txBody>
          <a:bodyPr wrap="square" lIns="0" tIns="0" rIns="0" bIns="0" rtlCol="0" anchor="ctr"/>
          <a:lstStyle/>
          <a:p>
            <a:pPr algn="ctr" indent="0" marL="0">
              <a:buNone/>
            </a:pPr>
            <a:r>
              <a:rPr lang="en-US" sz="950" b="1" spc="200" kern="0" dirty="0">
                <a:solidFill>
                  <a:srgbClr val="4F7492"/>
                </a:solidFill>
                <a:latin typeface="Arial" pitchFamily="34" charset="0"/>
                <a:ea typeface="Arial" pitchFamily="34" charset="-122"/>
                <a:cs typeface="Arial" pitchFamily="34" charset="-120"/>
              </a:rPr>
              <a:t>THE JUDGEMENT</a:t>
            </a:r>
            <a:endParaRPr lang="en-US" sz="950" dirty="0"/>
          </a:p>
        </p:txBody>
      </p:sp>
      <p:sp>
        <p:nvSpPr>
          <p:cNvPr id="20" name="Shape 15"/>
          <p:cNvSpPr/>
          <p:nvPr/>
        </p:nvSpPr>
        <p:spPr>
          <a:xfrm>
            <a:off x="502920" y="5806440"/>
            <a:ext cx="11183112" cy="621792"/>
          </a:xfrm>
          <a:prstGeom prst="roundRect">
            <a:avLst>
              <a:gd name="adj" fmla="val 13235"/>
            </a:avLst>
          </a:prstGeom>
          <a:solidFill>
            <a:srgbClr val="0C2442"/>
          </a:solidFill>
          <a:ln/>
        </p:spPr>
      </p:sp>
      <p:sp>
        <p:nvSpPr>
          <p:cNvPr id="21" name="Shape 16"/>
          <p:cNvSpPr/>
          <p:nvPr/>
        </p:nvSpPr>
        <p:spPr>
          <a:xfrm>
            <a:off x="777240" y="5916168"/>
            <a:ext cx="402336" cy="402336"/>
          </a:xfrm>
          <a:prstGeom prst="ellipse">
            <a:avLst/>
          </a:prstGeom>
          <a:solidFill>
            <a:srgbClr val="2D4C6A"/>
          </a:solidFill>
          <a:ln/>
        </p:spPr>
      </p:sp>
      <p:pic>
        <p:nvPicPr>
          <p:cNvPr id="22" name="Image 3" descr="preencoded.png">    </p:cNvPr>
          <p:cNvPicPr>
            <a:picLocks noChangeAspect="1"/>
          </p:cNvPicPr>
          <p:nvPr/>
        </p:nvPicPr>
        <p:blipFill>
          <a:blip r:embed="rId4"/>
          <a:stretch>
            <a:fillRect/>
          </a:stretch>
        </p:blipFill>
        <p:spPr>
          <a:xfrm>
            <a:off x="881847" y="6020775"/>
            <a:ext cx="193121" cy="193121"/>
          </a:xfrm>
          <a:prstGeom prst="rect">
            <a:avLst/>
          </a:prstGeom>
        </p:spPr>
      </p:pic>
      <p:sp>
        <p:nvSpPr>
          <p:cNvPr id="23" name="Text 17"/>
          <p:cNvSpPr/>
          <p:nvPr/>
        </p:nvSpPr>
        <p:spPr>
          <a:xfrm>
            <a:off x="1371600" y="5806440"/>
            <a:ext cx="1005840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Runs unattended every morning.  </a:t>
            </a:r>
            <a:pPr indent="0" marL="0">
              <a:buNone/>
            </a:pPr>
            <a:r>
              <a:rPr lang="en-US" sz="1350" dirty="0">
                <a:solidFill>
                  <a:srgbClr val="FFFFFF"/>
                </a:solidFill>
                <a:latin typeface="Calibri" pitchFamily="34" charset="0"/>
                <a:ea typeface="Calibri" pitchFamily="34" charset="-122"/>
                <a:cs typeface="Calibri" pitchFamily="34" charset="-120"/>
              </a:rPr>
              <a:t>Humans keep the pen — Tripwire recommends, it never edits the website.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SHAPE OF THE MACHINE</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Five questions, each more expensive than the last</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5</a:t>
            </a:r>
            <a:endParaRPr lang="en-US" sz="900" dirty="0"/>
          </a:p>
        </p:txBody>
      </p:sp>
      <p:sp>
        <p:nvSpPr>
          <p:cNvPr id="5" name="Text 3"/>
          <p:cNvSpPr/>
          <p:nvPr/>
        </p:nvSpPr>
        <p:spPr>
          <a:xfrm>
            <a:off x="566928" y="1188720"/>
            <a:ext cx="1554480" cy="256032"/>
          </a:xfrm>
          <a:prstGeom prst="rect">
            <a:avLst/>
          </a:prstGeom>
          <a:noFill/>
          <a:ln/>
        </p:spPr>
        <p:txBody>
          <a:bodyPr wrap="square" lIns="0" tIns="0" rIns="0" bIns="0" rtlCol="0" anchor="ctr"/>
          <a:lstStyle/>
          <a:p>
            <a:pPr indent="0" marL="0">
              <a:buNone/>
            </a:pPr>
            <a:r>
              <a:rPr lang="en-US" sz="950" b="1" spc="150" kern="0" dirty="0">
                <a:solidFill>
                  <a:srgbClr val="5E6B7A"/>
                </a:solidFill>
                <a:latin typeface="Arial" pitchFamily="34" charset="0"/>
                <a:ea typeface="Arial" pitchFamily="34" charset="-122"/>
                <a:cs typeface="Arial" pitchFamily="34" charset="-120"/>
              </a:rPr>
              <a:t>COST PER ITEM</a:t>
            </a:r>
            <a:endParaRPr lang="en-US" sz="950" dirty="0"/>
          </a:p>
        </p:txBody>
      </p:sp>
      <p:sp>
        <p:nvSpPr>
          <p:cNvPr id="6" name="Text 4"/>
          <p:cNvSpPr/>
          <p:nvPr/>
        </p:nvSpPr>
        <p:spPr>
          <a:xfrm>
            <a:off x="9966960" y="1188720"/>
            <a:ext cx="1737360" cy="256032"/>
          </a:xfrm>
          <a:prstGeom prst="rect">
            <a:avLst/>
          </a:prstGeom>
          <a:noFill/>
          <a:ln/>
        </p:spPr>
        <p:txBody>
          <a:bodyPr wrap="square" lIns="0" tIns="0" rIns="0" bIns="0" rtlCol="0" anchor="ctr"/>
          <a:lstStyle/>
          <a:p>
            <a:pPr algn="r" indent="0" marL="0">
              <a:buNone/>
            </a:pPr>
            <a:r>
              <a:rPr lang="en-US" sz="950" b="1" spc="150" kern="0" dirty="0">
                <a:solidFill>
                  <a:srgbClr val="5E6B7A"/>
                </a:solidFill>
                <a:latin typeface="Arial" pitchFamily="34" charset="0"/>
                <a:ea typeface="Arial" pitchFamily="34" charset="-122"/>
                <a:cs typeface="Arial" pitchFamily="34" charset="-120"/>
              </a:rPr>
              <a:t>A TYPICAL MORNING</a:t>
            </a:r>
            <a:endParaRPr lang="en-US" sz="950" dirty="0"/>
          </a:p>
        </p:txBody>
      </p:sp>
      <p:sp>
        <p:nvSpPr>
          <p:cNvPr id="7" name="Shape 5"/>
          <p:cNvSpPr/>
          <p:nvPr/>
        </p:nvSpPr>
        <p:spPr>
          <a:xfrm>
            <a:off x="1751990" y="1481328"/>
            <a:ext cx="8686800" cy="566928"/>
          </a:xfrm>
          <a:prstGeom prst="roundRect">
            <a:avLst>
              <a:gd name="adj" fmla="val 11290"/>
            </a:avLst>
          </a:prstGeom>
          <a:solidFill>
            <a:srgbClr val="0C2442"/>
          </a:solidFill>
          <a:ln/>
        </p:spPr>
      </p:sp>
      <p:sp>
        <p:nvSpPr>
          <p:cNvPr id="8" name="Text 6"/>
          <p:cNvSpPr/>
          <p:nvPr/>
        </p:nvSpPr>
        <p:spPr>
          <a:xfrm>
            <a:off x="2026310" y="1481328"/>
            <a:ext cx="822960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Did anything change at all?   </a:t>
            </a:r>
            <a:pPr indent="0" marL="0">
              <a:buNone/>
            </a:pPr>
            <a:r>
              <a:rPr lang="en-US" sz="1050" dirty="0">
                <a:solidFill>
                  <a:srgbClr val="B9C8D8"/>
                </a:solidFill>
                <a:latin typeface="Calibri" pitchFamily="34" charset="0"/>
                <a:ea typeface="Calibri" pitchFamily="34" charset="-122"/>
                <a:cs typeface="Calibri" pitchFamily="34" charset="-120"/>
              </a:rPr>
              <a:t>stage 1</a:t>
            </a:r>
            <a:endParaRPr lang="en-US" sz="1350" dirty="0"/>
          </a:p>
        </p:txBody>
      </p:sp>
      <p:sp>
        <p:nvSpPr>
          <p:cNvPr id="9" name="Text 7"/>
          <p:cNvSpPr/>
          <p:nvPr/>
        </p:nvSpPr>
        <p:spPr>
          <a:xfrm>
            <a:off x="566928" y="1536192"/>
            <a:ext cx="1097280" cy="457200"/>
          </a:xfrm>
          <a:prstGeom prst="rect">
            <a:avLst/>
          </a:prstGeom>
          <a:noFill/>
          <a:ln/>
        </p:spPr>
        <p:txBody>
          <a:bodyPr wrap="square" lIns="0" tIns="0" rIns="0" bIns="0" rtlCol="0" anchor="ctr"/>
          <a:lstStyle/>
          <a:p>
            <a:pPr indent="0" marL="0">
              <a:buNone/>
            </a:pPr>
            <a:r>
              <a:rPr lang="en-US" sz="1200" b="1" dirty="0">
                <a:solidFill>
                  <a:srgbClr val="4F7492"/>
                </a:solidFill>
                <a:latin typeface="Calibri" pitchFamily="34" charset="0"/>
                <a:ea typeface="Calibri" pitchFamily="34" charset="-122"/>
                <a:cs typeface="Calibri" pitchFamily="34" charset="-120"/>
              </a:rPr>
              <a:t>≈ 0¢</a:t>
            </a:r>
            <a:endParaRPr lang="en-US" sz="1200" dirty="0"/>
          </a:p>
        </p:txBody>
      </p:sp>
      <p:sp>
        <p:nvSpPr>
          <p:cNvPr id="10" name="Text 8"/>
          <p:cNvSpPr/>
          <p:nvPr/>
        </p:nvSpPr>
        <p:spPr>
          <a:xfrm>
            <a:off x="10515600" y="1536192"/>
            <a:ext cx="1170432" cy="457200"/>
          </a:xfrm>
          <a:prstGeom prst="rect">
            <a:avLst/>
          </a:prstGeom>
          <a:noFill/>
          <a:ln/>
        </p:spPr>
        <p:txBody>
          <a:bodyPr wrap="square" lIns="0" tIns="0" rIns="0" bIns="0" rtlCol="0" anchor="ctr"/>
          <a:lstStyle/>
          <a:p>
            <a:pPr algn="r" indent="0" marL="0">
              <a:buNone/>
            </a:pPr>
            <a:r>
              <a:rPr lang="en-US" sz="1150" b="1" dirty="0">
                <a:solidFill>
                  <a:srgbClr val="0C2442"/>
                </a:solidFill>
                <a:latin typeface="Calibri" pitchFamily="34" charset="0"/>
                <a:ea typeface="Calibri" pitchFamily="34" charset="-122"/>
                <a:cs typeface="Calibri" pitchFamily="34" charset="-120"/>
              </a:rPr>
              <a:t>156 checked</a:t>
            </a:r>
            <a:endParaRPr lang="en-US" sz="1150" dirty="0"/>
          </a:p>
        </p:txBody>
      </p:sp>
      <p:sp>
        <p:nvSpPr>
          <p:cNvPr id="11" name="Shape 9"/>
          <p:cNvSpPr/>
          <p:nvPr/>
        </p:nvSpPr>
        <p:spPr>
          <a:xfrm flipV="1">
            <a:off x="5985662" y="2084832"/>
            <a:ext cx="219456" cy="146304"/>
          </a:xfrm>
          <a:prstGeom prst="triangle">
            <a:avLst/>
          </a:prstGeom>
          <a:solidFill>
            <a:srgbClr val="4F7492"/>
          </a:solidFill>
          <a:ln/>
        </p:spPr>
      </p:sp>
      <p:sp>
        <p:nvSpPr>
          <p:cNvPr id="12" name="Shape 10"/>
          <p:cNvSpPr/>
          <p:nvPr/>
        </p:nvSpPr>
        <p:spPr>
          <a:xfrm>
            <a:off x="2346350" y="2304288"/>
            <a:ext cx="7498080" cy="566928"/>
          </a:xfrm>
          <a:prstGeom prst="roundRect">
            <a:avLst>
              <a:gd name="adj" fmla="val 11290"/>
            </a:avLst>
          </a:prstGeom>
          <a:solidFill>
            <a:srgbClr val="1D3B5F"/>
          </a:solidFill>
          <a:ln/>
        </p:spPr>
      </p:sp>
      <p:sp>
        <p:nvSpPr>
          <p:cNvPr id="13" name="Text 11"/>
          <p:cNvSpPr/>
          <p:nvPr/>
        </p:nvSpPr>
        <p:spPr>
          <a:xfrm>
            <a:off x="2620670" y="2304288"/>
            <a:ext cx="704088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Was the change meaningful?   </a:t>
            </a:r>
            <a:pPr indent="0" marL="0">
              <a:buNone/>
            </a:pPr>
            <a:r>
              <a:rPr lang="en-US" sz="1050" dirty="0">
                <a:solidFill>
                  <a:srgbClr val="B9C8D8"/>
                </a:solidFill>
                <a:latin typeface="Calibri" pitchFamily="34" charset="0"/>
                <a:ea typeface="Calibri" pitchFamily="34" charset="-122"/>
                <a:cs typeface="Calibri" pitchFamily="34" charset="-120"/>
              </a:rPr>
              <a:t>stage 2</a:t>
            </a:r>
            <a:endParaRPr lang="en-US" sz="1350" dirty="0"/>
          </a:p>
        </p:txBody>
      </p:sp>
      <p:sp>
        <p:nvSpPr>
          <p:cNvPr id="14" name="Text 12"/>
          <p:cNvSpPr/>
          <p:nvPr/>
        </p:nvSpPr>
        <p:spPr>
          <a:xfrm>
            <a:off x="566928" y="2359152"/>
            <a:ext cx="1097280" cy="457200"/>
          </a:xfrm>
          <a:prstGeom prst="rect">
            <a:avLst/>
          </a:prstGeom>
          <a:noFill/>
          <a:ln/>
        </p:spPr>
        <p:txBody>
          <a:bodyPr wrap="square" lIns="0" tIns="0" rIns="0" bIns="0" rtlCol="0" anchor="ctr"/>
          <a:lstStyle/>
          <a:p>
            <a:pPr indent="0" marL="0">
              <a:buNone/>
            </a:pPr>
            <a:r>
              <a:rPr lang="en-US" sz="1200" b="1" dirty="0">
                <a:solidFill>
                  <a:srgbClr val="4F7492"/>
                </a:solidFill>
                <a:latin typeface="Calibri" pitchFamily="34" charset="0"/>
                <a:ea typeface="Calibri" pitchFamily="34" charset="-122"/>
                <a:cs typeface="Calibri" pitchFamily="34" charset="-120"/>
              </a:rPr>
              <a:t>&lt; 0.1¢</a:t>
            </a:r>
            <a:endParaRPr lang="en-US" sz="1200" dirty="0"/>
          </a:p>
        </p:txBody>
      </p:sp>
      <p:sp>
        <p:nvSpPr>
          <p:cNvPr id="15" name="Text 13"/>
          <p:cNvSpPr/>
          <p:nvPr/>
        </p:nvSpPr>
        <p:spPr>
          <a:xfrm>
            <a:off x="10515600" y="2359152"/>
            <a:ext cx="1170432" cy="457200"/>
          </a:xfrm>
          <a:prstGeom prst="rect">
            <a:avLst/>
          </a:prstGeom>
          <a:noFill/>
          <a:ln/>
        </p:spPr>
        <p:txBody>
          <a:bodyPr wrap="square" lIns="0" tIns="0" rIns="0" bIns="0" rtlCol="0" anchor="ctr"/>
          <a:lstStyle/>
          <a:p>
            <a:pPr algn="r" indent="0" marL="0">
              <a:buNone/>
            </a:pPr>
            <a:r>
              <a:rPr lang="en-US" sz="1150" b="1" dirty="0">
                <a:solidFill>
                  <a:srgbClr val="0C2442"/>
                </a:solidFill>
                <a:latin typeface="Calibri" pitchFamily="34" charset="0"/>
                <a:ea typeface="Calibri" pitchFamily="34" charset="-122"/>
                <a:cs typeface="Calibri" pitchFamily="34" charset="-120"/>
              </a:rPr>
              <a:t>~25 changed</a:t>
            </a:r>
            <a:endParaRPr lang="en-US" sz="1150" dirty="0"/>
          </a:p>
        </p:txBody>
      </p:sp>
      <p:sp>
        <p:nvSpPr>
          <p:cNvPr id="16" name="Shape 14"/>
          <p:cNvSpPr/>
          <p:nvPr/>
        </p:nvSpPr>
        <p:spPr>
          <a:xfrm flipV="1">
            <a:off x="5985662" y="2907792"/>
            <a:ext cx="219456" cy="146304"/>
          </a:xfrm>
          <a:prstGeom prst="triangle">
            <a:avLst/>
          </a:prstGeom>
          <a:solidFill>
            <a:srgbClr val="4F7492"/>
          </a:solidFill>
          <a:ln/>
        </p:spPr>
      </p:sp>
      <p:sp>
        <p:nvSpPr>
          <p:cNvPr id="17" name="Shape 15"/>
          <p:cNvSpPr/>
          <p:nvPr/>
        </p:nvSpPr>
        <p:spPr>
          <a:xfrm>
            <a:off x="2940710" y="3127248"/>
            <a:ext cx="6309360" cy="566928"/>
          </a:xfrm>
          <a:prstGeom prst="roundRect">
            <a:avLst>
              <a:gd name="adj" fmla="val 11290"/>
            </a:avLst>
          </a:prstGeom>
          <a:solidFill>
            <a:srgbClr val="2D4C6A"/>
          </a:solidFill>
          <a:ln/>
        </p:spPr>
      </p:sp>
      <p:sp>
        <p:nvSpPr>
          <p:cNvPr id="18" name="Text 16"/>
          <p:cNvSpPr/>
          <p:nvPr/>
        </p:nvSpPr>
        <p:spPr>
          <a:xfrm>
            <a:off x="3215030" y="3127248"/>
            <a:ext cx="585216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exactly is different?   </a:t>
            </a:r>
            <a:pPr indent="0" marL="0">
              <a:buNone/>
            </a:pPr>
            <a:r>
              <a:rPr lang="en-US" sz="1050" dirty="0">
                <a:solidFill>
                  <a:srgbClr val="B9C8D8"/>
                </a:solidFill>
                <a:latin typeface="Calibri" pitchFamily="34" charset="0"/>
                <a:ea typeface="Calibri" pitchFamily="34" charset="-122"/>
                <a:cs typeface="Calibri" pitchFamily="34" charset="-120"/>
              </a:rPr>
              <a:t>stage 3</a:t>
            </a:r>
            <a:endParaRPr lang="en-US" sz="1350" dirty="0"/>
          </a:p>
        </p:txBody>
      </p:sp>
      <p:sp>
        <p:nvSpPr>
          <p:cNvPr id="19" name="Text 17"/>
          <p:cNvSpPr/>
          <p:nvPr/>
        </p:nvSpPr>
        <p:spPr>
          <a:xfrm>
            <a:off x="566928" y="3182112"/>
            <a:ext cx="1097280" cy="457200"/>
          </a:xfrm>
          <a:prstGeom prst="rect">
            <a:avLst/>
          </a:prstGeom>
          <a:noFill/>
          <a:ln/>
        </p:spPr>
        <p:txBody>
          <a:bodyPr wrap="square" lIns="0" tIns="0" rIns="0" bIns="0" rtlCol="0" anchor="ctr"/>
          <a:lstStyle/>
          <a:p>
            <a:pPr indent="0" marL="0">
              <a:buNone/>
            </a:pPr>
            <a:r>
              <a:rPr lang="en-US" sz="1200" b="1" dirty="0">
                <a:solidFill>
                  <a:srgbClr val="4F7492"/>
                </a:solidFill>
                <a:latin typeface="Calibri" pitchFamily="34" charset="0"/>
                <a:ea typeface="Calibri" pitchFamily="34" charset="-122"/>
                <a:cs typeface="Calibri" pitchFamily="34" charset="-120"/>
              </a:rPr>
              <a:t>&lt; 0.1¢</a:t>
            </a:r>
            <a:endParaRPr lang="en-US" sz="1200" dirty="0"/>
          </a:p>
        </p:txBody>
      </p:sp>
      <p:sp>
        <p:nvSpPr>
          <p:cNvPr id="20" name="Text 18"/>
          <p:cNvSpPr/>
          <p:nvPr/>
        </p:nvSpPr>
        <p:spPr>
          <a:xfrm>
            <a:off x="10515600" y="3182112"/>
            <a:ext cx="1170432" cy="457200"/>
          </a:xfrm>
          <a:prstGeom prst="rect">
            <a:avLst/>
          </a:prstGeom>
          <a:noFill/>
          <a:ln/>
        </p:spPr>
        <p:txBody>
          <a:bodyPr wrap="square" lIns="0" tIns="0" rIns="0" bIns="0" rtlCol="0" anchor="ctr"/>
          <a:lstStyle/>
          <a:p>
            <a:pPr algn="r" indent="0" marL="0">
              <a:buNone/>
            </a:pPr>
            <a:r>
              <a:rPr lang="en-US" sz="1150" b="1" dirty="0">
                <a:solidFill>
                  <a:srgbClr val="0C2442"/>
                </a:solidFill>
                <a:latin typeface="Calibri" pitchFamily="34" charset="0"/>
                <a:ea typeface="Calibri" pitchFamily="34" charset="-122"/>
                <a:cs typeface="Calibri" pitchFamily="34" charset="-120"/>
              </a:rPr>
              <a:t>~10 meaningful</a:t>
            </a:r>
            <a:endParaRPr lang="en-US" sz="1150" dirty="0"/>
          </a:p>
        </p:txBody>
      </p:sp>
      <p:sp>
        <p:nvSpPr>
          <p:cNvPr id="21" name="Shape 19"/>
          <p:cNvSpPr/>
          <p:nvPr/>
        </p:nvSpPr>
        <p:spPr>
          <a:xfrm flipV="1">
            <a:off x="5985662" y="3730752"/>
            <a:ext cx="219456" cy="146304"/>
          </a:xfrm>
          <a:prstGeom prst="triangle">
            <a:avLst/>
          </a:prstGeom>
          <a:solidFill>
            <a:srgbClr val="4F7492"/>
          </a:solidFill>
          <a:ln/>
        </p:spPr>
      </p:sp>
      <p:sp>
        <p:nvSpPr>
          <p:cNvPr id="22" name="Shape 20"/>
          <p:cNvSpPr/>
          <p:nvPr/>
        </p:nvSpPr>
        <p:spPr>
          <a:xfrm>
            <a:off x="3489350" y="3950208"/>
            <a:ext cx="5212080" cy="566928"/>
          </a:xfrm>
          <a:prstGeom prst="roundRect">
            <a:avLst>
              <a:gd name="adj" fmla="val 11290"/>
            </a:avLst>
          </a:prstGeom>
          <a:solidFill>
            <a:srgbClr val="3E6080"/>
          </a:solidFill>
          <a:ln/>
        </p:spPr>
      </p:sp>
      <p:sp>
        <p:nvSpPr>
          <p:cNvPr id="23" name="Text 21"/>
          <p:cNvSpPr/>
          <p:nvPr/>
        </p:nvSpPr>
        <p:spPr>
          <a:xfrm>
            <a:off x="3763670" y="3950208"/>
            <a:ext cx="475488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Could it matter to our pages?   </a:t>
            </a:r>
            <a:pPr indent="0" marL="0">
              <a:buNone/>
            </a:pPr>
            <a:r>
              <a:rPr lang="en-US" sz="1050" dirty="0">
                <a:solidFill>
                  <a:srgbClr val="B9C8D8"/>
                </a:solidFill>
                <a:latin typeface="Calibri" pitchFamily="34" charset="0"/>
                <a:ea typeface="Calibri" pitchFamily="34" charset="-122"/>
                <a:cs typeface="Calibri" pitchFamily="34" charset="-120"/>
              </a:rPr>
              <a:t>stages 4–5</a:t>
            </a:r>
            <a:endParaRPr lang="en-US" sz="1350" dirty="0"/>
          </a:p>
        </p:txBody>
      </p:sp>
      <p:sp>
        <p:nvSpPr>
          <p:cNvPr id="24" name="Text 22"/>
          <p:cNvSpPr/>
          <p:nvPr/>
        </p:nvSpPr>
        <p:spPr>
          <a:xfrm>
            <a:off x="566928" y="4005072"/>
            <a:ext cx="1097280" cy="457200"/>
          </a:xfrm>
          <a:prstGeom prst="rect">
            <a:avLst/>
          </a:prstGeom>
          <a:noFill/>
          <a:ln/>
        </p:spPr>
        <p:txBody>
          <a:bodyPr wrap="square" lIns="0" tIns="0" rIns="0" bIns="0" rtlCol="0" anchor="ctr"/>
          <a:lstStyle/>
          <a:p>
            <a:pPr indent="0" marL="0">
              <a:buNone/>
            </a:pPr>
            <a:r>
              <a:rPr lang="en-US" sz="1200" b="1" dirty="0">
                <a:solidFill>
                  <a:srgbClr val="4F7492"/>
                </a:solidFill>
                <a:latin typeface="Calibri" pitchFamily="34" charset="0"/>
                <a:ea typeface="Calibri" pitchFamily="34" charset="-122"/>
                <a:cs typeface="Calibri" pitchFamily="34" charset="-120"/>
              </a:rPr>
              <a:t>~ 1¢</a:t>
            </a:r>
            <a:endParaRPr lang="en-US" sz="1200" dirty="0"/>
          </a:p>
        </p:txBody>
      </p:sp>
      <p:sp>
        <p:nvSpPr>
          <p:cNvPr id="25" name="Text 23"/>
          <p:cNvSpPr/>
          <p:nvPr/>
        </p:nvSpPr>
        <p:spPr>
          <a:xfrm>
            <a:off x="10515600" y="4005072"/>
            <a:ext cx="1170432" cy="457200"/>
          </a:xfrm>
          <a:prstGeom prst="rect">
            <a:avLst/>
          </a:prstGeom>
          <a:noFill/>
          <a:ln/>
        </p:spPr>
        <p:txBody>
          <a:bodyPr wrap="square" lIns="0" tIns="0" rIns="0" bIns="0" rtlCol="0" anchor="ctr"/>
          <a:lstStyle/>
          <a:p>
            <a:pPr algn="r" indent="0" marL="0">
              <a:buNone/>
            </a:pPr>
            <a:r>
              <a:rPr lang="en-US" sz="1150" b="1" dirty="0">
                <a:solidFill>
                  <a:srgbClr val="0C2442"/>
                </a:solidFill>
                <a:latin typeface="Calibri" pitchFamily="34" charset="0"/>
                <a:ea typeface="Calibri" pitchFamily="34" charset="-122"/>
                <a:cs typeface="Calibri" pitchFamily="34" charset="-120"/>
              </a:rPr>
              <a:t>~5 relevant</a:t>
            </a:r>
            <a:endParaRPr lang="en-US" sz="1150" dirty="0"/>
          </a:p>
        </p:txBody>
      </p:sp>
      <p:sp>
        <p:nvSpPr>
          <p:cNvPr id="26" name="Shape 24"/>
          <p:cNvSpPr/>
          <p:nvPr/>
        </p:nvSpPr>
        <p:spPr>
          <a:xfrm flipV="1">
            <a:off x="5985662" y="4553712"/>
            <a:ext cx="219456" cy="146304"/>
          </a:xfrm>
          <a:prstGeom prst="triangle">
            <a:avLst/>
          </a:prstGeom>
          <a:solidFill>
            <a:srgbClr val="4F7492"/>
          </a:solidFill>
          <a:ln/>
        </p:spPr>
      </p:sp>
      <p:sp>
        <p:nvSpPr>
          <p:cNvPr id="27" name="Shape 25"/>
          <p:cNvSpPr/>
          <p:nvPr/>
        </p:nvSpPr>
        <p:spPr>
          <a:xfrm>
            <a:off x="3992270" y="4773168"/>
            <a:ext cx="4206240" cy="566928"/>
          </a:xfrm>
          <a:prstGeom prst="roundRect">
            <a:avLst>
              <a:gd name="adj" fmla="val 11290"/>
            </a:avLst>
          </a:prstGeom>
          <a:solidFill>
            <a:srgbClr val="4F7492"/>
          </a:solidFill>
          <a:ln/>
        </p:spPr>
      </p:sp>
      <p:sp>
        <p:nvSpPr>
          <p:cNvPr id="28" name="Text 26"/>
          <p:cNvSpPr/>
          <p:nvPr/>
        </p:nvSpPr>
        <p:spPr>
          <a:xfrm>
            <a:off x="4266590" y="4773168"/>
            <a:ext cx="3749040" cy="56692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Which pages? What now?   </a:t>
            </a:r>
            <a:pPr indent="0" marL="0">
              <a:buNone/>
            </a:pPr>
            <a:r>
              <a:rPr lang="en-US" sz="1050" dirty="0">
                <a:solidFill>
                  <a:srgbClr val="B9C8D8"/>
                </a:solidFill>
                <a:latin typeface="Calibri" pitchFamily="34" charset="0"/>
                <a:ea typeface="Calibri" pitchFamily="34" charset="-122"/>
                <a:cs typeface="Calibri" pitchFamily="34" charset="-120"/>
              </a:rPr>
              <a:t>stages 6–8</a:t>
            </a:r>
            <a:endParaRPr lang="en-US" sz="1350" dirty="0"/>
          </a:p>
        </p:txBody>
      </p:sp>
      <p:sp>
        <p:nvSpPr>
          <p:cNvPr id="29" name="Text 27"/>
          <p:cNvSpPr/>
          <p:nvPr/>
        </p:nvSpPr>
        <p:spPr>
          <a:xfrm>
            <a:off x="566928" y="4828032"/>
            <a:ext cx="1097280" cy="457200"/>
          </a:xfrm>
          <a:prstGeom prst="rect">
            <a:avLst/>
          </a:prstGeom>
          <a:noFill/>
          <a:ln/>
        </p:spPr>
        <p:txBody>
          <a:bodyPr wrap="square" lIns="0" tIns="0" rIns="0" bIns="0" rtlCol="0" anchor="ctr"/>
          <a:lstStyle/>
          <a:p>
            <a:pPr indent="0" marL="0">
              <a:buNone/>
            </a:pPr>
            <a:r>
              <a:rPr lang="en-US" sz="1200" b="1" dirty="0">
                <a:solidFill>
                  <a:srgbClr val="4F7492"/>
                </a:solidFill>
                <a:latin typeface="Calibri" pitchFamily="34" charset="0"/>
                <a:ea typeface="Calibri" pitchFamily="34" charset="-122"/>
                <a:cs typeface="Calibri" pitchFamily="34" charset="-120"/>
              </a:rPr>
              <a:t>a few ¢</a:t>
            </a:r>
            <a:endParaRPr lang="en-US" sz="1200" dirty="0"/>
          </a:p>
        </p:txBody>
      </p:sp>
      <p:sp>
        <p:nvSpPr>
          <p:cNvPr id="30" name="Text 28"/>
          <p:cNvSpPr/>
          <p:nvPr/>
        </p:nvSpPr>
        <p:spPr>
          <a:xfrm>
            <a:off x="10515600" y="4828032"/>
            <a:ext cx="1170432" cy="457200"/>
          </a:xfrm>
          <a:prstGeom prst="rect">
            <a:avLst/>
          </a:prstGeom>
          <a:noFill/>
          <a:ln/>
        </p:spPr>
        <p:txBody>
          <a:bodyPr wrap="square" lIns="0" tIns="0" rIns="0" bIns="0" rtlCol="0" anchor="ctr"/>
          <a:lstStyle/>
          <a:p>
            <a:pPr algn="r" indent="0" marL="0">
              <a:buNone/>
            </a:pPr>
            <a:r>
              <a:rPr lang="en-US" sz="1150" b="1" dirty="0">
                <a:solidFill>
                  <a:srgbClr val="0C2442"/>
                </a:solidFill>
                <a:latin typeface="Calibri" pitchFamily="34" charset="0"/>
                <a:ea typeface="Calibri" pitchFamily="34" charset="-122"/>
                <a:cs typeface="Calibri" pitchFamily="34" charset="-120"/>
              </a:rPr>
              <a:t>2–3 finalists</a:t>
            </a:r>
            <a:endParaRPr lang="en-US" sz="1150" dirty="0"/>
          </a:p>
        </p:txBody>
      </p:sp>
      <p:sp>
        <p:nvSpPr>
          <p:cNvPr id="31" name="Shape 29"/>
          <p:cNvSpPr/>
          <p:nvPr/>
        </p:nvSpPr>
        <p:spPr>
          <a:xfrm>
            <a:off x="4449470" y="5486400"/>
            <a:ext cx="3291840" cy="475488"/>
          </a:xfrm>
          <a:prstGeom prst="roundRect">
            <a:avLst>
              <a:gd name="adj" fmla="val 50000"/>
            </a:avLst>
          </a:prstGeom>
          <a:solidFill>
            <a:srgbClr val="E8F3EB"/>
          </a:solidFill>
          <a:ln w="15875">
            <a:solidFill>
              <a:srgbClr val="3E8E52"/>
            </a:solidFill>
            <a:prstDash val="solid"/>
          </a:ln>
        </p:spPr>
      </p:sp>
      <p:sp>
        <p:nvSpPr>
          <p:cNvPr id="32" name="Text 30"/>
          <p:cNvSpPr/>
          <p:nvPr/>
        </p:nvSpPr>
        <p:spPr>
          <a:xfrm>
            <a:off x="4449470" y="5486400"/>
            <a:ext cx="3291840" cy="475488"/>
          </a:xfrm>
          <a:prstGeom prst="rect">
            <a:avLst/>
          </a:prstGeom>
          <a:noFill/>
          <a:ln/>
        </p:spPr>
        <p:txBody>
          <a:bodyPr wrap="square" lIns="0" tIns="0" rIns="0" bIns="0" rtlCol="0" anchor="ctr"/>
          <a:lstStyle/>
          <a:p>
            <a:pPr algn="ctr" indent="0" marL="0">
              <a:buNone/>
            </a:pPr>
            <a:r>
              <a:rPr lang="en-US" sz="1400" b="1" dirty="0">
                <a:solidFill>
                  <a:srgbClr val="3E8E52"/>
                </a:solidFill>
                <a:latin typeface="Arial" pitchFamily="34" charset="0"/>
                <a:ea typeface="Arial" pitchFamily="34" charset="-122"/>
                <a:cs typeface="Arial" pitchFamily="34" charset="-120"/>
              </a:rPr>
              <a:t>one email — or none</a:t>
            </a:r>
            <a:endParaRPr lang="en-US" sz="1400" dirty="0"/>
          </a:p>
        </p:txBody>
      </p:sp>
      <p:sp>
        <p:nvSpPr>
          <p:cNvPr id="33" name="Text 31"/>
          <p:cNvSpPr/>
          <p:nvPr/>
        </p:nvSpPr>
        <p:spPr>
          <a:xfrm>
            <a:off x="502920" y="6089904"/>
            <a:ext cx="11183112" cy="658368"/>
          </a:xfrm>
          <a:prstGeom prst="rect">
            <a:avLst/>
          </a:prstGeom>
          <a:noFill/>
          <a:ln/>
        </p:spPr>
        <p:txBody>
          <a:bodyPr wrap="square" lIns="0" tIns="0" rIns="0" bIns="0" rtlCol="0" anchor="t"/>
          <a:lstStyle/>
          <a:p>
            <a:pPr algn="ctr" indent="0" marL="0">
              <a:buNone/>
            </a:pPr>
            <a:r>
              <a:rPr lang="en-US" sz="1300" i="1" dirty="0">
                <a:solidFill>
                  <a:srgbClr val="5E6B7A"/>
                </a:solidFill>
                <a:latin typeface="Calibri" pitchFamily="34" charset="0"/>
                <a:ea typeface="Calibri" pitchFamily="34" charset="-122"/>
                <a:cs typeface="Calibri" pitchFamily="34" charset="-120"/>
              </a:rPr>
              <a:t>Each gate is cheap to ask and only survivors move on — so the expensive stages barely ever run. The day's entire AI bill: cents.</a:t>
            </a:r>
            <a:endParaRPr lang="en-US" sz="1300" dirty="0"/>
          </a:p>
          <a:p>
            <a:pPr algn="ctr" indent="0" marL="0">
              <a:buNone/>
            </a:pPr>
            <a:r>
              <a:rPr lang="en-US" sz="900" dirty="0">
                <a:solidFill>
                  <a:srgbClr val="5E6B7A"/>
                </a:solidFill>
                <a:latin typeface="Calibri" pitchFamily="34" charset="0"/>
                <a:ea typeface="Calibri" pitchFamily="34" charset="-122"/>
                <a:cs typeface="Calibri" pitchFamily="34" charset="-120"/>
              </a:rPr>
              <a:t>counts: design estimate for a typical day — every run logs its own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DESIGN PRINCIPLE</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Machinery for the facts. Judgement for the verdict. Never the reverse.</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02920" y="1280160"/>
            <a:ext cx="5486400" cy="4160520"/>
          </a:xfrm>
          <a:prstGeom prst="roundRect">
            <a:avLst>
              <a:gd name="adj" fmla="val 1978"/>
            </a:avLst>
          </a:prstGeom>
          <a:solidFill>
            <a:srgbClr val="EEF2F7"/>
          </a:solidFill>
          <a:ln/>
        </p:spPr>
      </p:sp>
      <p:sp>
        <p:nvSpPr>
          <p:cNvPr id="6" name="Shape 4"/>
          <p:cNvSpPr/>
          <p:nvPr/>
        </p:nvSpPr>
        <p:spPr>
          <a:xfrm>
            <a:off x="777240" y="1536192"/>
            <a:ext cx="384048" cy="384048"/>
          </a:xfrm>
          <a:prstGeom prst="roundRect">
            <a:avLst>
              <a:gd name="adj" fmla="val 10714"/>
            </a:avLst>
          </a:prstGeom>
          <a:solidFill>
            <a:srgbClr val="0C2442"/>
          </a:solidFill>
          <a:ln/>
        </p:spPr>
      </p:sp>
      <p:sp>
        <p:nvSpPr>
          <p:cNvPr id="7" name="Text 5"/>
          <p:cNvSpPr/>
          <p:nvPr/>
        </p:nvSpPr>
        <p:spPr>
          <a:xfrm>
            <a:off x="722376" y="1536192"/>
            <a:ext cx="493776"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1–7</a:t>
            </a:r>
            <a:endParaRPr lang="en-US" sz="1050" dirty="0"/>
          </a:p>
        </p:txBody>
      </p:sp>
      <p:sp>
        <p:nvSpPr>
          <p:cNvPr id="8" name="Text 6"/>
          <p:cNvSpPr/>
          <p:nvPr/>
        </p:nvSpPr>
        <p:spPr>
          <a:xfrm>
            <a:off x="1325880" y="1517904"/>
            <a:ext cx="4480560" cy="256032"/>
          </a:xfrm>
          <a:prstGeom prst="rect">
            <a:avLst/>
          </a:prstGeom>
          <a:noFill/>
          <a:ln/>
        </p:spPr>
        <p:txBody>
          <a:bodyPr wrap="square" lIns="0" tIns="0" rIns="0" bIns="0" rtlCol="0" anchor="ctr"/>
          <a:lstStyle/>
          <a:p>
            <a:pPr indent="0" marL="0">
              <a:buNone/>
            </a:pPr>
            <a:r>
              <a:rPr lang="en-US" sz="1400" b="1" spc="100" kern="0" dirty="0">
                <a:solidFill>
                  <a:srgbClr val="0C2442"/>
                </a:solidFill>
                <a:latin typeface="Arial" pitchFamily="34" charset="0"/>
                <a:ea typeface="Arial" pitchFamily="34" charset="-122"/>
                <a:cs typeface="Arial" pitchFamily="34" charset="-120"/>
              </a:rPr>
              <a:t>THE MACHINERY</a:t>
            </a:r>
            <a:endParaRPr lang="en-US" sz="1400" dirty="0"/>
          </a:p>
        </p:txBody>
      </p:sp>
      <p:sp>
        <p:nvSpPr>
          <p:cNvPr id="9" name="Text 7"/>
          <p:cNvSpPr/>
          <p:nvPr/>
        </p:nvSpPr>
        <p:spPr>
          <a:xfrm>
            <a:off x="1325880" y="1792224"/>
            <a:ext cx="4480560" cy="274320"/>
          </a:xfrm>
          <a:prstGeom prst="rect">
            <a:avLst/>
          </a:prstGeom>
          <a:noFill/>
          <a:ln/>
        </p:spPr>
        <p:txBody>
          <a:bodyPr wrap="square" lIns="0" tIns="0" rIns="0" bIns="0" rtlCol="0" anchor="ctr"/>
          <a:lstStyle/>
          <a:p>
            <a:pPr indent="0" marL="0">
              <a:buNone/>
            </a:pPr>
            <a:r>
              <a:rPr lang="en-US" sz="1150" i="1" dirty="0">
                <a:solidFill>
                  <a:srgbClr val="4F7492"/>
                </a:solidFill>
                <a:latin typeface="Calibri" pitchFamily="34" charset="0"/>
                <a:ea typeface="Calibri" pitchFamily="34" charset="-122"/>
                <a:cs typeface="Calibri" pitchFamily="34" charset="-120"/>
              </a:rPr>
              <a:t>deterministic — same input, same answer, every single time</a:t>
            </a:r>
            <a:endParaRPr lang="en-US" sz="1150" dirty="0"/>
          </a:p>
        </p:txBody>
      </p:sp>
      <p:sp>
        <p:nvSpPr>
          <p:cNvPr id="10" name="Text 8"/>
          <p:cNvSpPr/>
          <p:nvPr/>
        </p:nvSpPr>
        <p:spPr>
          <a:xfrm>
            <a:off x="822960" y="2240280"/>
            <a:ext cx="4892040" cy="3017520"/>
          </a:xfrm>
          <a:prstGeom prst="rect">
            <a:avLst/>
          </a:prstGeom>
          <a:noFill/>
          <a:ln/>
        </p:spPr>
        <p:txBody>
          <a:bodyPr wrap="square" lIns="0" tIns="0" rIns="0" bIns="0" rtlCol="0" anchor="t"/>
          <a:lstStyle/>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Counts, compares, measures.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Fingerprints, word matches, similarity scores — it cannot invent anything.</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Auditable by construction.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Every decision is a number in a log; re-run it and you get the same number.</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Effectively free.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Open-source models on free scheduled compute; no per-use fees.</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Carries ~95% of the work,  </a:t>
            </a:r>
            <a:pPr indent="0" marL="0">
              <a:buNone/>
            </a:pPr>
            <a:r>
              <a:rPr lang="en-US" sz="1250" dirty="0">
                <a:solidFill>
                  <a:srgbClr val="1F2A3A"/>
                </a:solidFill>
                <a:latin typeface="Calibri" pitchFamily="34" charset="0"/>
                <a:ea typeface="Calibri" pitchFamily="34" charset="-122"/>
                <a:cs typeface="Calibri" pitchFamily="34" charset="-120"/>
              </a:rPr>
              <a:t>so the expensive part stays tiny: 8 of 9 stages run this way.</a:t>
            </a:r>
            <a:endParaRPr lang="en-US" sz="1250" dirty="0"/>
          </a:p>
        </p:txBody>
      </p:sp>
      <p:sp>
        <p:nvSpPr>
          <p:cNvPr id="11" name="Shape 9"/>
          <p:cNvSpPr/>
          <p:nvPr/>
        </p:nvSpPr>
        <p:spPr>
          <a:xfrm>
            <a:off x="6199632" y="1280160"/>
            <a:ext cx="5486400" cy="4160520"/>
          </a:xfrm>
          <a:prstGeom prst="roundRect">
            <a:avLst>
              <a:gd name="adj" fmla="val 1978"/>
            </a:avLst>
          </a:prstGeom>
          <a:solidFill>
            <a:srgbClr val="FCF3E2"/>
          </a:solidFill>
          <a:ln/>
        </p:spPr>
      </p:sp>
      <p:sp>
        <p:nvSpPr>
          <p:cNvPr id="12" name="Shape 10"/>
          <p:cNvSpPr/>
          <p:nvPr/>
        </p:nvSpPr>
        <p:spPr>
          <a:xfrm>
            <a:off x="6473952" y="1499616"/>
            <a:ext cx="420624" cy="420624"/>
          </a:xfrm>
          <a:prstGeom prst="diamond">
            <a:avLst/>
          </a:prstGeom>
          <a:solidFill>
            <a:srgbClr val="E8A33D"/>
          </a:solidFill>
          <a:ln/>
        </p:spPr>
      </p:sp>
      <p:sp>
        <p:nvSpPr>
          <p:cNvPr id="13" name="Text 11"/>
          <p:cNvSpPr/>
          <p:nvPr/>
        </p:nvSpPr>
        <p:spPr>
          <a:xfrm>
            <a:off x="6382512" y="1481328"/>
            <a:ext cx="603504" cy="420624"/>
          </a:xfrm>
          <a:prstGeom prst="rect">
            <a:avLst/>
          </a:prstGeom>
          <a:noFill/>
          <a:ln/>
        </p:spPr>
        <p:txBody>
          <a:bodyPr wrap="square" lIns="0" tIns="0" rIns="0" bIns="0" rtlCol="0" anchor="ctr"/>
          <a:lstStyle/>
          <a:p>
            <a:pPr algn="ctr" indent="0" marL="0">
              <a:buNone/>
            </a:pPr>
            <a:r>
              <a:rPr lang="en-US" sz="1100" b="1" dirty="0">
                <a:solidFill>
                  <a:srgbClr val="0C2442"/>
                </a:solidFill>
                <a:latin typeface="Arial" pitchFamily="34" charset="0"/>
                <a:ea typeface="Arial" pitchFamily="34" charset="-122"/>
                <a:cs typeface="Arial" pitchFamily="34" charset="-120"/>
              </a:rPr>
              <a:t>8</a:t>
            </a:r>
            <a:endParaRPr lang="en-US" sz="1100" dirty="0"/>
          </a:p>
        </p:txBody>
      </p:sp>
      <p:sp>
        <p:nvSpPr>
          <p:cNvPr id="14" name="Text 12"/>
          <p:cNvSpPr/>
          <p:nvPr/>
        </p:nvSpPr>
        <p:spPr>
          <a:xfrm>
            <a:off x="7022592" y="1517904"/>
            <a:ext cx="4480560" cy="256032"/>
          </a:xfrm>
          <a:prstGeom prst="rect">
            <a:avLst/>
          </a:prstGeom>
          <a:noFill/>
          <a:ln/>
        </p:spPr>
        <p:txBody>
          <a:bodyPr wrap="square" lIns="0" tIns="0" rIns="0" bIns="0" rtlCol="0" anchor="ctr"/>
          <a:lstStyle/>
          <a:p>
            <a:pPr indent="0" marL="0">
              <a:buNone/>
            </a:pPr>
            <a:r>
              <a:rPr lang="en-US" sz="1400" b="1" spc="100" kern="0" dirty="0">
                <a:solidFill>
                  <a:srgbClr val="9A6200"/>
                </a:solidFill>
                <a:latin typeface="Arial" pitchFamily="34" charset="0"/>
                <a:ea typeface="Arial" pitchFamily="34" charset="-122"/>
                <a:cs typeface="Arial" pitchFamily="34" charset="-120"/>
              </a:rPr>
              <a:t>THE JUDGEMENT</a:t>
            </a:r>
            <a:endParaRPr lang="en-US" sz="1400" dirty="0"/>
          </a:p>
        </p:txBody>
      </p:sp>
      <p:sp>
        <p:nvSpPr>
          <p:cNvPr id="15" name="Text 13"/>
          <p:cNvSpPr/>
          <p:nvPr/>
        </p:nvSpPr>
        <p:spPr>
          <a:xfrm>
            <a:off x="7022592" y="1792224"/>
            <a:ext cx="4480560" cy="274320"/>
          </a:xfrm>
          <a:prstGeom prst="rect">
            <a:avLst/>
          </a:prstGeom>
          <a:noFill/>
          <a:ln/>
        </p:spPr>
        <p:txBody>
          <a:bodyPr wrap="square" lIns="0" tIns="0" rIns="0" bIns="0" rtlCol="0" anchor="ctr"/>
          <a:lstStyle/>
          <a:p>
            <a:pPr indent="0" marL="0">
              <a:buNone/>
            </a:pPr>
            <a:r>
              <a:rPr lang="en-US" sz="1150" i="1" dirty="0">
                <a:solidFill>
                  <a:srgbClr val="9A6200"/>
                </a:solidFill>
                <a:latin typeface="Calibri" pitchFamily="34" charset="0"/>
                <a:ea typeface="Calibri" pitchFamily="34" charset="-122"/>
                <a:cs typeface="Calibri" pitchFamily="34" charset="-120"/>
              </a:rPr>
              <a:t>non-deterministic — reads and reasons like a person; can be wrong like one</a:t>
            </a:r>
            <a:endParaRPr lang="en-US" sz="1150" dirty="0"/>
          </a:p>
        </p:txBody>
      </p:sp>
      <p:sp>
        <p:nvSpPr>
          <p:cNvPr id="16" name="Text 14"/>
          <p:cNvSpPr/>
          <p:nvPr/>
        </p:nvSpPr>
        <p:spPr>
          <a:xfrm>
            <a:off x="6519672" y="2240280"/>
            <a:ext cx="4892040" cy="3017520"/>
          </a:xfrm>
          <a:prstGeom prst="rect">
            <a:avLst/>
          </a:prstGeom>
          <a:noFill/>
          <a:ln/>
        </p:spPr>
        <p:txBody>
          <a:bodyPr wrap="square" lIns="0" tIns="0" rIns="0" bIns="0" rtlCol="0" anchor="t"/>
          <a:lstStyle/>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Goes last.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It only ever sees the 2–3 finalists the machinery lets through.</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Answers on a fixed form.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Its reply must fit a strict schema; the machinery checks it before anyone reads it.</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Allowed to say “uncertain”.  </a:t>
            </a:r>
            <a:pPr indent="0" marL="0">
              <a:spcAft>
                <a:spcPts val="1200"/>
              </a:spcAft>
              <a:buNone/>
            </a:pPr>
            <a:r>
              <a:rPr lang="en-US" sz="1250" dirty="0">
                <a:solidFill>
                  <a:srgbClr val="1F2A3A"/>
                </a:solidFill>
                <a:latin typeface="Calibri" pitchFamily="34" charset="0"/>
                <a:ea typeface="Calibri" pitchFamily="34" charset="-122"/>
                <a:cs typeface="Calibri" pitchFamily="34" charset="-120"/>
              </a:rPr>
              <a:t>Doubt is escalated to a human — guessing is the failure mode, not honesty.</a:t>
            </a:r>
            <a:endParaRPr lang="en-US" sz="1250" dirty="0"/>
          </a:p>
          <a:p>
            <a:pPr marL="177800" indent="-177800">
              <a:buSzPct val="100000"/>
              <a:buChar char="•"/>
            </a:pPr>
            <a:r>
              <a:rPr lang="en-US" sz="1250" b="1" dirty="0">
                <a:solidFill>
                  <a:srgbClr val="0C2442"/>
                </a:solidFill>
                <a:latin typeface="Calibri" pitchFamily="34" charset="0"/>
                <a:ea typeface="Calibri" pitchFamily="34" charset="-122"/>
                <a:cs typeface="Calibri" pitchFamily="34" charset="-120"/>
              </a:rPr>
              <a:t>Recommends only.  </a:t>
            </a:r>
            <a:pPr indent="0" marL="0">
              <a:buNone/>
            </a:pPr>
            <a:r>
              <a:rPr lang="en-US" sz="1250" dirty="0">
                <a:solidFill>
                  <a:srgbClr val="1F2A3A"/>
                </a:solidFill>
                <a:latin typeface="Calibri" pitchFamily="34" charset="0"/>
                <a:ea typeface="Calibri" pitchFamily="34" charset="-122"/>
                <a:cs typeface="Calibri" pitchFamily="34" charset="-120"/>
              </a:rPr>
              <a:t>It cannot touch the website. A person makes every edit.</a:t>
            </a:r>
            <a:endParaRPr lang="en-US" sz="1250" dirty="0"/>
          </a:p>
        </p:txBody>
      </p:sp>
      <p:sp>
        <p:nvSpPr>
          <p:cNvPr id="17" name="Shape 15"/>
          <p:cNvSpPr/>
          <p:nvPr/>
        </p:nvSpPr>
        <p:spPr>
          <a:xfrm>
            <a:off x="502920" y="5715000"/>
            <a:ext cx="11183112" cy="685800"/>
          </a:xfrm>
          <a:prstGeom prst="roundRect">
            <a:avLst>
              <a:gd name="adj" fmla="val 12000"/>
            </a:avLst>
          </a:prstGeom>
          <a:solidFill>
            <a:srgbClr val="FFFFFF"/>
          </a:solidFill>
          <a:ln w="12700">
            <a:solidFill>
              <a:srgbClr val="C9D6E2"/>
            </a:solidFill>
            <a:prstDash val="solid"/>
          </a:ln>
        </p:spPr>
      </p:sp>
      <p:sp>
        <p:nvSpPr>
          <p:cNvPr id="18" name="Shape 16"/>
          <p:cNvSpPr/>
          <p:nvPr/>
        </p:nvSpPr>
        <p:spPr>
          <a:xfrm>
            <a:off x="914400" y="5897880"/>
            <a:ext cx="310896" cy="310896"/>
          </a:xfrm>
          <a:prstGeom prst="roundRect">
            <a:avLst>
              <a:gd name="adj" fmla="val 13235"/>
            </a:avLst>
          </a:prstGeom>
          <a:solidFill>
            <a:srgbClr val="0C2442"/>
          </a:solidFill>
          <a:ln/>
        </p:spPr>
      </p:sp>
      <p:sp>
        <p:nvSpPr>
          <p:cNvPr id="19" name="Text 17"/>
          <p:cNvSpPr/>
          <p:nvPr/>
        </p:nvSpPr>
        <p:spPr>
          <a:xfrm>
            <a:off x="859536" y="5897880"/>
            <a:ext cx="420624" cy="310896"/>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353312" y="5888736"/>
            <a:ext cx="1691640" cy="329184"/>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deterministic step</a:t>
            </a:r>
            <a:endParaRPr lang="en-US" sz="1200" dirty="0"/>
          </a:p>
        </p:txBody>
      </p:sp>
      <p:sp>
        <p:nvSpPr>
          <p:cNvPr id="21" name="Shape 19"/>
          <p:cNvSpPr/>
          <p:nvPr/>
        </p:nvSpPr>
        <p:spPr>
          <a:xfrm>
            <a:off x="3291840" y="5879592"/>
            <a:ext cx="347472" cy="347472"/>
          </a:xfrm>
          <a:prstGeom prst="diamond">
            <a:avLst/>
          </a:prstGeom>
          <a:solidFill>
            <a:srgbClr val="E8A33D"/>
          </a:solidFill>
          <a:ln/>
        </p:spPr>
      </p:sp>
      <p:sp>
        <p:nvSpPr>
          <p:cNvPr id="22" name="Text 20"/>
          <p:cNvSpPr/>
          <p:nvPr/>
        </p:nvSpPr>
        <p:spPr>
          <a:xfrm>
            <a:off x="3200400" y="5861304"/>
            <a:ext cx="530352" cy="347472"/>
          </a:xfrm>
          <a:prstGeom prst="rect">
            <a:avLst/>
          </a:prstGeom>
          <a:noFill/>
          <a:ln/>
        </p:spPr>
        <p:txBody>
          <a:bodyPr wrap="square" lIns="0" tIns="0" rIns="0" bIns="0" rtlCol="0" anchor="ctr"/>
          <a:lstStyle/>
          <a:p>
            <a:pPr algn="ctr" indent="0" marL="0">
              <a:buNone/>
            </a:pPr>
            <a:endParaRPr lang="en-US" sz="1100" dirty="0"/>
          </a:p>
        </p:txBody>
      </p:sp>
      <p:sp>
        <p:nvSpPr>
          <p:cNvPr id="23" name="Text 21"/>
          <p:cNvSpPr/>
          <p:nvPr/>
        </p:nvSpPr>
        <p:spPr>
          <a:xfrm>
            <a:off x="3785616" y="5888736"/>
            <a:ext cx="1280160" cy="329184"/>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AI judgement</a:t>
            </a:r>
            <a:endParaRPr lang="en-US" sz="1200" dirty="0"/>
          </a:p>
        </p:txBody>
      </p:sp>
      <p:sp>
        <p:nvSpPr>
          <p:cNvPr id="24" name="Shape 22"/>
          <p:cNvSpPr/>
          <p:nvPr/>
        </p:nvSpPr>
        <p:spPr>
          <a:xfrm>
            <a:off x="5349240" y="5879592"/>
            <a:ext cx="347472" cy="347472"/>
          </a:xfrm>
          <a:prstGeom prst="ellipse">
            <a:avLst/>
          </a:prstGeom>
          <a:solidFill>
            <a:srgbClr val="3E8E52"/>
          </a:solidFill>
          <a:ln/>
        </p:spPr>
      </p:sp>
      <p:pic>
        <p:nvPicPr>
          <p:cNvPr id="25" name="Image 0" descr="preencoded.png">    </p:cNvPr>
          <p:cNvPicPr>
            <a:picLocks noChangeAspect="1"/>
          </p:cNvPicPr>
          <p:nvPr/>
        </p:nvPicPr>
        <p:blipFill>
          <a:blip r:embed="rId1"/>
          <a:stretch>
            <a:fillRect/>
          </a:stretch>
        </p:blipFill>
        <p:spPr>
          <a:xfrm>
            <a:off x="5439583" y="5969935"/>
            <a:ext cx="166787" cy="166787"/>
          </a:xfrm>
          <a:prstGeom prst="rect">
            <a:avLst/>
          </a:prstGeom>
        </p:spPr>
      </p:pic>
      <p:sp>
        <p:nvSpPr>
          <p:cNvPr id="26" name="Text 23"/>
          <p:cNvSpPr/>
          <p:nvPr/>
        </p:nvSpPr>
        <p:spPr>
          <a:xfrm>
            <a:off x="5833872" y="5888736"/>
            <a:ext cx="1463040" cy="329184"/>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human decision</a:t>
            </a:r>
            <a:endParaRPr lang="en-US" sz="1200" dirty="0"/>
          </a:p>
        </p:txBody>
      </p:sp>
      <p:sp>
        <p:nvSpPr>
          <p:cNvPr id="27" name="Text 24"/>
          <p:cNvSpPr/>
          <p:nvPr/>
        </p:nvSpPr>
        <p:spPr>
          <a:xfrm>
            <a:off x="7452360" y="5888736"/>
            <a:ext cx="4023360" cy="329184"/>
          </a:xfrm>
          <a:prstGeom prst="rect">
            <a:avLst/>
          </a:prstGeom>
          <a:noFill/>
          <a:ln/>
        </p:spPr>
        <p:txBody>
          <a:bodyPr wrap="square" lIns="0" tIns="0" rIns="0" bIns="0" rtlCol="0" anchor="ctr"/>
          <a:lstStyle/>
          <a:p>
            <a:pPr indent="0" marL="0">
              <a:buNone/>
            </a:pPr>
            <a:r>
              <a:rPr lang="en-US" sz="1150" i="1" dirty="0">
                <a:solidFill>
                  <a:srgbClr val="5E6B7A"/>
                </a:solidFill>
                <a:latin typeface="Calibri" pitchFamily="34" charset="0"/>
                <a:ea typeface="Calibri" pitchFamily="34" charset="-122"/>
                <a:cs typeface="Calibri" pitchFamily="34" charset="-120"/>
              </a:rPr>
              <a:t>— this colour code runs through the rest of this deck</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CAST</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What it watches, and what it protects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02920" y="1280160"/>
            <a:ext cx="5349240" cy="4114800"/>
          </a:xfrm>
          <a:prstGeom prst="roundRect">
            <a:avLst>
              <a:gd name="adj" fmla="val 2000"/>
            </a:avLst>
          </a:prstGeom>
          <a:solidFill>
            <a:srgbClr val="EEF2F7"/>
          </a:solidFill>
          <a:ln/>
        </p:spPr>
      </p:sp>
      <p:sp>
        <p:nvSpPr>
          <p:cNvPr id="6" name="Text 4"/>
          <p:cNvSpPr/>
          <p:nvPr/>
        </p:nvSpPr>
        <p:spPr>
          <a:xfrm>
            <a:off x="777240" y="1481328"/>
            <a:ext cx="4754880" cy="274320"/>
          </a:xfrm>
          <a:prstGeom prst="rect">
            <a:avLst/>
          </a:prstGeom>
          <a:noFill/>
          <a:ln/>
        </p:spPr>
        <p:txBody>
          <a:bodyPr wrap="square" lIns="0" tIns="0" rIns="0" bIns="0" rtlCol="0" anchor="ctr"/>
          <a:lstStyle/>
          <a:p>
            <a:pPr indent="0" marL="0">
              <a:buNone/>
            </a:pPr>
            <a:r>
              <a:rPr lang="en-US" sz="1350" b="1" spc="100" kern="0" dirty="0">
                <a:solidFill>
                  <a:srgbClr val="0C2442"/>
                </a:solidFill>
                <a:latin typeface="Arial" pitchFamily="34" charset="0"/>
                <a:ea typeface="Arial" pitchFamily="34" charset="-122"/>
                <a:cs typeface="Arial" pitchFamily="34" charset="-120"/>
              </a:rPr>
              <a:t>THE INFLUENCERS</a:t>
            </a:r>
            <a:endParaRPr lang="en-US" sz="1350" dirty="0"/>
          </a:p>
        </p:txBody>
      </p:sp>
      <p:sp>
        <p:nvSpPr>
          <p:cNvPr id="7" name="Text 5"/>
          <p:cNvSpPr/>
          <p:nvPr/>
        </p:nvSpPr>
        <p:spPr>
          <a:xfrm>
            <a:off x="777240" y="1755648"/>
            <a:ext cx="4754880" cy="274320"/>
          </a:xfrm>
          <a:prstGeom prst="rect">
            <a:avLst/>
          </a:prstGeom>
          <a:noFill/>
          <a:ln/>
        </p:spPr>
        <p:txBody>
          <a:bodyPr wrap="square" lIns="0" tIns="0" rIns="0" bIns="0" rtlCol="0" anchor="ctr"/>
          <a:lstStyle/>
          <a:p>
            <a:pPr indent="0" marL="0">
              <a:buNone/>
            </a:pPr>
            <a:r>
              <a:rPr lang="en-US" sz="1200" i="1" dirty="0">
                <a:solidFill>
                  <a:srgbClr val="4F7492"/>
                </a:solidFill>
                <a:latin typeface="Calibri" pitchFamily="34" charset="0"/>
                <a:ea typeface="Calibri" pitchFamily="34" charset="-122"/>
                <a:cs typeface="Calibri" pitchFamily="34" charset="-120"/>
              </a:rPr>
              <a:t>156 sources we don't control</a:t>
            </a:r>
            <a:endParaRPr lang="en-US" sz="1200" dirty="0"/>
          </a:p>
        </p:txBody>
      </p:sp>
      <p:sp>
        <p:nvSpPr>
          <p:cNvPr id="8" name="Shape 6"/>
          <p:cNvSpPr/>
          <p:nvPr/>
        </p:nvSpPr>
        <p:spPr>
          <a:xfrm>
            <a:off x="804672" y="2148840"/>
            <a:ext cx="420624" cy="420624"/>
          </a:xfrm>
          <a:prstGeom prst="ellipse">
            <a:avLst/>
          </a:prstGeom>
          <a:solidFill>
            <a:srgbClr val="0C2442"/>
          </a:solidFill>
          <a:ln/>
        </p:spPr>
      </p:sp>
      <p:pic>
        <p:nvPicPr>
          <p:cNvPr id="9" name="Image 0" descr="preencoded.png">    </p:cNvPr>
          <p:cNvPicPr>
            <a:picLocks noChangeAspect="1"/>
          </p:cNvPicPr>
          <p:nvPr/>
        </p:nvPicPr>
        <p:blipFill>
          <a:blip r:embed="rId1"/>
          <a:stretch>
            <a:fillRect/>
          </a:stretch>
        </p:blipFill>
        <p:spPr>
          <a:xfrm>
            <a:off x="914034" y="2258202"/>
            <a:ext cx="201900" cy="201900"/>
          </a:xfrm>
          <a:prstGeom prst="rect">
            <a:avLst/>
          </a:prstGeom>
        </p:spPr>
      </p:pic>
      <p:sp>
        <p:nvSpPr>
          <p:cNvPr id="10" name="Text 7"/>
          <p:cNvSpPr/>
          <p:nvPr/>
        </p:nvSpPr>
        <p:spPr>
          <a:xfrm>
            <a:off x="1389888" y="2075688"/>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Legislation &amp; regulations</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the Federal Register of Legislation — Acts, rules, fee schedules</a:t>
            </a:r>
            <a:endParaRPr lang="en-US" sz="1250" dirty="0"/>
          </a:p>
        </p:txBody>
      </p:sp>
      <p:sp>
        <p:nvSpPr>
          <p:cNvPr id="11" name="Shape 8"/>
          <p:cNvSpPr/>
          <p:nvPr/>
        </p:nvSpPr>
        <p:spPr>
          <a:xfrm>
            <a:off x="804672" y="2862072"/>
            <a:ext cx="420624" cy="420624"/>
          </a:xfrm>
          <a:prstGeom prst="ellipse">
            <a:avLst/>
          </a:prstGeom>
          <a:solidFill>
            <a:srgbClr val="0C2442"/>
          </a:solidFill>
          <a:ln/>
        </p:spPr>
      </p:sp>
      <p:pic>
        <p:nvPicPr>
          <p:cNvPr id="12" name="Image 1" descr="preencoded.png">    </p:cNvPr>
          <p:cNvPicPr>
            <a:picLocks noChangeAspect="1"/>
          </p:cNvPicPr>
          <p:nvPr/>
        </p:nvPicPr>
        <p:blipFill>
          <a:blip r:embed="rId2"/>
          <a:stretch>
            <a:fillRect/>
          </a:stretch>
        </p:blipFill>
        <p:spPr>
          <a:xfrm>
            <a:off x="914034" y="2971434"/>
            <a:ext cx="201900" cy="201900"/>
          </a:xfrm>
          <a:prstGeom prst="rect">
            <a:avLst/>
          </a:prstGeom>
        </p:spPr>
      </p:pic>
      <p:sp>
        <p:nvSpPr>
          <p:cNvPr id="13" name="Text 9"/>
          <p:cNvSpPr/>
          <p:nvPr/>
        </p:nvSpPr>
        <p:spPr>
          <a:xfrm>
            <a:off x="1389888" y="2788920"/>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Government &amp; agency webpages</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courts, WIPO, partner agencies, official guidance</a:t>
            </a:r>
            <a:endParaRPr lang="en-US" sz="1250" dirty="0"/>
          </a:p>
        </p:txBody>
      </p:sp>
      <p:sp>
        <p:nvSpPr>
          <p:cNvPr id="14" name="Shape 10"/>
          <p:cNvSpPr/>
          <p:nvPr/>
        </p:nvSpPr>
        <p:spPr>
          <a:xfrm>
            <a:off x="804672" y="3575304"/>
            <a:ext cx="420624" cy="420624"/>
          </a:xfrm>
          <a:prstGeom prst="ellipse">
            <a:avLst/>
          </a:prstGeom>
          <a:solidFill>
            <a:srgbClr val="0C2442"/>
          </a:solidFill>
          <a:ln/>
        </p:spPr>
      </p:sp>
      <p:pic>
        <p:nvPicPr>
          <p:cNvPr id="15" name="Image 2" descr="preencoded.png">    </p:cNvPr>
          <p:cNvPicPr>
            <a:picLocks noChangeAspect="1"/>
          </p:cNvPicPr>
          <p:nvPr/>
        </p:nvPicPr>
        <p:blipFill>
          <a:blip r:embed="rId3"/>
          <a:stretch>
            <a:fillRect/>
          </a:stretch>
        </p:blipFill>
        <p:spPr>
          <a:xfrm>
            <a:off x="914034" y="3684666"/>
            <a:ext cx="201900" cy="201900"/>
          </a:xfrm>
          <a:prstGeom prst="rect">
            <a:avLst/>
          </a:prstGeom>
        </p:spPr>
      </p:pic>
      <p:sp>
        <p:nvSpPr>
          <p:cNvPr id="16" name="Text 11"/>
          <p:cNvSpPr/>
          <p:nvPr/>
        </p:nvSpPr>
        <p:spPr>
          <a:xfrm>
            <a:off x="1389888" y="3502152"/>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News &amp; announcement feeds</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official channels publishing new items daily</a:t>
            </a:r>
            <a:endParaRPr lang="en-US" sz="1250" dirty="0"/>
          </a:p>
        </p:txBody>
      </p:sp>
      <p:sp>
        <p:nvSpPr>
          <p:cNvPr id="17" name="Text 12"/>
          <p:cNvSpPr/>
          <p:nvPr/>
        </p:nvSpPr>
        <p:spPr>
          <a:xfrm>
            <a:off x="804672" y="4343400"/>
            <a:ext cx="4800600" cy="91440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Each source has an importance weight and its own check rhythm, daily to quarterly. The register is one spreadsheet — adding a source is one row, no code.</a:t>
            </a:r>
            <a:endParaRPr lang="en-US" sz="1150" dirty="0"/>
          </a:p>
        </p:txBody>
      </p:sp>
      <p:sp>
        <p:nvSpPr>
          <p:cNvPr id="18" name="Shape 13"/>
          <p:cNvSpPr/>
          <p:nvPr/>
        </p:nvSpPr>
        <p:spPr>
          <a:xfrm>
            <a:off x="6336792" y="1280160"/>
            <a:ext cx="5349240" cy="4114800"/>
          </a:xfrm>
          <a:prstGeom prst="roundRect">
            <a:avLst>
              <a:gd name="adj" fmla="val 2000"/>
            </a:avLst>
          </a:prstGeom>
          <a:solidFill>
            <a:srgbClr val="EEF2F7"/>
          </a:solidFill>
          <a:ln/>
        </p:spPr>
      </p:sp>
      <p:sp>
        <p:nvSpPr>
          <p:cNvPr id="19" name="Text 14"/>
          <p:cNvSpPr/>
          <p:nvPr/>
        </p:nvSpPr>
        <p:spPr>
          <a:xfrm>
            <a:off x="6611112" y="1481328"/>
            <a:ext cx="4754880" cy="274320"/>
          </a:xfrm>
          <a:prstGeom prst="rect">
            <a:avLst/>
          </a:prstGeom>
          <a:noFill/>
          <a:ln/>
        </p:spPr>
        <p:txBody>
          <a:bodyPr wrap="square" lIns="0" tIns="0" rIns="0" bIns="0" rtlCol="0" anchor="ctr"/>
          <a:lstStyle/>
          <a:p>
            <a:pPr indent="0" marL="0">
              <a:buNone/>
            </a:pPr>
            <a:r>
              <a:rPr lang="en-US" sz="1350" b="1" spc="100" kern="0" dirty="0">
                <a:solidFill>
                  <a:srgbClr val="0C2442"/>
                </a:solidFill>
                <a:latin typeface="Arial" pitchFamily="34" charset="0"/>
                <a:ea typeface="Arial" pitchFamily="34" charset="-122"/>
                <a:cs typeface="Arial" pitchFamily="34" charset="-120"/>
              </a:rPr>
              <a:t>THE INFLUENCED</a:t>
            </a:r>
            <a:endParaRPr lang="en-US" sz="1350" dirty="0"/>
          </a:p>
        </p:txBody>
      </p:sp>
      <p:sp>
        <p:nvSpPr>
          <p:cNvPr id="20" name="Text 15"/>
          <p:cNvSpPr/>
          <p:nvPr/>
        </p:nvSpPr>
        <p:spPr>
          <a:xfrm>
            <a:off x="6611112" y="1755648"/>
            <a:ext cx="4754880" cy="274320"/>
          </a:xfrm>
          <a:prstGeom prst="rect">
            <a:avLst/>
          </a:prstGeom>
          <a:noFill/>
          <a:ln/>
        </p:spPr>
        <p:txBody>
          <a:bodyPr wrap="square" lIns="0" tIns="0" rIns="0" bIns="0" rtlCol="0" anchor="ctr"/>
          <a:lstStyle/>
          <a:p>
            <a:pPr indent="0" marL="0">
              <a:buNone/>
            </a:pPr>
            <a:r>
              <a:rPr lang="en-US" sz="1200" i="1" dirty="0">
                <a:solidFill>
                  <a:srgbClr val="4F7492"/>
                </a:solidFill>
                <a:latin typeface="Calibri" pitchFamily="34" charset="0"/>
                <a:ea typeface="Calibri" pitchFamily="34" charset="-122"/>
                <a:cs typeface="Calibri" pitchFamily="34" charset="-120"/>
              </a:rPr>
              <a:t>139 pages we publish and must keep true</a:t>
            </a:r>
            <a:endParaRPr lang="en-US" sz="1200" dirty="0"/>
          </a:p>
        </p:txBody>
      </p:sp>
      <p:sp>
        <p:nvSpPr>
          <p:cNvPr id="21" name="Shape 16"/>
          <p:cNvSpPr/>
          <p:nvPr/>
        </p:nvSpPr>
        <p:spPr>
          <a:xfrm>
            <a:off x="6638544" y="2148840"/>
            <a:ext cx="420624" cy="420624"/>
          </a:xfrm>
          <a:prstGeom prst="ellipse">
            <a:avLst/>
          </a:prstGeom>
          <a:solidFill>
            <a:srgbClr val="4F7492"/>
          </a:solidFill>
          <a:ln/>
        </p:spPr>
      </p:sp>
      <p:pic>
        <p:nvPicPr>
          <p:cNvPr id="22" name="Image 3" descr="preencoded.png">    </p:cNvPr>
          <p:cNvPicPr>
            <a:picLocks noChangeAspect="1"/>
          </p:cNvPicPr>
          <p:nvPr/>
        </p:nvPicPr>
        <p:blipFill>
          <a:blip r:embed="rId4"/>
          <a:stretch>
            <a:fillRect/>
          </a:stretch>
        </p:blipFill>
        <p:spPr>
          <a:xfrm>
            <a:off x="6747906" y="2258202"/>
            <a:ext cx="201900" cy="201900"/>
          </a:xfrm>
          <a:prstGeom prst="rect">
            <a:avLst/>
          </a:prstGeom>
        </p:spPr>
      </p:pic>
      <p:sp>
        <p:nvSpPr>
          <p:cNvPr id="23" name="Text 17"/>
          <p:cNvSpPr/>
          <p:nvPr/>
        </p:nvSpPr>
        <p:spPr>
          <a:xfrm>
            <a:off x="7223760" y="2075688"/>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IP First Response</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plain-English guidance pages, each distilling many sources</a:t>
            </a:r>
            <a:endParaRPr lang="en-US" sz="1250" dirty="0"/>
          </a:p>
        </p:txBody>
      </p:sp>
      <p:sp>
        <p:nvSpPr>
          <p:cNvPr id="24" name="Shape 18"/>
          <p:cNvSpPr/>
          <p:nvPr/>
        </p:nvSpPr>
        <p:spPr>
          <a:xfrm>
            <a:off x="6638544" y="2862072"/>
            <a:ext cx="420624" cy="420624"/>
          </a:xfrm>
          <a:prstGeom prst="ellipse">
            <a:avLst/>
          </a:prstGeom>
          <a:solidFill>
            <a:srgbClr val="4F7492"/>
          </a:solidFill>
          <a:ln/>
        </p:spPr>
      </p:sp>
      <p:pic>
        <p:nvPicPr>
          <p:cNvPr id="25" name="Image 4" descr="preencoded.png">    </p:cNvPr>
          <p:cNvPicPr>
            <a:picLocks noChangeAspect="1"/>
          </p:cNvPicPr>
          <p:nvPr/>
        </p:nvPicPr>
        <p:blipFill>
          <a:blip r:embed="rId5"/>
          <a:stretch>
            <a:fillRect/>
          </a:stretch>
        </p:blipFill>
        <p:spPr>
          <a:xfrm>
            <a:off x="6747906" y="2971434"/>
            <a:ext cx="201900" cy="201900"/>
          </a:xfrm>
          <a:prstGeom prst="rect">
            <a:avLst/>
          </a:prstGeom>
        </p:spPr>
      </p:pic>
      <p:sp>
        <p:nvSpPr>
          <p:cNvPr id="26" name="Text 19"/>
          <p:cNvSpPr/>
          <p:nvPr/>
        </p:nvSpPr>
        <p:spPr>
          <a:xfrm>
            <a:off x="7223760" y="2788920"/>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Mirrored into a small local database</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every page pre-studied and indexed — next slide</a:t>
            </a:r>
            <a:endParaRPr lang="en-US" sz="1250" dirty="0"/>
          </a:p>
        </p:txBody>
      </p:sp>
      <p:sp>
        <p:nvSpPr>
          <p:cNvPr id="27" name="Shape 20"/>
          <p:cNvSpPr/>
          <p:nvPr/>
        </p:nvSpPr>
        <p:spPr>
          <a:xfrm>
            <a:off x="6638544" y="3575304"/>
            <a:ext cx="420624" cy="420624"/>
          </a:xfrm>
          <a:prstGeom prst="ellipse">
            <a:avLst/>
          </a:prstGeom>
          <a:solidFill>
            <a:srgbClr val="4F7492"/>
          </a:solidFill>
          <a:ln/>
        </p:spPr>
      </p:sp>
      <p:pic>
        <p:nvPicPr>
          <p:cNvPr id="28" name="Image 5" descr="preencoded.png">    </p:cNvPr>
          <p:cNvPicPr>
            <a:picLocks noChangeAspect="1"/>
          </p:cNvPicPr>
          <p:nvPr/>
        </p:nvPicPr>
        <p:blipFill>
          <a:blip r:embed="rId6"/>
          <a:stretch>
            <a:fillRect/>
          </a:stretch>
        </p:blipFill>
        <p:spPr>
          <a:xfrm>
            <a:off x="6747906" y="3684666"/>
            <a:ext cx="201900" cy="201900"/>
          </a:xfrm>
          <a:prstGeom prst="rect">
            <a:avLst/>
          </a:prstGeom>
        </p:spPr>
      </p:pic>
      <p:sp>
        <p:nvSpPr>
          <p:cNvPr id="29" name="Text 21"/>
          <p:cNvSpPr/>
          <p:nvPr/>
        </p:nvSpPr>
        <p:spPr>
          <a:xfrm>
            <a:off x="7223760" y="3502152"/>
            <a:ext cx="4297680" cy="621792"/>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Refreshed every night</a:t>
            </a:r>
            <a:endParaRPr lang="en-US" sz="1250" dirty="0"/>
          </a:p>
          <a:p>
            <a:pPr indent="0" marL="0">
              <a:buNone/>
            </a:pPr>
            <a:r>
              <a:rPr lang="en-US" sz="1100" dirty="0">
                <a:solidFill>
                  <a:srgbClr val="5E6B7A"/>
                </a:solidFill>
                <a:latin typeface="Calibri" pitchFamily="34" charset="0"/>
                <a:ea typeface="Calibri" pitchFamily="34" charset="-122"/>
                <a:cs typeface="Calibri" pitchFamily="34" charset="-120"/>
              </a:rPr>
              <a:t>so the day's comparisons start from an up-to-date picture</a:t>
            </a:r>
            <a:endParaRPr lang="en-US" sz="1250" dirty="0"/>
          </a:p>
        </p:txBody>
      </p:sp>
      <p:sp>
        <p:nvSpPr>
          <p:cNvPr id="30" name="Text 22"/>
          <p:cNvSpPr/>
          <p:nvPr/>
        </p:nvSpPr>
        <p:spPr>
          <a:xfrm>
            <a:off x="6638544" y="4343400"/>
            <a:ext cx="4800600" cy="91440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Both sides are plain files in version control — anyone can inspect exactly what is watched, and every change to the lists is tracked.</a:t>
            </a:r>
            <a:endParaRPr lang="en-US" sz="1150" dirty="0"/>
          </a:p>
        </p:txBody>
      </p:sp>
      <p:sp>
        <p:nvSpPr>
          <p:cNvPr id="31" name="Shape 23"/>
          <p:cNvSpPr/>
          <p:nvPr/>
        </p:nvSpPr>
        <p:spPr>
          <a:xfrm>
            <a:off x="5870448" y="3291840"/>
            <a:ext cx="438912" cy="0"/>
          </a:xfrm>
          <a:prstGeom prst="line">
            <a:avLst/>
          </a:prstGeom>
          <a:noFill/>
          <a:ln w="38100">
            <a:solidFill>
              <a:srgbClr val="0C2442"/>
            </a:solidFill>
            <a:prstDash val="solid"/>
            <a:tailEnd type="triangle"/>
          </a:ln>
        </p:spPr>
      </p:sp>
      <p:sp>
        <p:nvSpPr>
          <p:cNvPr id="32" name="Text 24"/>
          <p:cNvSpPr/>
          <p:nvPr/>
        </p:nvSpPr>
        <p:spPr>
          <a:xfrm>
            <a:off x="502920" y="5715000"/>
            <a:ext cx="11183112" cy="457200"/>
          </a:xfrm>
          <a:prstGeom prst="rect">
            <a:avLst/>
          </a:prstGeom>
          <a:noFill/>
          <a:ln/>
        </p:spPr>
        <p:txBody>
          <a:bodyPr wrap="square" lIns="0" tIns="0" rIns="0" bIns="0" rtlCol="0" anchor="ctr"/>
          <a:lstStyle/>
          <a:p>
            <a:pPr algn="ctr" indent="0" marL="0">
              <a:buNone/>
            </a:pPr>
            <a:r>
              <a:rPr lang="en-US" sz="1500" b="1" dirty="0">
                <a:solidFill>
                  <a:srgbClr val="0C2442"/>
                </a:solidFill>
                <a:latin typeface="Arial" pitchFamily="34" charset="0"/>
                <a:ea typeface="Arial" pitchFamily="34" charset="-122"/>
                <a:cs typeface="Arial" pitchFamily="34" charset="-120"/>
              </a:rPr>
              <a:t>Tripwire's job: notice when something on the left should change something on the right.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PREPARATION BEATS CLEVERNESS</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Every night, Tripwire re-studies its own website</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02920" y="2377440"/>
            <a:ext cx="2286000" cy="1737360"/>
          </a:xfrm>
          <a:prstGeom prst="roundRect">
            <a:avLst>
              <a:gd name="adj" fmla="val 4737"/>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sp>
        <p:nvSpPr>
          <p:cNvPr id="6" name="Shape 4"/>
          <p:cNvSpPr/>
          <p:nvPr/>
        </p:nvSpPr>
        <p:spPr>
          <a:xfrm>
            <a:off x="1371600" y="2606040"/>
            <a:ext cx="548640" cy="548640"/>
          </a:xfrm>
          <a:prstGeom prst="ellipse">
            <a:avLst/>
          </a:prstGeom>
          <a:solidFill>
            <a:srgbClr val="4F7492"/>
          </a:solidFill>
          <a:ln/>
        </p:spPr>
      </p:sp>
      <p:pic>
        <p:nvPicPr>
          <p:cNvPr id="7" name="Image 0" descr="preencoded.png">    </p:cNvPr>
          <p:cNvPicPr>
            <a:picLocks noChangeAspect="1"/>
          </p:cNvPicPr>
          <p:nvPr/>
        </p:nvPicPr>
        <p:blipFill>
          <a:blip r:embed="rId1"/>
          <a:stretch>
            <a:fillRect/>
          </a:stretch>
        </p:blipFill>
        <p:spPr>
          <a:xfrm>
            <a:off x="1514246" y="2748686"/>
            <a:ext cx="263347" cy="263347"/>
          </a:xfrm>
          <a:prstGeom prst="rect">
            <a:avLst/>
          </a:prstGeom>
        </p:spPr>
      </p:pic>
      <p:sp>
        <p:nvSpPr>
          <p:cNvPr id="8" name="Text 5"/>
          <p:cNvSpPr/>
          <p:nvPr/>
        </p:nvSpPr>
        <p:spPr>
          <a:xfrm>
            <a:off x="594360" y="3246120"/>
            <a:ext cx="2103120" cy="731520"/>
          </a:xfrm>
          <a:prstGeom prst="rect">
            <a:avLst/>
          </a:prstGeom>
          <a:noFill/>
          <a:ln/>
        </p:spPr>
        <p:txBody>
          <a:bodyPr wrap="square" lIns="0" tIns="0" rIns="0" bIns="0" rtlCol="0" anchor="ctr"/>
          <a:lstStyle/>
          <a:p>
            <a:pPr algn="ctr" indent="0" marL="0">
              <a:buNone/>
            </a:pPr>
            <a:r>
              <a:rPr lang="en-US" sz="1300" b="1" dirty="0">
                <a:solidFill>
                  <a:srgbClr val="0C2442"/>
                </a:solidFill>
                <a:latin typeface="Calibri" pitchFamily="34" charset="0"/>
                <a:ea typeface="Calibri" pitchFamily="34" charset="-122"/>
                <a:cs typeface="Calibri" pitchFamily="34" charset="-120"/>
              </a:rPr>
              <a:t>One IPFR page</a:t>
            </a:r>
            <a:endParaRPr lang="en-US" sz="1300" dirty="0"/>
          </a:p>
          <a:p>
            <a:pPr algn="ctr" indent="0" marL="0">
              <a:buNone/>
            </a:pPr>
            <a:r>
              <a:rPr lang="en-US" sz="1100" dirty="0">
                <a:solidFill>
                  <a:srgbClr val="5E6B7A"/>
                </a:solidFill>
                <a:latin typeface="Calibri" pitchFamily="34" charset="0"/>
                <a:ea typeface="Calibri" pitchFamily="34" charset="-122"/>
                <a:cs typeface="Calibri" pitchFamily="34" charset="-120"/>
              </a:rPr>
              <a:t>× 139, every night</a:t>
            </a:r>
            <a:endParaRPr lang="en-US" sz="1300" dirty="0"/>
          </a:p>
        </p:txBody>
      </p:sp>
      <p:sp>
        <p:nvSpPr>
          <p:cNvPr id="9" name="Shape 6"/>
          <p:cNvSpPr/>
          <p:nvPr/>
        </p:nvSpPr>
        <p:spPr>
          <a:xfrm>
            <a:off x="2880360" y="3246120"/>
            <a:ext cx="502920" cy="0"/>
          </a:xfrm>
          <a:prstGeom prst="line">
            <a:avLst/>
          </a:prstGeom>
          <a:noFill/>
          <a:ln w="38100">
            <a:solidFill>
              <a:srgbClr val="0C2442"/>
            </a:solidFill>
            <a:prstDash val="solid"/>
            <a:tailEnd type="triangle"/>
          </a:ln>
        </p:spPr>
      </p:sp>
      <p:sp>
        <p:nvSpPr>
          <p:cNvPr id="10" name="Shape 7"/>
          <p:cNvSpPr/>
          <p:nvPr/>
        </p:nvSpPr>
        <p:spPr>
          <a:xfrm>
            <a:off x="3611880" y="1298448"/>
            <a:ext cx="3950208" cy="1298448"/>
          </a:xfrm>
          <a:prstGeom prst="roundRect">
            <a:avLst>
              <a:gd name="adj" fmla="val 6338"/>
            </a:avLst>
          </a:prstGeom>
          <a:solidFill>
            <a:srgbClr val="EEF2F7"/>
          </a:solidFill>
          <a:ln/>
        </p:spPr>
      </p:sp>
      <p:sp>
        <p:nvSpPr>
          <p:cNvPr id="11" name="Shape 8"/>
          <p:cNvSpPr/>
          <p:nvPr/>
        </p:nvSpPr>
        <p:spPr>
          <a:xfrm>
            <a:off x="3758184" y="1444752"/>
            <a:ext cx="384048" cy="384048"/>
          </a:xfrm>
          <a:prstGeom prst="ellipse">
            <a:avLst/>
          </a:prstGeom>
          <a:solidFill>
            <a:srgbClr val="0C2442"/>
          </a:solidFill>
          <a:ln/>
        </p:spPr>
      </p:sp>
      <p:pic>
        <p:nvPicPr>
          <p:cNvPr id="12" name="Image 1" descr="preencoded.png">    </p:cNvPr>
          <p:cNvPicPr>
            <a:picLocks noChangeAspect="1"/>
          </p:cNvPicPr>
          <p:nvPr/>
        </p:nvPicPr>
        <p:blipFill>
          <a:blip r:embed="rId2"/>
          <a:stretch>
            <a:fillRect/>
          </a:stretch>
        </p:blipFill>
        <p:spPr>
          <a:xfrm>
            <a:off x="3858036" y="1544604"/>
            <a:ext cx="184343" cy="184343"/>
          </a:xfrm>
          <a:prstGeom prst="rect">
            <a:avLst/>
          </a:prstGeom>
        </p:spPr>
      </p:pic>
      <p:sp>
        <p:nvSpPr>
          <p:cNvPr id="13" name="Text 9"/>
          <p:cNvSpPr/>
          <p:nvPr/>
        </p:nvSpPr>
        <p:spPr>
          <a:xfrm>
            <a:off x="4270248" y="1417320"/>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Clean text + a fingerprint</a:t>
            </a:r>
            <a:endParaRPr lang="en-US" sz="1250" dirty="0"/>
          </a:p>
        </p:txBody>
      </p:sp>
      <p:sp>
        <p:nvSpPr>
          <p:cNvPr id="14" name="Text 10"/>
          <p:cNvSpPr/>
          <p:nvPr/>
        </p:nvSpPr>
        <p:spPr>
          <a:xfrm>
            <a:off x="4270248" y="1719072"/>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clutter stripped; then a 64-character seal — change one letter and the seal changes</a:t>
            </a:r>
            <a:endParaRPr lang="en-US" sz="1050" dirty="0"/>
          </a:p>
        </p:txBody>
      </p:sp>
      <p:sp>
        <p:nvSpPr>
          <p:cNvPr id="15" name="Shape 11"/>
          <p:cNvSpPr/>
          <p:nvPr/>
        </p:nvSpPr>
        <p:spPr>
          <a:xfrm>
            <a:off x="7726680" y="1298448"/>
            <a:ext cx="3950208" cy="1298448"/>
          </a:xfrm>
          <a:prstGeom prst="roundRect">
            <a:avLst>
              <a:gd name="adj" fmla="val 6338"/>
            </a:avLst>
          </a:prstGeom>
          <a:solidFill>
            <a:srgbClr val="EEF2F7"/>
          </a:solidFill>
          <a:ln/>
        </p:spPr>
      </p:sp>
      <p:sp>
        <p:nvSpPr>
          <p:cNvPr id="16" name="Shape 12"/>
          <p:cNvSpPr/>
          <p:nvPr/>
        </p:nvSpPr>
        <p:spPr>
          <a:xfrm>
            <a:off x="7872984" y="1444752"/>
            <a:ext cx="384048" cy="384048"/>
          </a:xfrm>
          <a:prstGeom prst="ellipse">
            <a:avLst/>
          </a:prstGeom>
          <a:solidFill>
            <a:srgbClr val="0C2442"/>
          </a:solidFill>
          <a:ln/>
        </p:spPr>
      </p:sp>
      <p:pic>
        <p:nvPicPr>
          <p:cNvPr id="17" name="Image 2" descr="preencoded.png">    </p:cNvPr>
          <p:cNvPicPr>
            <a:picLocks noChangeAspect="1"/>
          </p:cNvPicPr>
          <p:nvPr/>
        </p:nvPicPr>
        <p:blipFill>
          <a:blip r:embed="rId3"/>
          <a:stretch>
            <a:fillRect/>
          </a:stretch>
        </p:blipFill>
        <p:spPr>
          <a:xfrm>
            <a:off x="7972836" y="1544604"/>
            <a:ext cx="184343" cy="184343"/>
          </a:xfrm>
          <a:prstGeom prst="rect">
            <a:avLst/>
          </a:prstGeom>
        </p:spPr>
      </p:pic>
      <p:sp>
        <p:nvSpPr>
          <p:cNvPr id="18" name="Text 13"/>
          <p:cNvSpPr/>
          <p:nvPr/>
        </p:nvSpPr>
        <p:spPr>
          <a:xfrm>
            <a:off x="8385048" y="1417320"/>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1,164 passages</a:t>
            </a:r>
            <a:endParaRPr lang="en-US" sz="1250" dirty="0"/>
          </a:p>
        </p:txBody>
      </p:sp>
      <p:sp>
        <p:nvSpPr>
          <p:cNvPr id="19" name="Text 14"/>
          <p:cNvSpPr/>
          <p:nvPr/>
        </p:nvSpPr>
        <p:spPr>
          <a:xfrm>
            <a:off x="8385048" y="1719072"/>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each page split into bite-size, section-aware pieces for precise comparison</a:t>
            </a:r>
            <a:endParaRPr lang="en-US" sz="1050" dirty="0"/>
          </a:p>
        </p:txBody>
      </p:sp>
      <p:sp>
        <p:nvSpPr>
          <p:cNvPr id="20" name="Shape 15"/>
          <p:cNvSpPr/>
          <p:nvPr/>
        </p:nvSpPr>
        <p:spPr>
          <a:xfrm>
            <a:off x="3611880" y="2743200"/>
            <a:ext cx="3950208" cy="1298448"/>
          </a:xfrm>
          <a:prstGeom prst="roundRect">
            <a:avLst>
              <a:gd name="adj" fmla="val 6338"/>
            </a:avLst>
          </a:prstGeom>
          <a:solidFill>
            <a:srgbClr val="EEF2F7"/>
          </a:solidFill>
          <a:ln/>
        </p:spPr>
      </p:sp>
      <p:sp>
        <p:nvSpPr>
          <p:cNvPr id="21" name="Shape 16"/>
          <p:cNvSpPr/>
          <p:nvPr/>
        </p:nvSpPr>
        <p:spPr>
          <a:xfrm>
            <a:off x="3758184" y="2889504"/>
            <a:ext cx="384048" cy="384048"/>
          </a:xfrm>
          <a:prstGeom prst="ellipse">
            <a:avLst/>
          </a:prstGeom>
          <a:solidFill>
            <a:srgbClr val="0C2442"/>
          </a:solidFill>
          <a:ln/>
        </p:spPr>
      </p:sp>
      <p:pic>
        <p:nvPicPr>
          <p:cNvPr id="22" name="Image 3" descr="preencoded.png">    </p:cNvPr>
          <p:cNvPicPr>
            <a:picLocks noChangeAspect="1"/>
          </p:cNvPicPr>
          <p:nvPr/>
        </p:nvPicPr>
        <p:blipFill>
          <a:blip r:embed="rId4"/>
          <a:stretch>
            <a:fillRect/>
          </a:stretch>
        </p:blipFill>
        <p:spPr>
          <a:xfrm>
            <a:off x="3858036" y="2989356"/>
            <a:ext cx="184343" cy="184343"/>
          </a:xfrm>
          <a:prstGeom prst="rect">
            <a:avLst/>
          </a:prstGeom>
        </p:spPr>
      </p:pic>
      <p:sp>
        <p:nvSpPr>
          <p:cNvPr id="23" name="Text 17"/>
          <p:cNvSpPr/>
          <p:nvPr/>
        </p:nvSpPr>
        <p:spPr>
          <a:xfrm>
            <a:off x="4270248" y="2862072"/>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1,366 key phrases</a:t>
            </a:r>
            <a:endParaRPr lang="en-US" sz="1250" dirty="0"/>
          </a:p>
        </p:txBody>
      </p:sp>
      <p:sp>
        <p:nvSpPr>
          <p:cNvPr id="24" name="Text 18"/>
          <p:cNvSpPr/>
          <p:nvPr/>
        </p:nvSpPr>
        <p:spPr>
          <a:xfrm>
            <a:off x="4270248" y="3163824"/>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the terms that characterise each page, extracted automatically</a:t>
            </a:r>
            <a:endParaRPr lang="en-US" sz="1050" dirty="0"/>
          </a:p>
        </p:txBody>
      </p:sp>
      <p:sp>
        <p:nvSpPr>
          <p:cNvPr id="25" name="Shape 19"/>
          <p:cNvSpPr/>
          <p:nvPr/>
        </p:nvSpPr>
        <p:spPr>
          <a:xfrm>
            <a:off x="7726680" y="2743200"/>
            <a:ext cx="3950208" cy="1298448"/>
          </a:xfrm>
          <a:prstGeom prst="roundRect">
            <a:avLst>
              <a:gd name="adj" fmla="val 6338"/>
            </a:avLst>
          </a:prstGeom>
          <a:solidFill>
            <a:srgbClr val="EEF2F7"/>
          </a:solidFill>
          <a:ln/>
        </p:spPr>
      </p:sp>
      <p:sp>
        <p:nvSpPr>
          <p:cNvPr id="26" name="Shape 20"/>
          <p:cNvSpPr/>
          <p:nvPr/>
        </p:nvSpPr>
        <p:spPr>
          <a:xfrm>
            <a:off x="7872984" y="2889504"/>
            <a:ext cx="384048" cy="384048"/>
          </a:xfrm>
          <a:prstGeom prst="ellipse">
            <a:avLst/>
          </a:prstGeom>
          <a:solidFill>
            <a:srgbClr val="0C2442"/>
          </a:solidFill>
          <a:ln/>
        </p:spPr>
      </p:sp>
      <p:pic>
        <p:nvPicPr>
          <p:cNvPr id="27" name="Image 4" descr="preencoded.png">    </p:cNvPr>
          <p:cNvPicPr>
            <a:picLocks noChangeAspect="1"/>
          </p:cNvPicPr>
          <p:nvPr/>
        </p:nvPicPr>
        <p:blipFill>
          <a:blip r:embed="rId5"/>
          <a:stretch>
            <a:fillRect/>
          </a:stretch>
        </p:blipFill>
        <p:spPr>
          <a:xfrm>
            <a:off x="7972836" y="2989356"/>
            <a:ext cx="184343" cy="184343"/>
          </a:xfrm>
          <a:prstGeom prst="rect">
            <a:avLst/>
          </a:prstGeom>
        </p:spPr>
      </p:pic>
      <p:sp>
        <p:nvSpPr>
          <p:cNvPr id="28" name="Text 21"/>
          <p:cNvSpPr/>
          <p:nvPr/>
        </p:nvSpPr>
        <p:spPr>
          <a:xfrm>
            <a:off x="8385048" y="2862072"/>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1,591 named things</a:t>
            </a:r>
            <a:endParaRPr lang="en-US" sz="1250" dirty="0"/>
          </a:p>
        </p:txBody>
      </p:sp>
      <p:sp>
        <p:nvSpPr>
          <p:cNvPr id="29" name="Text 22"/>
          <p:cNvSpPr/>
          <p:nvPr/>
        </p:nvSpPr>
        <p:spPr>
          <a:xfrm>
            <a:off x="8385048" y="3163824"/>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the Acts, organisations, amounts and deadlines each page mentions</a:t>
            </a:r>
            <a:endParaRPr lang="en-US" sz="1050" dirty="0"/>
          </a:p>
        </p:txBody>
      </p:sp>
      <p:sp>
        <p:nvSpPr>
          <p:cNvPr id="30" name="Shape 23"/>
          <p:cNvSpPr/>
          <p:nvPr/>
        </p:nvSpPr>
        <p:spPr>
          <a:xfrm>
            <a:off x="3611880" y="4187952"/>
            <a:ext cx="3950208" cy="1298448"/>
          </a:xfrm>
          <a:prstGeom prst="roundRect">
            <a:avLst>
              <a:gd name="adj" fmla="val 6338"/>
            </a:avLst>
          </a:prstGeom>
          <a:solidFill>
            <a:srgbClr val="EEF2F7"/>
          </a:solidFill>
          <a:ln/>
        </p:spPr>
      </p:sp>
      <p:sp>
        <p:nvSpPr>
          <p:cNvPr id="31" name="Shape 24"/>
          <p:cNvSpPr/>
          <p:nvPr/>
        </p:nvSpPr>
        <p:spPr>
          <a:xfrm>
            <a:off x="3758184" y="4334256"/>
            <a:ext cx="384048" cy="384048"/>
          </a:xfrm>
          <a:prstGeom prst="ellipse">
            <a:avLst/>
          </a:prstGeom>
          <a:solidFill>
            <a:srgbClr val="0C2442"/>
          </a:solidFill>
          <a:ln/>
        </p:spPr>
      </p:sp>
      <p:pic>
        <p:nvPicPr>
          <p:cNvPr id="32" name="Image 5" descr="preencoded.png">    </p:cNvPr>
          <p:cNvPicPr>
            <a:picLocks noChangeAspect="1"/>
          </p:cNvPicPr>
          <p:nvPr/>
        </p:nvPicPr>
        <p:blipFill>
          <a:blip r:embed="rId6"/>
          <a:stretch>
            <a:fillRect/>
          </a:stretch>
        </p:blipFill>
        <p:spPr>
          <a:xfrm>
            <a:off x="3858036" y="4434108"/>
            <a:ext cx="184343" cy="184343"/>
          </a:xfrm>
          <a:prstGeom prst="rect">
            <a:avLst/>
          </a:prstGeom>
        </p:spPr>
      </p:pic>
      <p:sp>
        <p:nvSpPr>
          <p:cNvPr id="33" name="Text 25"/>
          <p:cNvSpPr/>
          <p:nvPr/>
        </p:nvSpPr>
        <p:spPr>
          <a:xfrm>
            <a:off x="4270248" y="4306824"/>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A place on the meaning map</a:t>
            </a:r>
            <a:endParaRPr lang="en-US" sz="1250" dirty="0"/>
          </a:p>
        </p:txBody>
      </p:sp>
      <p:sp>
        <p:nvSpPr>
          <p:cNvPr id="34" name="Text 26"/>
          <p:cNvSpPr/>
          <p:nvPr/>
        </p:nvSpPr>
        <p:spPr>
          <a:xfrm>
            <a:off x="4270248" y="4608576"/>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coordinates for every passage — explained on slide 12</a:t>
            </a:r>
            <a:endParaRPr lang="en-US" sz="1050" dirty="0"/>
          </a:p>
        </p:txBody>
      </p:sp>
      <p:sp>
        <p:nvSpPr>
          <p:cNvPr id="35" name="Shape 27"/>
          <p:cNvSpPr/>
          <p:nvPr/>
        </p:nvSpPr>
        <p:spPr>
          <a:xfrm>
            <a:off x="7726680" y="4187952"/>
            <a:ext cx="3950208" cy="1298448"/>
          </a:xfrm>
          <a:prstGeom prst="roundRect">
            <a:avLst>
              <a:gd name="adj" fmla="val 6338"/>
            </a:avLst>
          </a:prstGeom>
          <a:solidFill>
            <a:srgbClr val="EEF2F7"/>
          </a:solidFill>
          <a:ln/>
        </p:spPr>
      </p:sp>
      <p:sp>
        <p:nvSpPr>
          <p:cNvPr id="36" name="Shape 28"/>
          <p:cNvSpPr/>
          <p:nvPr/>
        </p:nvSpPr>
        <p:spPr>
          <a:xfrm>
            <a:off x="7872984" y="4334256"/>
            <a:ext cx="384048" cy="384048"/>
          </a:xfrm>
          <a:prstGeom prst="ellipse">
            <a:avLst/>
          </a:prstGeom>
          <a:solidFill>
            <a:srgbClr val="0C2442"/>
          </a:solidFill>
          <a:ln/>
        </p:spPr>
      </p:sp>
      <p:pic>
        <p:nvPicPr>
          <p:cNvPr id="37" name="Image 6" descr="preencoded.png">    </p:cNvPr>
          <p:cNvPicPr>
            <a:picLocks noChangeAspect="1"/>
          </p:cNvPicPr>
          <p:nvPr/>
        </p:nvPicPr>
        <p:blipFill>
          <a:blip r:embed="rId7"/>
          <a:stretch>
            <a:fillRect/>
          </a:stretch>
        </p:blipFill>
        <p:spPr>
          <a:xfrm>
            <a:off x="7972836" y="4434108"/>
            <a:ext cx="184343" cy="184343"/>
          </a:xfrm>
          <a:prstGeom prst="rect">
            <a:avLst/>
          </a:prstGeom>
        </p:spPr>
      </p:pic>
      <p:sp>
        <p:nvSpPr>
          <p:cNvPr id="38" name="Text 29"/>
          <p:cNvSpPr/>
          <p:nvPr/>
        </p:nvSpPr>
        <p:spPr>
          <a:xfrm>
            <a:off x="8385048" y="4306824"/>
            <a:ext cx="3172968"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965 connections</a:t>
            </a:r>
            <a:endParaRPr lang="en-US" sz="1250" dirty="0"/>
          </a:p>
        </p:txBody>
      </p:sp>
      <p:sp>
        <p:nvSpPr>
          <p:cNvPr id="39" name="Text 30"/>
          <p:cNvSpPr/>
          <p:nvPr/>
        </p:nvSpPr>
        <p:spPr>
          <a:xfrm>
            <a:off x="8385048" y="4608576"/>
            <a:ext cx="3172968" cy="804672"/>
          </a:xfrm>
          <a:prstGeom prst="rect">
            <a:avLst/>
          </a:prstGeom>
          <a:noFill/>
          <a:ln/>
        </p:spPr>
        <p:txBody>
          <a:bodyPr wrap="square" lIns="0" tIns="0" rIns="0" bIns="0" rtlCol="0" anchor="t"/>
          <a:lstStyle/>
          <a:p>
            <a:pPr indent="0" marL="0">
              <a:buNone/>
            </a:pPr>
            <a:r>
              <a:rPr lang="en-US" sz="1050" dirty="0">
                <a:solidFill>
                  <a:srgbClr val="1F2A3A"/>
                </a:solidFill>
                <a:latin typeface="Calibri" pitchFamily="34" charset="0"/>
                <a:ea typeface="Calibri" pitchFamily="34" charset="-122"/>
                <a:cs typeface="Calibri" pitchFamily="34" charset="-120"/>
              </a:rPr>
              <a:t>which pages relate to which, and how strongly — a map of the site's web</a:t>
            </a:r>
            <a:endParaRPr lang="en-US" sz="1050" dirty="0"/>
          </a:p>
        </p:txBody>
      </p:sp>
      <p:sp>
        <p:nvSpPr>
          <p:cNvPr id="40" name="Shape 31"/>
          <p:cNvSpPr/>
          <p:nvPr/>
        </p:nvSpPr>
        <p:spPr>
          <a:xfrm>
            <a:off x="502920" y="5779008"/>
            <a:ext cx="11183112" cy="658368"/>
          </a:xfrm>
          <a:prstGeom prst="roundRect">
            <a:avLst>
              <a:gd name="adj" fmla="val 12500"/>
            </a:avLst>
          </a:prstGeom>
          <a:solidFill>
            <a:srgbClr val="0C2442"/>
          </a:solidFill>
          <a:ln/>
        </p:spPr>
      </p:sp>
      <p:sp>
        <p:nvSpPr>
          <p:cNvPr id="41" name="Text 32"/>
          <p:cNvSpPr/>
          <p:nvPr/>
        </p:nvSpPr>
        <p:spPr>
          <a:xfrm>
            <a:off x="777240" y="5779008"/>
            <a:ext cx="1069848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 the heavy reading once, overnight.  </a:t>
            </a:r>
            <a:pPr indent="0" marL="0">
              <a:buNone/>
            </a:pPr>
            <a:r>
              <a:rPr lang="en-US" sz="1300" dirty="0">
                <a:solidFill>
                  <a:srgbClr val="FFFFFF"/>
                </a:solidFill>
                <a:latin typeface="Calibri" pitchFamily="34" charset="0"/>
                <a:ea typeface="Calibri" pitchFamily="34" charset="-122"/>
                <a:cs typeface="Calibri" pitchFamily="34" charset="-120"/>
              </a:rPr>
              <a:t>The study runs at 1 am; the day's checks start at 2 am — by then every comparison is a cheap lookup against homework already done.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GATES 1–2</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First, the cheap questions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8918143" y="310896"/>
            <a:ext cx="246888" cy="246888"/>
          </a:xfrm>
          <a:prstGeom prst="roundRect">
            <a:avLst>
              <a:gd name="adj" fmla="val 16667"/>
            </a:avLst>
          </a:prstGeom>
          <a:solidFill>
            <a:srgbClr val="0C2442"/>
          </a:solidFill>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0C2442"/>
          </a:solidFill>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E3EAF2"/>
          </a:solidFill>
          <a:ln w="9525">
            <a:solidFill>
              <a:srgbClr val="C9D6E2"/>
            </a:solidFill>
            <a:prstDash val="solid"/>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E3EAF2"/>
          </a:solidFill>
          <a:ln w="9525">
            <a:solidFill>
              <a:srgbClr val="C9D6E2"/>
            </a:solidFill>
            <a:prstDash val="solid"/>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E3EAF2"/>
          </a:solidFill>
          <a:ln w="9525">
            <a:solidFill>
              <a:srgbClr val="C9D6E2"/>
            </a:solidFill>
            <a:prstDash val="solid"/>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E3EAF2"/>
          </a:solidFill>
          <a:ln w="9525">
            <a:solidFill>
              <a:srgbClr val="C9D6E2"/>
            </a:solidFill>
            <a:prstDash val="solid"/>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E3EAF2"/>
          </a:solidFill>
          <a:ln w="9525">
            <a:solidFill>
              <a:srgbClr val="C9D6E2"/>
            </a:solidFill>
            <a:prstDash val="solid"/>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3EAF2"/>
          </a:solidFill>
          <a:ln w="9525">
            <a:solidFill>
              <a:srgbClr val="C9D6E2"/>
            </a:solidFill>
            <a:prstDash val="solid"/>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E3EAF2"/>
          </a:solidFill>
          <a:ln w="9525">
            <a:solidFill>
              <a:srgbClr val="C9D6E2"/>
            </a:solidFill>
            <a:prstDash val="solid"/>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280160"/>
            <a:ext cx="5440680" cy="4343400"/>
          </a:xfrm>
          <a:prstGeom prst="roundRect">
            <a:avLst>
              <a:gd name="adj" fmla="val 1895"/>
            </a:avLst>
          </a:prstGeom>
          <a:solidFill>
            <a:srgbClr val="EEF2F7"/>
          </a:solidFill>
          <a:ln/>
        </p:spPr>
      </p:sp>
      <p:sp>
        <p:nvSpPr>
          <p:cNvPr id="24" name="Shape 22"/>
          <p:cNvSpPr/>
          <p:nvPr/>
        </p:nvSpPr>
        <p:spPr>
          <a:xfrm>
            <a:off x="777240" y="1517904"/>
            <a:ext cx="365760" cy="365760"/>
          </a:xfrm>
          <a:prstGeom prst="roundRect">
            <a:avLst>
              <a:gd name="adj" fmla="val 11250"/>
            </a:avLst>
          </a:prstGeom>
          <a:solidFill>
            <a:srgbClr val="0C2442"/>
          </a:solidFill>
          <a:ln/>
        </p:spPr>
      </p:sp>
      <p:sp>
        <p:nvSpPr>
          <p:cNvPr id="25" name="Text 23"/>
          <p:cNvSpPr/>
          <p:nvPr/>
        </p:nvSpPr>
        <p:spPr>
          <a:xfrm>
            <a:off x="722376" y="1517904"/>
            <a:ext cx="4754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6" name="Text 24"/>
          <p:cNvSpPr/>
          <p:nvPr/>
        </p:nvSpPr>
        <p:spPr>
          <a:xfrm>
            <a:off x="1298448" y="1499616"/>
            <a:ext cx="4389120" cy="256032"/>
          </a:xfrm>
          <a:prstGeom prst="rect">
            <a:avLst/>
          </a:prstGeom>
          <a:noFill/>
          <a:ln/>
        </p:spPr>
        <p:txBody>
          <a:bodyPr wrap="square" lIns="0" tIns="0" rIns="0" bIns="0" rtlCol="0" anchor="ctr"/>
          <a:lstStyle/>
          <a:p>
            <a:pPr indent="0" marL="0">
              <a:buNone/>
            </a:pPr>
            <a:r>
              <a:rPr lang="en-US" sz="1350" b="1" spc="100" kern="0" dirty="0">
                <a:solidFill>
                  <a:srgbClr val="0C2442"/>
                </a:solidFill>
                <a:latin typeface="Arial" pitchFamily="34" charset="0"/>
                <a:ea typeface="Arial" pitchFamily="34" charset="-122"/>
                <a:cs typeface="Arial" pitchFamily="34" charset="-120"/>
              </a:rPr>
              <a:t>THE DOORBELL</a:t>
            </a:r>
            <a:endParaRPr lang="en-US" sz="1350" dirty="0"/>
          </a:p>
        </p:txBody>
      </p:sp>
      <p:sp>
        <p:nvSpPr>
          <p:cNvPr id="27" name="Text 25"/>
          <p:cNvSpPr/>
          <p:nvPr/>
        </p:nvSpPr>
        <p:spPr>
          <a:xfrm>
            <a:off x="1298448" y="1764792"/>
            <a:ext cx="4389120" cy="256032"/>
          </a:xfrm>
          <a:prstGeom prst="rect">
            <a:avLst/>
          </a:prstGeom>
          <a:noFill/>
          <a:ln/>
        </p:spPr>
        <p:txBody>
          <a:bodyPr wrap="square" lIns="0" tIns="0" rIns="0" bIns="0" rtlCol="0" anchor="ctr"/>
          <a:lstStyle/>
          <a:p>
            <a:pPr indent="0" marL="0">
              <a:buNone/>
            </a:pPr>
            <a:r>
              <a:rPr lang="en-US" sz="1200" i="1" dirty="0">
                <a:solidFill>
                  <a:srgbClr val="4F7492"/>
                </a:solidFill>
                <a:latin typeface="Calibri" pitchFamily="34" charset="0"/>
                <a:ea typeface="Calibri" pitchFamily="34" charset="-122"/>
                <a:cs typeface="Calibri" pitchFamily="34" charset="-120"/>
              </a:rPr>
              <a:t>has anything changed at all?</a:t>
            </a:r>
            <a:endParaRPr lang="en-US" sz="1200" dirty="0"/>
          </a:p>
        </p:txBody>
      </p:sp>
      <p:sp>
        <p:nvSpPr>
          <p:cNvPr id="28" name="Text 26"/>
          <p:cNvSpPr/>
          <p:nvPr/>
        </p:nvSpPr>
        <p:spPr>
          <a:xfrm>
            <a:off x="822960" y="2176272"/>
            <a:ext cx="4754880" cy="4572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Before downloading anything, ask the source's server for its receipts:</a:t>
            </a:r>
            <a:endParaRPr lang="en-US" sz="1250" dirty="0"/>
          </a:p>
        </p:txBody>
      </p:sp>
      <p:sp>
        <p:nvSpPr>
          <p:cNvPr id="29" name="Text 27"/>
          <p:cNvSpPr/>
          <p:nvPr/>
        </p:nvSpPr>
        <p:spPr>
          <a:xfrm>
            <a:off x="1005840" y="2651760"/>
            <a:ext cx="4480560" cy="96012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A3A"/>
                </a:solidFill>
                <a:latin typeface="Calibri" pitchFamily="34" charset="0"/>
                <a:ea typeface="Calibri" pitchFamily="34" charset="-122"/>
                <a:cs typeface="Calibri" pitchFamily="34" charset="-120"/>
              </a:rPr>
              <a:t>“When was this last modified?”</a:t>
            </a:r>
            <a:endParaRPr lang="en-US" sz="1200" dirty="0"/>
          </a:p>
          <a:p>
            <a:pPr marL="177800" indent="-177800">
              <a:spcAft>
                <a:spcPts val="500"/>
              </a:spcAft>
              <a:buSzPct val="100000"/>
              <a:buChar char="•"/>
            </a:pPr>
            <a:r>
              <a:rPr lang="en-US" sz="1200" dirty="0">
                <a:solidFill>
                  <a:srgbClr val="1F2A3A"/>
                </a:solidFill>
                <a:latin typeface="Calibri" pitchFamily="34" charset="0"/>
                <a:ea typeface="Calibri" pitchFamily="34" charset="-122"/>
                <a:cs typeface="Calibri" pitchFamily="34" charset="-120"/>
              </a:rPr>
              <a:t>“What version number is current?”</a:t>
            </a:r>
            <a:endParaRPr lang="en-US" sz="1200" dirty="0"/>
          </a:p>
          <a:p>
            <a:pPr marL="177800" indent="-177800">
              <a:buSzPct val="100000"/>
              <a:buChar char="•"/>
            </a:pPr>
            <a:r>
              <a:rPr lang="en-US" sz="1200" dirty="0">
                <a:solidFill>
                  <a:srgbClr val="1F2A3A"/>
                </a:solidFill>
                <a:latin typeface="Calibri" pitchFamily="34" charset="0"/>
                <a:ea typeface="Calibri" pitchFamily="34" charset="-122"/>
                <a:cs typeface="Calibri" pitchFamily="34" charset="-120"/>
              </a:rPr>
              <a:t>“How big is the document now?”</a:t>
            </a:r>
            <a:endParaRPr lang="en-US" sz="1200" dirty="0"/>
          </a:p>
        </p:txBody>
      </p:sp>
      <p:sp>
        <p:nvSpPr>
          <p:cNvPr id="30" name="Shape 28"/>
          <p:cNvSpPr/>
          <p:nvPr/>
        </p:nvSpPr>
        <p:spPr>
          <a:xfrm>
            <a:off x="822960" y="3794760"/>
            <a:ext cx="329184" cy="329184"/>
          </a:xfrm>
          <a:prstGeom prst="ellipse">
            <a:avLst/>
          </a:prstGeom>
          <a:solidFill>
            <a:srgbClr val="3E8E52"/>
          </a:solidFill>
          <a:ln/>
        </p:spPr>
      </p:sp>
      <p:pic>
        <p:nvPicPr>
          <p:cNvPr id="31" name="Image 0" descr="preencoded.png">    </p:cNvPr>
          <p:cNvPicPr>
            <a:picLocks noChangeAspect="1"/>
          </p:cNvPicPr>
          <p:nvPr/>
        </p:nvPicPr>
        <p:blipFill>
          <a:blip r:embed="rId1"/>
          <a:stretch>
            <a:fillRect/>
          </a:stretch>
        </p:blipFill>
        <p:spPr>
          <a:xfrm>
            <a:off x="908548" y="3880348"/>
            <a:ext cx="158008" cy="158008"/>
          </a:xfrm>
          <a:prstGeom prst="rect">
            <a:avLst/>
          </a:prstGeom>
        </p:spPr>
      </p:pic>
      <p:sp>
        <p:nvSpPr>
          <p:cNvPr id="32" name="Text 29"/>
          <p:cNvSpPr/>
          <p:nvPr/>
        </p:nvSpPr>
        <p:spPr>
          <a:xfrm>
            <a:off x="1298448" y="3749040"/>
            <a:ext cx="4297680" cy="50292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Answers unchanged → done. Cost for that source today: effectively zero.</a:t>
            </a:r>
            <a:endParaRPr lang="en-US" sz="1200" dirty="0"/>
          </a:p>
        </p:txBody>
      </p:sp>
      <p:sp>
        <p:nvSpPr>
          <p:cNvPr id="33" name="Shape 30"/>
          <p:cNvSpPr/>
          <p:nvPr/>
        </p:nvSpPr>
        <p:spPr>
          <a:xfrm>
            <a:off x="822960" y="4407408"/>
            <a:ext cx="329184" cy="329184"/>
          </a:xfrm>
          <a:prstGeom prst="ellipse">
            <a:avLst/>
          </a:prstGeom>
          <a:solidFill>
            <a:srgbClr val="4F7492"/>
          </a:solidFill>
          <a:ln/>
        </p:spPr>
      </p:sp>
      <p:pic>
        <p:nvPicPr>
          <p:cNvPr id="34" name="Image 1" descr="preencoded.png">    </p:cNvPr>
          <p:cNvPicPr>
            <a:picLocks noChangeAspect="1"/>
          </p:cNvPicPr>
          <p:nvPr/>
        </p:nvPicPr>
        <p:blipFill>
          <a:blip r:embed="rId2"/>
          <a:stretch>
            <a:fillRect/>
          </a:stretch>
        </p:blipFill>
        <p:spPr>
          <a:xfrm>
            <a:off x="908548" y="4492996"/>
            <a:ext cx="158008" cy="158008"/>
          </a:xfrm>
          <a:prstGeom prst="rect">
            <a:avLst/>
          </a:prstGeom>
        </p:spPr>
      </p:pic>
      <p:sp>
        <p:nvSpPr>
          <p:cNvPr id="35" name="Text 31"/>
          <p:cNvSpPr/>
          <p:nvPr/>
        </p:nvSpPr>
        <p:spPr>
          <a:xfrm>
            <a:off x="1298448" y="4315968"/>
            <a:ext cx="4297680" cy="82296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Server won't say, or signals are ambiguous → download and look anyway. When unsure, this system always looks closer — it never quietly skips.</a:t>
            </a:r>
            <a:endParaRPr lang="en-US" sz="1200" dirty="0"/>
          </a:p>
        </p:txBody>
      </p:sp>
      <p:sp>
        <p:nvSpPr>
          <p:cNvPr id="36" name="Shape 32"/>
          <p:cNvSpPr/>
          <p:nvPr/>
        </p:nvSpPr>
        <p:spPr>
          <a:xfrm>
            <a:off x="6245352" y="1280160"/>
            <a:ext cx="5440680" cy="4343400"/>
          </a:xfrm>
          <a:prstGeom prst="roundRect">
            <a:avLst>
              <a:gd name="adj" fmla="val 1895"/>
            </a:avLst>
          </a:prstGeom>
          <a:solidFill>
            <a:srgbClr val="EEF2F7"/>
          </a:solidFill>
          <a:ln/>
        </p:spPr>
      </p:sp>
      <p:sp>
        <p:nvSpPr>
          <p:cNvPr id="37" name="Shape 33"/>
          <p:cNvSpPr/>
          <p:nvPr/>
        </p:nvSpPr>
        <p:spPr>
          <a:xfrm>
            <a:off x="6519672" y="1517904"/>
            <a:ext cx="365760" cy="365760"/>
          </a:xfrm>
          <a:prstGeom prst="roundRect">
            <a:avLst>
              <a:gd name="adj" fmla="val 11250"/>
            </a:avLst>
          </a:prstGeom>
          <a:solidFill>
            <a:srgbClr val="0C2442"/>
          </a:solidFill>
          <a:ln/>
        </p:spPr>
      </p:sp>
      <p:sp>
        <p:nvSpPr>
          <p:cNvPr id="38" name="Text 34"/>
          <p:cNvSpPr/>
          <p:nvPr/>
        </p:nvSpPr>
        <p:spPr>
          <a:xfrm>
            <a:off x="6464808" y="1517904"/>
            <a:ext cx="4754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9" name="Text 35"/>
          <p:cNvSpPr/>
          <p:nvPr/>
        </p:nvSpPr>
        <p:spPr>
          <a:xfrm>
            <a:off x="7040880" y="1499616"/>
            <a:ext cx="4389120" cy="256032"/>
          </a:xfrm>
          <a:prstGeom prst="rect">
            <a:avLst/>
          </a:prstGeom>
          <a:noFill/>
          <a:ln/>
        </p:spPr>
        <p:txBody>
          <a:bodyPr wrap="square" lIns="0" tIns="0" rIns="0" bIns="0" rtlCol="0" anchor="ctr"/>
          <a:lstStyle/>
          <a:p>
            <a:pPr indent="0" marL="0">
              <a:buNone/>
            </a:pPr>
            <a:r>
              <a:rPr lang="en-US" sz="1350" b="1" spc="100" kern="0" dirty="0">
                <a:solidFill>
                  <a:srgbClr val="0C2442"/>
                </a:solidFill>
                <a:latin typeface="Arial" pitchFamily="34" charset="0"/>
                <a:ea typeface="Arial" pitchFamily="34" charset="-122"/>
                <a:cs typeface="Arial" pitchFamily="34" charset="-120"/>
              </a:rPr>
              <a:t>THE FINGERPRINT</a:t>
            </a:r>
            <a:endParaRPr lang="en-US" sz="1350" dirty="0"/>
          </a:p>
        </p:txBody>
      </p:sp>
      <p:sp>
        <p:nvSpPr>
          <p:cNvPr id="40" name="Text 36"/>
          <p:cNvSpPr/>
          <p:nvPr/>
        </p:nvSpPr>
        <p:spPr>
          <a:xfrm>
            <a:off x="7040880" y="1764792"/>
            <a:ext cx="4389120" cy="256032"/>
          </a:xfrm>
          <a:prstGeom prst="rect">
            <a:avLst/>
          </a:prstGeom>
          <a:noFill/>
          <a:ln/>
        </p:spPr>
        <p:txBody>
          <a:bodyPr wrap="square" lIns="0" tIns="0" rIns="0" bIns="0" rtlCol="0" anchor="ctr"/>
          <a:lstStyle/>
          <a:p>
            <a:pPr indent="0" marL="0">
              <a:buNone/>
            </a:pPr>
            <a:r>
              <a:rPr lang="en-US" sz="1200" i="1" dirty="0">
                <a:solidFill>
                  <a:srgbClr val="4F7492"/>
                </a:solidFill>
                <a:latin typeface="Calibri" pitchFamily="34" charset="0"/>
                <a:ea typeface="Calibri" pitchFamily="34" charset="-122"/>
                <a:cs typeface="Calibri" pitchFamily="34" charset="-120"/>
              </a:rPr>
              <a:t>was the change real, or just cosmetic?</a:t>
            </a:r>
            <a:endParaRPr lang="en-US" sz="1200" dirty="0"/>
          </a:p>
        </p:txBody>
      </p:sp>
      <p:sp>
        <p:nvSpPr>
          <p:cNvPr id="41" name="Shape 37"/>
          <p:cNvSpPr/>
          <p:nvPr/>
        </p:nvSpPr>
        <p:spPr>
          <a:xfrm>
            <a:off x="6565392" y="2194560"/>
            <a:ext cx="274320" cy="274320"/>
          </a:xfrm>
          <a:prstGeom prst="ellipse">
            <a:avLst/>
          </a:prstGeom>
          <a:solidFill>
            <a:srgbClr val="2D4C6A"/>
          </a:solidFill>
          <a:ln/>
        </p:spPr>
      </p:sp>
      <p:sp>
        <p:nvSpPr>
          <p:cNvPr id="42" name="Text 38"/>
          <p:cNvSpPr/>
          <p:nvPr/>
        </p:nvSpPr>
        <p:spPr>
          <a:xfrm>
            <a:off x="6510528" y="2194560"/>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43" name="Text 39"/>
          <p:cNvSpPr/>
          <p:nvPr/>
        </p:nvSpPr>
        <p:spPr>
          <a:xfrm>
            <a:off x="6967728" y="2176272"/>
            <a:ext cx="4526280" cy="1097280"/>
          </a:xfrm>
          <a:prstGeom prst="rect">
            <a:avLst/>
          </a:prstGeom>
          <a:noFill/>
          <a:ln/>
        </p:spPr>
        <p:txBody>
          <a:bodyPr wrap="square" lIns="0" tIns="0" rIns="0" bIns="0" rtlCol="0" anchor="t"/>
          <a:lstStyle/>
          <a:p>
            <a:pPr indent="0" marL="0">
              <a:buNone/>
            </a:pPr>
            <a:r>
              <a:rPr lang="en-US" sz="1150" b="1" dirty="0">
                <a:solidFill>
                  <a:srgbClr val="0C2442"/>
                </a:solidFill>
                <a:latin typeface="Calibri" pitchFamily="34" charset="0"/>
                <a:ea typeface="Calibri" pitchFamily="34" charset="-122"/>
                <a:cs typeface="Calibri" pitchFamily="34" charset="-120"/>
              </a:rPr>
              <a:t>Seal check.  </a:t>
            </a:r>
            <a:pPr indent="0" marL="0">
              <a:buNone/>
            </a:pPr>
            <a:r>
              <a:rPr lang="en-US" sz="1150" dirty="0">
                <a:solidFill>
                  <a:srgbClr val="1F2A3A"/>
                </a:solidFill>
                <a:latin typeface="Calibri" pitchFamily="34" charset="0"/>
                <a:ea typeface="Calibri" pitchFamily="34" charset="-122"/>
                <a:cs typeface="Calibri" pitchFamily="34" charset="-120"/>
              </a:rPr>
              <a:t>Compute a mathematical fingerprint of the cleaned text (SHA-256): change a single letter and the whole seal changes. Same seal as yesterday → identical content → stop.</a:t>
            </a:r>
            <a:endParaRPr lang="en-US" sz="1150" dirty="0"/>
          </a:p>
        </p:txBody>
      </p:sp>
      <p:sp>
        <p:nvSpPr>
          <p:cNvPr id="44" name="Shape 40"/>
          <p:cNvSpPr/>
          <p:nvPr/>
        </p:nvSpPr>
        <p:spPr>
          <a:xfrm>
            <a:off x="6565392" y="3328416"/>
            <a:ext cx="274320" cy="274320"/>
          </a:xfrm>
          <a:prstGeom prst="ellipse">
            <a:avLst/>
          </a:prstGeom>
          <a:solidFill>
            <a:srgbClr val="2D4C6A"/>
          </a:solidFill>
          <a:ln/>
        </p:spPr>
      </p:sp>
      <p:sp>
        <p:nvSpPr>
          <p:cNvPr id="45" name="Text 41"/>
          <p:cNvSpPr/>
          <p:nvPr/>
        </p:nvSpPr>
        <p:spPr>
          <a:xfrm>
            <a:off x="6510528" y="3328416"/>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46" name="Text 42"/>
          <p:cNvSpPr/>
          <p:nvPr/>
        </p:nvSpPr>
        <p:spPr>
          <a:xfrm>
            <a:off x="6967728" y="3310128"/>
            <a:ext cx="4526280" cy="1097280"/>
          </a:xfrm>
          <a:prstGeom prst="rect">
            <a:avLst/>
          </a:prstGeom>
          <a:noFill/>
          <a:ln/>
        </p:spPr>
        <p:txBody>
          <a:bodyPr wrap="square" lIns="0" tIns="0" rIns="0" bIns="0" rtlCol="0" anchor="t"/>
          <a:lstStyle/>
          <a:p>
            <a:pPr indent="0" marL="0">
              <a:buNone/>
            </a:pPr>
            <a:r>
              <a:rPr lang="en-US" sz="1150" b="1" dirty="0">
                <a:solidFill>
                  <a:srgbClr val="0C2442"/>
                </a:solidFill>
                <a:latin typeface="Calibri" pitchFamily="34" charset="0"/>
                <a:ea typeface="Calibri" pitchFamily="34" charset="-122"/>
                <a:cs typeface="Calibri" pitchFamily="34" charset="-120"/>
              </a:rPr>
              <a:t>Word-by-word compare.  </a:t>
            </a:r>
            <a:pPr indent="0" marL="0">
              <a:buNone/>
            </a:pPr>
            <a:r>
              <a:rPr lang="en-US" sz="1150" dirty="0">
                <a:solidFill>
                  <a:srgbClr val="1F2A3A"/>
                </a:solidFill>
                <a:latin typeface="Calibri" pitchFamily="34" charset="0"/>
                <a:ea typeface="Calibri" pitchFamily="34" charset="-122"/>
                <a:cs typeface="Calibri" pitchFamily="34" charset="-120"/>
              </a:rPr>
              <a:t>Only spacing or formatting moved? Log “cosmetic” and stop. Menus, timestamps and styling churn die here.</a:t>
            </a:r>
            <a:endParaRPr lang="en-US" sz="1150" dirty="0"/>
          </a:p>
        </p:txBody>
      </p:sp>
      <p:sp>
        <p:nvSpPr>
          <p:cNvPr id="47" name="Shape 43"/>
          <p:cNvSpPr/>
          <p:nvPr/>
        </p:nvSpPr>
        <p:spPr>
          <a:xfrm>
            <a:off x="6565392" y="4462272"/>
            <a:ext cx="274320" cy="274320"/>
          </a:xfrm>
          <a:prstGeom prst="ellipse">
            <a:avLst/>
          </a:prstGeom>
          <a:solidFill>
            <a:srgbClr val="2D4C6A"/>
          </a:solidFill>
          <a:ln/>
        </p:spPr>
      </p:sp>
      <p:sp>
        <p:nvSpPr>
          <p:cNvPr id="48" name="Text 44"/>
          <p:cNvSpPr/>
          <p:nvPr/>
        </p:nvSpPr>
        <p:spPr>
          <a:xfrm>
            <a:off x="6510528" y="4462272"/>
            <a:ext cx="3840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49" name="Text 45"/>
          <p:cNvSpPr/>
          <p:nvPr/>
        </p:nvSpPr>
        <p:spPr>
          <a:xfrm>
            <a:off x="6967728" y="4443984"/>
            <a:ext cx="4526280" cy="1097280"/>
          </a:xfrm>
          <a:prstGeom prst="rect">
            <a:avLst/>
          </a:prstGeom>
          <a:noFill/>
          <a:ln/>
        </p:spPr>
        <p:txBody>
          <a:bodyPr wrap="square" lIns="0" tIns="0" rIns="0" bIns="0" rtlCol="0" anchor="t"/>
          <a:lstStyle/>
          <a:p>
            <a:pPr indent="0" marL="0">
              <a:buNone/>
            </a:pPr>
            <a:r>
              <a:rPr lang="en-US" sz="1150" b="1" dirty="0">
                <a:solidFill>
                  <a:srgbClr val="0C2442"/>
                </a:solidFill>
                <a:latin typeface="Calibri" pitchFamily="34" charset="0"/>
                <a:ea typeface="Calibri" pitchFamily="34" charset="-122"/>
                <a:cs typeface="Calibri" pitchFamily="34" charset="-120"/>
              </a:rPr>
              <a:t>Significance sniff.  </a:t>
            </a:r>
            <a:pPr indent="0" marL="0">
              <a:buNone/>
            </a:pPr>
            <a:r>
              <a:rPr lang="en-US" sz="1150" dirty="0">
                <a:solidFill>
                  <a:srgbClr val="1F2A3A"/>
                </a:solidFill>
                <a:latin typeface="Calibri" pitchFamily="34" charset="0"/>
                <a:ea typeface="Calibri" pitchFamily="34" charset="-122"/>
                <a:cs typeface="Calibri" pitchFamily="34" charset="-120"/>
              </a:rPr>
              <a:t>Do the changed lines touch dates, dollar amounts, section numbers, or “must / may / shall”? Tag it high or standard — context that travels with the change. It never vetoes a real edit.</a:t>
            </a:r>
            <a:endParaRPr lang="en-US" sz="1150" dirty="0"/>
          </a:p>
        </p:txBody>
      </p:sp>
      <p:sp>
        <p:nvSpPr>
          <p:cNvPr id="50" name="Text 46"/>
          <p:cNvSpPr/>
          <p:nvPr/>
        </p:nvSpPr>
        <p:spPr>
          <a:xfrm>
            <a:off x="502920" y="5852160"/>
            <a:ext cx="11183112" cy="502920"/>
          </a:xfrm>
          <a:prstGeom prst="rect">
            <a:avLst/>
          </a:prstGeom>
          <a:noFill/>
          <a:ln/>
        </p:spPr>
        <p:txBody>
          <a:bodyPr wrap="square" lIns="0" tIns="0" rIns="0" bIns="0" rtlCol="0" anchor="ctr"/>
          <a:lstStyle/>
          <a:p>
            <a:pPr algn="ctr" indent="0" marL="0">
              <a:buNone/>
            </a:pPr>
            <a:r>
              <a:rPr lang="en-US" sz="1250" i="1" dirty="0">
                <a:solidFill>
                  <a:srgbClr val="5E6B7A"/>
                </a:solidFill>
                <a:latin typeface="Calibri" pitchFamily="34" charset="0"/>
                <a:ea typeface="Calibri" pitchFamily="34" charset="-122"/>
                <a:cs typeface="Calibri" pitchFamily="34" charset="-120"/>
              </a:rPr>
              <a:t>Legislation and news feeds skip the fingerprint — they announce changes in structured form. Free-form webpages are the messy ones that need 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GATE 3</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From “something changed” to the exact sentences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8918143" y="310896"/>
            <a:ext cx="246888" cy="246888"/>
          </a:xfrm>
          <a:prstGeom prst="roundRect">
            <a:avLst>
              <a:gd name="adj" fmla="val 16667"/>
            </a:avLst>
          </a:prstGeom>
          <a:solidFill>
            <a:srgbClr val="E3EAF2"/>
          </a:solidFill>
          <a:ln w="9525">
            <a:solidFill>
              <a:srgbClr val="C9D6E2"/>
            </a:solidFill>
            <a:prstDash val="solid"/>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E3EAF2"/>
          </a:solidFill>
          <a:ln w="9525">
            <a:solidFill>
              <a:srgbClr val="C9D6E2"/>
            </a:solidFill>
            <a:prstDash val="solid"/>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0C2442"/>
          </a:solidFill>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E3EAF2"/>
          </a:solidFill>
          <a:ln w="9525">
            <a:solidFill>
              <a:srgbClr val="C9D6E2"/>
            </a:solidFill>
            <a:prstDash val="solid"/>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E3EAF2"/>
          </a:solidFill>
          <a:ln w="9525">
            <a:solidFill>
              <a:srgbClr val="C9D6E2"/>
            </a:solidFill>
            <a:prstDash val="solid"/>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E3EAF2"/>
          </a:solidFill>
          <a:ln w="9525">
            <a:solidFill>
              <a:srgbClr val="C9D6E2"/>
            </a:solidFill>
            <a:prstDash val="solid"/>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E3EAF2"/>
          </a:solidFill>
          <a:ln w="9525">
            <a:solidFill>
              <a:srgbClr val="C9D6E2"/>
            </a:solidFill>
            <a:prstDash val="solid"/>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3EAF2"/>
          </a:solidFill>
          <a:ln w="9525">
            <a:solidFill>
              <a:srgbClr val="C9D6E2"/>
            </a:solidFill>
            <a:prstDash val="solid"/>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E3EAF2"/>
          </a:solidFill>
          <a:ln w="9525">
            <a:solidFill>
              <a:srgbClr val="C9D6E2"/>
            </a:solidFill>
            <a:prstDash val="solid"/>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325880"/>
            <a:ext cx="5989320" cy="3611880"/>
          </a:xfrm>
          <a:prstGeom prst="roundRect">
            <a:avLst>
              <a:gd name="adj" fmla="val 2278"/>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sp>
        <p:nvSpPr>
          <p:cNvPr id="24" name="Shape 22"/>
          <p:cNvSpPr/>
          <p:nvPr/>
        </p:nvSpPr>
        <p:spPr>
          <a:xfrm>
            <a:off x="502920" y="1325880"/>
            <a:ext cx="5989320" cy="475488"/>
          </a:xfrm>
          <a:prstGeom prst="roundRect">
            <a:avLst>
              <a:gd name="adj" fmla="val 17308"/>
            </a:avLst>
          </a:prstGeom>
          <a:solidFill>
            <a:srgbClr val="0C2442"/>
          </a:solidFill>
          <a:ln/>
        </p:spPr>
      </p:sp>
      <p:sp>
        <p:nvSpPr>
          <p:cNvPr id="25" name="Text 23"/>
          <p:cNvSpPr/>
          <p:nvPr/>
        </p:nvSpPr>
        <p:spPr>
          <a:xfrm>
            <a:off x="731520" y="1325880"/>
            <a:ext cx="5577840" cy="475488"/>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what changed · ipaustralia.gov.au / trade-mark-renewals</a:t>
            </a:r>
            <a:endParaRPr lang="en-US" sz="1150" dirty="0"/>
          </a:p>
        </p:txBody>
      </p:sp>
      <p:sp>
        <p:nvSpPr>
          <p:cNvPr id="26" name="Text 24"/>
          <p:cNvSpPr/>
          <p:nvPr/>
        </p:nvSpPr>
        <p:spPr>
          <a:xfrm>
            <a:off x="777240" y="2011680"/>
            <a:ext cx="5486400" cy="310896"/>
          </a:xfrm>
          <a:prstGeom prst="rect">
            <a:avLst/>
          </a:prstGeom>
          <a:noFill/>
          <a:ln/>
        </p:spPr>
        <p:txBody>
          <a:bodyPr wrap="square" lIns="0" tIns="0" rIns="0" bIns="0" rtlCol="0" anchor="ctr"/>
          <a:lstStyle/>
          <a:p>
            <a:pPr indent="0" marL="0">
              <a:buNone/>
            </a:pPr>
            <a:r>
              <a:rPr lang="en-US" sz="1150" b="1" dirty="0">
                <a:solidFill>
                  <a:srgbClr val="5E6B7A"/>
                </a:solidFill>
                <a:latin typeface="Courier New" pitchFamily="34" charset="0"/>
                <a:ea typeface="Courier New" pitchFamily="34" charset="-122"/>
                <a:cs typeface="Courier New" pitchFamily="34" charset="-120"/>
              </a:rPr>
              <a:t>   </a:t>
            </a:r>
            <a:pPr indent="0" marL="0">
              <a:buNone/>
            </a:pPr>
            <a:r>
              <a:rPr lang="en-US" sz="1150" dirty="0">
                <a:solidFill>
                  <a:srgbClr val="5E6B7A"/>
                </a:solidFill>
                <a:latin typeface="Courier New" pitchFamily="34" charset="0"/>
                <a:ea typeface="Courier New" pitchFamily="34" charset="-122"/>
                <a:cs typeface="Courier New" pitchFamily="34" charset="-120"/>
              </a:rPr>
              <a:t>Renewing your registration</a:t>
            </a:r>
            <a:endParaRPr lang="en-US" sz="1150" dirty="0"/>
          </a:p>
        </p:txBody>
      </p:sp>
      <p:sp>
        <p:nvSpPr>
          <p:cNvPr id="27" name="Text 25"/>
          <p:cNvSpPr/>
          <p:nvPr/>
        </p:nvSpPr>
        <p:spPr>
          <a:xfrm>
            <a:off x="777240" y="2359152"/>
            <a:ext cx="5486400" cy="310896"/>
          </a:xfrm>
          <a:prstGeom prst="rect">
            <a:avLst/>
          </a:prstGeom>
          <a:noFill/>
          <a:ln/>
        </p:spPr>
        <p:txBody>
          <a:bodyPr wrap="square" lIns="0" tIns="0" rIns="0" bIns="0" rtlCol="0" anchor="ctr"/>
          <a:lstStyle/>
          <a:p>
            <a:pPr indent="0" marL="0">
              <a:buNone/>
            </a:pPr>
            <a:r>
              <a:rPr lang="en-US" sz="1150" b="1" dirty="0">
                <a:solidFill>
                  <a:srgbClr val="5E6B7A"/>
                </a:solidFill>
                <a:latin typeface="Courier New" pitchFamily="34" charset="0"/>
                <a:ea typeface="Courier New" pitchFamily="34" charset="-122"/>
                <a:cs typeface="Courier New" pitchFamily="34" charset="-120"/>
              </a:rPr>
              <a:t>   </a:t>
            </a:r>
            <a:pPr indent="0" marL="0">
              <a:buNone/>
            </a:pPr>
            <a:r>
              <a:rPr lang="en-US" sz="1150" dirty="0">
                <a:solidFill>
                  <a:srgbClr val="5E6B7A"/>
                </a:solidFill>
                <a:latin typeface="Courier New" pitchFamily="34" charset="0"/>
                <a:ea typeface="Courier New" pitchFamily="34" charset="-122"/>
                <a:cs typeface="Courier New" pitchFamily="34" charset="-120"/>
              </a:rPr>
              <a:t>You can renew up to 12 months before expiry.</a:t>
            </a:r>
            <a:endParaRPr lang="en-US" sz="1150" dirty="0"/>
          </a:p>
        </p:txBody>
      </p:sp>
      <p:sp>
        <p:nvSpPr>
          <p:cNvPr id="28" name="Text 26"/>
          <p:cNvSpPr/>
          <p:nvPr/>
        </p:nvSpPr>
        <p:spPr>
          <a:xfrm>
            <a:off x="777240" y="2706624"/>
            <a:ext cx="5486400" cy="310896"/>
          </a:xfrm>
          <a:prstGeom prst="rect">
            <a:avLst/>
          </a:prstGeom>
          <a:noFill/>
          <a:ln/>
        </p:spPr>
        <p:txBody>
          <a:bodyPr wrap="square" lIns="0" tIns="0" rIns="0" bIns="0" rtlCol="0" anchor="ctr"/>
          <a:lstStyle/>
          <a:p>
            <a:pPr indent="0" marL="0">
              <a:buNone/>
            </a:pPr>
            <a:r>
              <a:rPr lang="en-US" sz="1150" b="1" dirty="0">
                <a:solidFill>
                  <a:srgbClr val="C94F4A"/>
                </a:solidFill>
                <a:latin typeface="Courier New" pitchFamily="34" charset="0"/>
                <a:ea typeface="Courier New" pitchFamily="34" charset="-122"/>
                <a:cs typeface="Courier New" pitchFamily="34" charset="-120"/>
              </a:rPr>
              <a:t>− </a:t>
            </a:r>
            <a:pPr indent="0" marL="0">
              <a:buNone/>
            </a:pPr>
            <a:r>
              <a:rPr lang="en-US" sz="1150" strike="sngStrike" dirty="0">
                <a:solidFill>
                  <a:srgbClr val="C94F4A"/>
                </a:solidFill>
                <a:latin typeface="Courier New" pitchFamily="34" charset="0"/>
                <a:ea typeface="Courier New" pitchFamily="34" charset="-122"/>
                <a:cs typeface="Courier New" pitchFamily="34" charset="-120"/>
              </a:rPr>
              <a:t>The renewal fee is $400.</a:t>
            </a:r>
            <a:endParaRPr lang="en-US" sz="1150" dirty="0"/>
          </a:p>
        </p:txBody>
      </p:sp>
      <p:sp>
        <p:nvSpPr>
          <p:cNvPr id="29" name="Text 27"/>
          <p:cNvSpPr/>
          <p:nvPr/>
        </p:nvSpPr>
        <p:spPr>
          <a:xfrm>
            <a:off x="777240" y="3054096"/>
            <a:ext cx="5486400" cy="310896"/>
          </a:xfrm>
          <a:prstGeom prst="rect">
            <a:avLst/>
          </a:prstGeom>
          <a:noFill/>
          <a:ln/>
        </p:spPr>
        <p:txBody>
          <a:bodyPr wrap="square" lIns="0" tIns="0" rIns="0" bIns="0" rtlCol="0" anchor="ctr"/>
          <a:lstStyle/>
          <a:p>
            <a:pPr indent="0" marL="0">
              <a:buNone/>
            </a:pPr>
            <a:r>
              <a:rPr lang="en-US" sz="1150" b="1" dirty="0">
                <a:solidFill>
                  <a:srgbClr val="3E8E52"/>
                </a:solidFill>
                <a:latin typeface="Courier New" pitchFamily="34" charset="0"/>
                <a:ea typeface="Courier New" pitchFamily="34" charset="-122"/>
                <a:cs typeface="Courier New" pitchFamily="34" charset="-120"/>
              </a:rPr>
              <a:t>+ </a:t>
            </a:r>
            <a:pPr indent="0" marL="0">
              <a:buNone/>
            </a:pPr>
            <a:r>
              <a:rPr lang="en-US" sz="1150" b="1" dirty="0">
                <a:solidFill>
                  <a:srgbClr val="3E8E52"/>
                </a:solidFill>
                <a:latin typeface="Courier New" pitchFamily="34" charset="0"/>
                <a:ea typeface="Courier New" pitchFamily="34" charset="-122"/>
                <a:cs typeface="Courier New" pitchFamily="34" charset="-120"/>
              </a:rPr>
              <a:t>The renewal fee is $450.</a:t>
            </a:r>
            <a:endParaRPr lang="en-US" sz="1150" dirty="0"/>
          </a:p>
        </p:txBody>
      </p:sp>
      <p:sp>
        <p:nvSpPr>
          <p:cNvPr id="30" name="Text 28"/>
          <p:cNvSpPr/>
          <p:nvPr/>
        </p:nvSpPr>
        <p:spPr>
          <a:xfrm>
            <a:off x="777240" y="3401568"/>
            <a:ext cx="5486400" cy="310896"/>
          </a:xfrm>
          <a:prstGeom prst="rect">
            <a:avLst/>
          </a:prstGeom>
          <a:noFill/>
          <a:ln/>
        </p:spPr>
        <p:txBody>
          <a:bodyPr wrap="square" lIns="0" tIns="0" rIns="0" bIns="0" rtlCol="0" anchor="ctr"/>
          <a:lstStyle/>
          <a:p>
            <a:pPr indent="0" marL="0">
              <a:buNone/>
            </a:pPr>
            <a:r>
              <a:rPr lang="en-US" sz="1150" b="1" dirty="0">
                <a:solidFill>
                  <a:srgbClr val="C94F4A"/>
                </a:solidFill>
                <a:latin typeface="Courier New" pitchFamily="34" charset="0"/>
                <a:ea typeface="Courier New" pitchFamily="34" charset="-122"/>
                <a:cs typeface="Courier New" pitchFamily="34" charset="-120"/>
              </a:rPr>
              <a:t>− </a:t>
            </a:r>
            <a:pPr indent="0" marL="0">
              <a:buNone/>
            </a:pPr>
            <a:r>
              <a:rPr lang="en-US" sz="1150" strike="sngStrike" dirty="0">
                <a:solidFill>
                  <a:srgbClr val="C94F4A"/>
                </a:solidFill>
                <a:latin typeface="Courier New" pitchFamily="34" charset="0"/>
                <a:ea typeface="Courier New" pitchFamily="34" charset="-122"/>
                <a:cs typeface="Courier New" pitchFamily="34" charset="-120"/>
              </a:rPr>
              <a:t>A late fee applies for 6 months after expiry.</a:t>
            </a:r>
            <a:endParaRPr lang="en-US" sz="1150" dirty="0"/>
          </a:p>
        </p:txBody>
      </p:sp>
      <p:sp>
        <p:nvSpPr>
          <p:cNvPr id="31" name="Text 29"/>
          <p:cNvSpPr/>
          <p:nvPr/>
        </p:nvSpPr>
        <p:spPr>
          <a:xfrm>
            <a:off x="777240" y="3749040"/>
            <a:ext cx="5486400" cy="310896"/>
          </a:xfrm>
          <a:prstGeom prst="rect">
            <a:avLst/>
          </a:prstGeom>
          <a:noFill/>
          <a:ln/>
        </p:spPr>
        <p:txBody>
          <a:bodyPr wrap="square" lIns="0" tIns="0" rIns="0" bIns="0" rtlCol="0" anchor="ctr"/>
          <a:lstStyle/>
          <a:p>
            <a:pPr indent="0" marL="0">
              <a:buNone/>
            </a:pPr>
            <a:r>
              <a:rPr lang="en-US" sz="1150" b="1" dirty="0">
                <a:solidFill>
                  <a:srgbClr val="3E8E52"/>
                </a:solidFill>
                <a:latin typeface="Courier New" pitchFamily="34" charset="0"/>
                <a:ea typeface="Courier New" pitchFamily="34" charset="-122"/>
                <a:cs typeface="Courier New" pitchFamily="34" charset="-120"/>
              </a:rPr>
              <a:t>+ </a:t>
            </a:r>
            <a:pPr indent="0" marL="0">
              <a:buNone/>
            </a:pPr>
            <a:r>
              <a:rPr lang="en-US" sz="1150" b="1" dirty="0">
                <a:solidFill>
                  <a:srgbClr val="3E8E52"/>
                </a:solidFill>
                <a:latin typeface="Courier New" pitchFamily="34" charset="0"/>
                <a:ea typeface="Courier New" pitchFamily="34" charset="-122"/>
                <a:cs typeface="Courier New" pitchFamily="34" charset="-120"/>
              </a:rPr>
              <a:t>A late fee applies for 10 months after expiry.</a:t>
            </a:r>
            <a:endParaRPr lang="en-US" sz="1150" dirty="0"/>
          </a:p>
        </p:txBody>
      </p:sp>
      <p:sp>
        <p:nvSpPr>
          <p:cNvPr id="32" name="Text 30"/>
          <p:cNvSpPr/>
          <p:nvPr/>
        </p:nvSpPr>
        <p:spPr>
          <a:xfrm>
            <a:off x="566928" y="4315968"/>
            <a:ext cx="5806440" cy="548640"/>
          </a:xfrm>
          <a:prstGeom prst="rect">
            <a:avLst/>
          </a:prstGeom>
          <a:noFill/>
          <a:ln/>
        </p:spPr>
        <p:txBody>
          <a:bodyPr wrap="square" lIns="0" tIns="0" rIns="0" bIns="0" rtlCol="0" anchor="ctr"/>
          <a:lstStyle/>
          <a:p>
            <a:pPr indent="0" marL="0">
              <a:buNone/>
            </a:pPr>
            <a:r>
              <a:rPr lang="en-US" sz="1200" i="1" dirty="0">
                <a:solidFill>
                  <a:srgbClr val="5E6B7A"/>
                </a:solidFill>
                <a:latin typeface="Calibri" pitchFamily="34" charset="0"/>
                <a:ea typeface="Calibri" pitchFamily="34" charset="-122"/>
                <a:cs typeface="Calibri" pitchFamily="34" charset="-120"/>
              </a:rPr>
              <a:t>Everything downstream studies the change itself — not the whole document. Sharper signal, less noise, less to process.</a:t>
            </a:r>
            <a:endParaRPr lang="en-US" sz="1200" dirty="0"/>
          </a:p>
        </p:txBody>
      </p:sp>
      <p:sp>
        <p:nvSpPr>
          <p:cNvPr id="33" name="Text 31"/>
          <p:cNvSpPr/>
          <p:nvPr/>
        </p:nvSpPr>
        <p:spPr>
          <a:xfrm>
            <a:off x="6858000" y="1325880"/>
            <a:ext cx="4846320" cy="274320"/>
          </a:xfrm>
          <a:prstGeom prst="rect">
            <a:avLst/>
          </a:prstGeom>
          <a:noFill/>
          <a:ln/>
        </p:spPr>
        <p:txBody>
          <a:bodyPr wrap="square" lIns="0" tIns="0" rIns="0" bIns="0" rtlCol="0" anchor="ctr"/>
          <a:lstStyle/>
          <a:p>
            <a:pPr indent="0" marL="0">
              <a:buNone/>
            </a:pPr>
            <a:r>
              <a:rPr lang="en-US" sz="1150" b="1" spc="120" kern="0" dirty="0">
                <a:solidFill>
                  <a:srgbClr val="4F7492"/>
                </a:solidFill>
                <a:latin typeface="Arial" pitchFamily="34" charset="0"/>
                <a:ea typeface="Arial" pitchFamily="34" charset="-122"/>
                <a:cs typeface="Arial" pitchFamily="34" charset="-120"/>
              </a:rPr>
              <a:t>HOW EACH KIND OF SOURCE REPORTS ITS CHANGE</a:t>
            </a:r>
            <a:endParaRPr lang="en-US" sz="1150" dirty="0"/>
          </a:p>
        </p:txBody>
      </p:sp>
      <p:sp>
        <p:nvSpPr>
          <p:cNvPr id="34" name="Shape 32"/>
          <p:cNvSpPr/>
          <p:nvPr/>
        </p:nvSpPr>
        <p:spPr>
          <a:xfrm>
            <a:off x="6858000" y="1737360"/>
            <a:ext cx="4828032" cy="969264"/>
          </a:xfrm>
          <a:prstGeom prst="roundRect">
            <a:avLst>
              <a:gd name="adj" fmla="val 8491"/>
            </a:avLst>
          </a:prstGeom>
          <a:solidFill>
            <a:srgbClr val="EEF2F7"/>
          </a:solidFill>
          <a:ln/>
        </p:spPr>
      </p:sp>
      <p:sp>
        <p:nvSpPr>
          <p:cNvPr id="35" name="Shape 33"/>
          <p:cNvSpPr/>
          <p:nvPr/>
        </p:nvSpPr>
        <p:spPr>
          <a:xfrm>
            <a:off x="7022592" y="1993392"/>
            <a:ext cx="457200" cy="457200"/>
          </a:xfrm>
          <a:prstGeom prst="ellipse">
            <a:avLst/>
          </a:prstGeom>
          <a:solidFill>
            <a:srgbClr val="4F7492"/>
          </a:solidFill>
          <a:ln/>
        </p:spPr>
      </p:sp>
      <p:pic>
        <p:nvPicPr>
          <p:cNvPr id="36" name="Image 0" descr="preencoded.png">    </p:cNvPr>
          <p:cNvPicPr>
            <a:picLocks noChangeAspect="1"/>
          </p:cNvPicPr>
          <p:nvPr/>
        </p:nvPicPr>
        <p:blipFill>
          <a:blip r:embed="rId1"/>
          <a:stretch>
            <a:fillRect/>
          </a:stretch>
        </p:blipFill>
        <p:spPr>
          <a:xfrm>
            <a:off x="7141464" y="2112264"/>
            <a:ext cx="219456" cy="219456"/>
          </a:xfrm>
          <a:prstGeom prst="rect">
            <a:avLst/>
          </a:prstGeom>
        </p:spPr>
      </p:pic>
      <p:sp>
        <p:nvSpPr>
          <p:cNvPr id="37" name="Text 34"/>
          <p:cNvSpPr/>
          <p:nvPr/>
        </p:nvSpPr>
        <p:spPr>
          <a:xfrm>
            <a:off x="7635240" y="1847088"/>
            <a:ext cx="3931920" cy="777240"/>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Webpages</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compare yesterday's stored copy with today's — keep only the differing lines</a:t>
            </a:r>
            <a:endParaRPr lang="en-US" sz="1250" dirty="0"/>
          </a:p>
        </p:txBody>
      </p:sp>
      <p:sp>
        <p:nvSpPr>
          <p:cNvPr id="38" name="Shape 35"/>
          <p:cNvSpPr/>
          <p:nvPr/>
        </p:nvSpPr>
        <p:spPr>
          <a:xfrm>
            <a:off x="6858000" y="2871216"/>
            <a:ext cx="4828032" cy="969264"/>
          </a:xfrm>
          <a:prstGeom prst="roundRect">
            <a:avLst>
              <a:gd name="adj" fmla="val 8491"/>
            </a:avLst>
          </a:prstGeom>
          <a:solidFill>
            <a:srgbClr val="EEF2F7"/>
          </a:solidFill>
          <a:ln/>
        </p:spPr>
      </p:sp>
      <p:sp>
        <p:nvSpPr>
          <p:cNvPr id="39" name="Shape 36"/>
          <p:cNvSpPr/>
          <p:nvPr/>
        </p:nvSpPr>
        <p:spPr>
          <a:xfrm>
            <a:off x="7022592" y="3127248"/>
            <a:ext cx="457200" cy="457200"/>
          </a:xfrm>
          <a:prstGeom prst="ellipse">
            <a:avLst/>
          </a:prstGeom>
          <a:solidFill>
            <a:srgbClr val="4F7492"/>
          </a:solidFill>
          <a:ln/>
        </p:spPr>
      </p:sp>
      <p:pic>
        <p:nvPicPr>
          <p:cNvPr id="40" name="Image 1" descr="preencoded.png">    </p:cNvPr>
          <p:cNvPicPr>
            <a:picLocks noChangeAspect="1"/>
          </p:cNvPicPr>
          <p:nvPr/>
        </p:nvPicPr>
        <p:blipFill>
          <a:blip r:embed="rId2"/>
          <a:stretch>
            <a:fillRect/>
          </a:stretch>
        </p:blipFill>
        <p:spPr>
          <a:xfrm>
            <a:off x="7141464" y="3246120"/>
            <a:ext cx="219456" cy="219456"/>
          </a:xfrm>
          <a:prstGeom prst="rect">
            <a:avLst/>
          </a:prstGeom>
        </p:spPr>
      </p:pic>
      <p:sp>
        <p:nvSpPr>
          <p:cNvPr id="41" name="Text 37"/>
          <p:cNvSpPr/>
          <p:nvPr/>
        </p:nvSpPr>
        <p:spPr>
          <a:xfrm>
            <a:off x="7635240" y="2980944"/>
            <a:ext cx="3931920" cy="777240"/>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Legislation</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fetch the official explanatory document that accompanies every amendment</a:t>
            </a:r>
            <a:endParaRPr lang="en-US" sz="1250" dirty="0"/>
          </a:p>
        </p:txBody>
      </p:sp>
      <p:sp>
        <p:nvSpPr>
          <p:cNvPr id="42" name="Shape 38"/>
          <p:cNvSpPr/>
          <p:nvPr/>
        </p:nvSpPr>
        <p:spPr>
          <a:xfrm>
            <a:off x="6858000" y="4005072"/>
            <a:ext cx="4828032" cy="969264"/>
          </a:xfrm>
          <a:prstGeom prst="roundRect">
            <a:avLst>
              <a:gd name="adj" fmla="val 8491"/>
            </a:avLst>
          </a:prstGeom>
          <a:solidFill>
            <a:srgbClr val="EEF2F7"/>
          </a:solidFill>
          <a:ln/>
        </p:spPr>
      </p:sp>
      <p:sp>
        <p:nvSpPr>
          <p:cNvPr id="43" name="Shape 39"/>
          <p:cNvSpPr/>
          <p:nvPr/>
        </p:nvSpPr>
        <p:spPr>
          <a:xfrm>
            <a:off x="7022592" y="4261104"/>
            <a:ext cx="457200" cy="457200"/>
          </a:xfrm>
          <a:prstGeom prst="ellipse">
            <a:avLst/>
          </a:prstGeom>
          <a:solidFill>
            <a:srgbClr val="4F7492"/>
          </a:solidFill>
          <a:ln/>
        </p:spPr>
      </p:sp>
      <p:pic>
        <p:nvPicPr>
          <p:cNvPr id="44" name="Image 2" descr="preencoded.png">    </p:cNvPr>
          <p:cNvPicPr>
            <a:picLocks noChangeAspect="1"/>
          </p:cNvPicPr>
          <p:nvPr/>
        </p:nvPicPr>
        <p:blipFill>
          <a:blip r:embed="rId3"/>
          <a:stretch>
            <a:fillRect/>
          </a:stretch>
        </p:blipFill>
        <p:spPr>
          <a:xfrm>
            <a:off x="7141464" y="4379976"/>
            <a:ext cx="219456" cy="219456"/>
          </a:xfrm>
          <a:prstGeom prst="rect">
            <a:avLst/>
          </a:prstGeom>
        </p:spPr>
      </p:pic>
      <p:sp>
        <p:nvSpPr>
          <p:cNvPr id="45" name="Text 40"/>
          <p:cNvSpPr/>
          <p:nvPr/>
        </p:nvSpPr>
        <p:spPr>
          <a:xfrm>
            <a:off x="7635240" y="4114800"/>
            <a:ext cx="3931920" cy="777240"/>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News feeds</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take just the items that are new since the last visit</a:t>
            </a:r>
            <a:endParaRPr lang="en-US" sz="1250" dirty="0"/>
          </a:p>
        </p:txBody>
      </p:sp>
      <p:sp>
        <p:nvSpPr>
          <p:cNvPr id="46" name="Shape 41"/>
          <p:cNvSpPr/>
          <p:nvPr/>
        </p:nvSpPr>
        <p:spPr>
          <a:xfrm>
            <a:off x="6858000" y="5193792"/>
            <a:ext cx="4828032" cy="1051560"/>
          </a:xfrm>
          <a:prstGeom prst="roundRect">
            <a:avLst>
              <a:gd name="adj" fmla="val 7826"/>
            </a:avLst>
          </a:prstGeom>
          <a:solidFill>
            <a:srgbClr val="FFFFFF"/>
          </a:solidFill>
          <a:ln w="12700">
            <a:solidFill>
              <a:srgbClr val="C9D6E2"/>
            </a:solidFill>
            <a:prstDash val="solid"/>
          </a:ln>
        </p:spPr>
      </p:sp>
      <p:sp>
        <p:nvSpPr>
          <p:cNvPr id="47" name="Text 42"/>
          <p:cNvSpPr/>
          <p:nvPr/>
        </p:nvSpPr>
        <p:spPr>
          <a:xfrm>
            <a:off x="7059168" y="5321808"/>
            <a:ext cx="4434840" cy="82296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Different routes, same destination: a compact, plain-text account of exactly what changed — the “change document”.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HOW MATCHING WORKS · PART 1 OF 2</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Match the words — and weigh the rare ones heavily</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11</a:t>
            </a:r>
            <a:endParaRPr lang="en-US" sz="900" dirty="0"/>
          </a:p>
        </p:txBody>
      </p:sp>
      <p:sp>
        <p:nvSpPr>
          <p:cNvPr id="5" name="Text 3"/>
          <p:cNvSpPr/>
          <p:nvPr/>
        </p:nvSpPr>
        <p:spPr>
          <a:xfrm>
            <a:off x="502920" y="1298448"/>
            <a:ext cx="6949440" cy="685800"/>
          </a:xfrm>
          <a:prstGeom prst="rect">
            <a:avLst/>
          </a:prstGeom>
          <a:noFill/>
          <a:ln/>
        </p:spPr>
        <p:txBody>
          <a:bodyPr wrap="square" lIns="0" tIns="0" rIns="0" bIns="0" rtlCol="0" anchor="ctr"/>
          <a:lstStyle/>
          <a:p>
            <a:pPr indent="0" marL="0">
              <a:buNone/>
            </a:pPr>
            <a:r>
              <a:rPr lang="en-US" sz="1300" dirty="0">
                <a:solidFill>
                  <a:srgbClr val="1F2A3A"/>
                </a:solidFill>
                <a:latin typeface="Calibri" pitchFamily="34" charset="0"/>
                <a:ea typeface="Calibri" pitchFamily="34" charset="-122"/>
                <a:cs typeface="Calibri" pitchFamily="34" charset="-120"/>
              </a:rPr>
              <a:t>Pull the characteristic phrases out of the change document (5–15 of them, automatically) and use them as search queries across all 139 pages:</a:t>
            </a:r>
            <a:endParaRPr lang="en-US" sz="1300" dirty="0"/>
          </a:p>
        </p:txBody>
      </p:sp>
      <p:sp>
        <p:nvSpPr>
          <p:cNvPr id="6" name="Shape 4"/>
          <p:cNvSpPr/>
          <p:nvPr/>
        </p:nvSpPr>
        <p:spPr>
          <a:xfrm>
            <a:off x="502920" y="1993392"/>
            <a:ext cx="1458468" cy="384048"/>
          </a:xfrm>
          <a:prstGeom prst="roundRect">
            <a:avLst>
              <a:gd name="adj" fmla="val 50000"/>
            </a:avLst>
          </a:prstGeom>
          <a:solidFill>
            <a:srgbClr val="0C2442"/>
          </a:solidFill>
          <a:ln/>
        </p:spPr>
      </p:sp>
      <p:sp>
        <p:nvSpPr>
          <p:cNvPr id="7" name="Text 5"/>
          <p:cNvSpPr/>
          <p:nvPr/>
        </p:nvSpPr>
        <p:spPr>
          <a:xfrm>
            <a:off x="502920" y="1993392"/>
            <a:ext cx="14584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“renewal fee”</a:t>
            </a:r>
            <a:endParaRPr lang="en-US" sz="1200" dirty="0"/>
          </a:p>
        </p:txBody>
      </p:sp>
      <p:sp>
        <p:nvSpPr>
          <p:cNvPr id="8" name="Shape 6"/>
          <p:cNvSpPr/>
          <p:nvPr/>
        </p:nvSpPr>
        <p:spPr>
          <a:xfrm>
            <a:off x="2125980" y="1993392"/>
            <a:ext cx="1362456" cy="384048"/>
          </a:xfrm>
          <a:prstGeom prst="roundRect">
            <a:avLst>
              <a:gd name="adj" fmla="val 50000"/>
            </a:avLst>
          </a:prstGeom>
          <a:solidFill>
            <a:srgbClr val="0C2442"/>
          </a:solidFill>
          <a:ln/>
        </p:spPr>
      </p:sp>
      <p:sp>
        <p:nvSpPr>
          <p:cNvPr id="9" name="Text 7"/>
          <p:cNvSpPr/>
          <p:nvPr/>
        </p:nvSpPr>
        <p:spPr>
          <a:xfrm>
            <a:off x="2125980" y="1993392"/>
            <a:ext cx="136245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“trade mark”</a:t>
            </a:r>
            <a:endParaRPr lang="en-US" sz="1200" dirty="0"/>
          </a:p>
        </p:txBody>
      </p:sp>
      <p:sp>
        <p:nvSpPr>
          <p:cNvPr id="10" name="Shape 8"/>
          <p:cNvSpPr/>
          <p:nvPr/>
        </p:nvSpPr>
        <p:spPr>
          <a:xfrm>
            <a:off x="3653028" y="1993392"/>
            <a:ext cx="1170432" cy="384048"/>
          </a:xfrm>
          <a:prstGeom prst="roundRect">
            <a:avLst>
              <a:gd name="adj" fmla="val 50000"/>
            </a:avLst>
          </a:prstGeom>
          <a:solidFill>
            <a:srgbClr val="0C2442"/>
          </a:solidFill>
          <a:ln/>
        </p:spPr>
      </p:sp>
      <p:sp>
        <p:nvSpPr>
          <p:cNvPr id="11" name="Text 9"/>
          <p:cNvSpPr/>
          <p:nvPr/>
        </p:nvSpPr>
        <p:spPr>
          <a:xfrm>
            <a:off x="3653028" y="1993392"/>
            <a:ext cx="11704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“late fee”</a:t>
            </a:r>
            <a:endParaRPr lang="en-US" sz="1200" dirty="0"/>
          </a:p>
        </p:txBody>
      </p:sp>
      <p:sp>
        <p:nvSpPr>
          <p:cNvPr id="12" name="Shape 10"/>
          <p:cNvSpPr/>
          <p:nvPr/>
        </p:nvSpPr>
        <p:spPr>
          <a:xfrm>
            <a:off x="4988052" y="1993392"/>
            <a:ext cx="1266444" cy="384048"/>
          </a:xfrm>
          <a:prstGeom prst="roundRect">
            <a:avLst>
              <a:gd name="adj" fmla="val 50000"/>
            </a:avLst>
          </a:prstGeom>
          <a:solidFill>
            <a:srgbClr val="0C2442"/>
          </a:solidFill>
          <a:ln/>
        </p:spPr>
      </p:sp>
      <p:sp>
        <p:nvSpPr>
          <p:cNvPr id="13" name="Text 11"/>
          <p:cNvSpPr/>
          <p:nvPr/>
        </p:nvSpPr>
        <p:spPr>
          <a:xfrm>
            <a:off x="4988052" y="1993392"/>
            <a:ext cx="126644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months”</a:t>
            </a:r>
            <a:endParaRPr lang="en-US" sz="1200" dirty="0"/>
          </a:p>
        </p:txBody>
      </p:sp>
      <p:sp>
        <p:nvSpPr>
          <p:cNvPr id="14" name="Shape 12"/>
          <p:cNvSpPr/>
          <p:nvPr/>
        </p:nvSpPr>
        <p:spPr>
          <a:xfrm>
            <a:off x="502920" y="2697480"/>
            <a:ext cx="6720840" cy="2377440"/>
          </a:xfrm>
          <a:prstGeom prst="roundRect">
            <a:avLst>
              <a:gd name="adj" fmla="val 3462"/>
            </a:avLst>
          </a:prstGeom>
          <a:solidFill>
            <a:srgbClr val="EEF2F7"/>
          </a:solidFill>
          <a:ln/>
        </p:spPr>
      </p:sp>
      <p:sp>
        <p:nvSpPr>
          <p:cNvPr id="15" name="Text 13"/>
          <p:cNvSpPr/>
          <p:nvPr/>
        </p:nvSpPr>
        <p:spPr>
          <a:xfrm>
            <a:off x="777240" y="2852928"/>
            <a:ext cx="6035040" cy="256032"/>
          </a:xfrm>
          <a:prstGeom prst="rect">
            <a:avLst/>
          </a:prstGeom>
          <a:noFill/>
          <a:ln/>
        </p:spPr>
        <p:txBody>
          <a:bodyPr wrap="square" lIns="0" tIns="0" rIns="0" bIns="0" rtlCol="0" anchor="ctr"/>
          <a:lstStyle/>
          <a:p>
            <a:pPr indent="0" marL="0">
              <a:buNone/>
            </a:pPr>
            <a:r>
              <a:rPr lang="en-US" sz="1050" b="1" spc="120" kern="0" dirty="0">
                <a:solidFill>
                  <a:srgbClr val="4F7492"/>
                </a:solidFill>
                <a:latin typeface="Arial" pitchFamily="34" charset="0"/>
                <a:ea typeface="Arial" pitchFamily="34" charset="-122"/>
                <a:cs typeface="Arial" pitchFamily="34" charset="-120"/>
              </a:rPr>
              <a:t>PAGES RANKED BY WORD OVERLAP</a:t>
            </a:r>
            <a:endParaRPr lang="en-US" sz="1050" dirty="0"/>
          </a:p>
        </p:txBody>
      </p:sp>
      <p:sp>
        <p:nvSpPr>
          <p:cNvPr id="16" name="Text 14"/>
          <p:cNvSpPr/>
          <p:nvPr/>
        </p:nvSpPr>
        <p:spPr>
          <a:xfrm>
            <a:off x="777240" y="3200400"/>
            <a:ext cx="2514600" cy="50292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Renewing your trade mark</a:t>
            </a:r>
            <a:endParaRPr lang="en-US" sz="1200" dirty="0"/>
          </a:p>
        </p:txBody>
      </p:sp>
      <p:sp>
        <p:nvSpPr>
          <p:cNvPr id="17" name="Shape 15"/>
          <p:cNvSpPr/>
          <p:nvPr/>
        </p:nvSpPr>
        <p:spPr>
          <a:xfrm>
            <a:off x="3383280" y="3291840"/>
            <a:ext cx="2743200" cy="310896"/>
          </a:xfrm>
          <a:prstGeom prst="roundRect">
            <a:avLst>
              <a:gd name="adj" fmla="val 14706"/>
            </a:avLst>
          </a:prstGeom>
          <a:solidFill>
            <a:srgbClr val="4F7492"/>
          </a:solidFill>
          <a:ln/>
        </p:spPr>
      </p:sp>
      <p:sp>
        <p:nvSpPr>
          <p:cNvPr id="18" name="Text 16"/>
          <p:cNvSpPr/>
          <p:nvPr/>
        </p:nvSpPr>
        <p:spPr>
          <a:xfrm>
            <a:off x="6199632" y="3255264"/>
            <a:ext cx="868680" cy="384048"/>
          </a:xfrm>
          <a:prstGeom prst="rect">
            <a:avLst/>
          </a:prstGeom>
          <a:noFill/>
          <a:ln/>
        </p:spPr>
        <p:txBody>
          <a:bodyPr wrap="square" lIns="0" tIns="0" rIns="0" bIns="0" rtlCol="0" anchor="ctr"/>
          <a:lstStyle/>
          <a:p>
            <a:pPr indent="0" marL="0">
              <a:buNone/>
            </a:pPr>
            <a:r>
              <a:rPr lang="en-US" sz="1100" i="1" dirty="0">
                <a:solidFill>
                  <a:srgbClr val="5E6B7A"/>
                </a:solidFill>
                <a:latin typeface="Calibri" pitchFamily="34" charset="0"/>
                <a:ea typeface="Calibri" pitchFamily="34" charset="-122"/>
                <a:cs typeface="Calibri" pitchFamily="34" charset="-120"/>
              </a:rPr>
              <a:t>strong</a:t>
            </a:r>
            <a:endParaRPr lang="en-US" sz="1100" dirty="0"/>
          </a:p>
        </p:txBody>
      </p:sp>
      <p:sp>
        <p:nvSpPr>
          <p:cNvPr id="19" name="Text 17"/>
          <p:cNvSpPr/>
          <p:nvPr/>
        </p:nvSpPr>
        <p:spPr>
          <a:xfrm>
            <a:off x="777240" y="3767328"/>
            <a:ext cx="2514600" cy="50292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Fees and payment options</a:t>
            </a:r>
            <a:endParaRPr lang="en-US" sz="1200" dirty="0"/>
          </a:p>
        </p:txBody>
      </p:sp>
      <p:sp>
        <p:nvSpPr>
          <p:cNvPr id="20" name="Shape 18"/>
          <p:cNvSpPr/>
          <p:nvPr/>
        </p:nvSpPr>
        <p:spPr>
          <a:xfrm>
            <a:off x="3383280" y="3858768"/>
            <a:ext cx="1691640" cy="310896"/>
          </a:xfrm>
          <a:prstGeom prst="roundRect">
            <a:avLst>
              <a:gd name="adj" fmla="val 14706"/>
            </a:avLst>
          </a:prstGeom>
          <a:solidFill>
            <a:srgbClr val="4F7492"/>
          </a:solidFill>
          <a:ln/>
        </p:spPr>
      </p:sp>
      <p:sp>
        <p:nvSpPr>
          <p:cNvPr id="21" name="Text 19"/>
          <p:cNvSpPr/>
          <p:nvPr/>
        </p:nvSpPr>
        <p:spPr>
          <a:xfrm>
            <a:off x="5148072" y="3822192"/>
            <a:ext cx="868680" cy="384048"/>
          </a:xfrm>
          <a:prstGeom prst="rect">
            <a:avLst/>
          </a:prstGeom>
          <a:noFill/>
          <a:ln/>
        </p:spPr>
        <p:txBody>
          <a:bodyPr wrap="square" lIns="0" tIns="0" rIns="0" bIns="0" rtlCol="0" anchor="ctr"/>
          <a:lstStyle/>
          <a:p>
            <a:pPr indent="0" marL="0">
              <a:buNone/>
            </a:pPr>
            <a:r>
              <a:rPr lang="en-US" sz="1100" i="1" dirty="0">
                <a:solidFill>
                  <a:srgbClr val="5E6B7A"/>
                </a:solidFill>
                <a:latin typeface="Calibri" pitchFamily="34" charset="0"/>
                <a:ea typeface="Calibri" pitchFamily="34" charset="-122"/>
                <a:cs typeface="Calibri" pitchFamily="34" charset="-120"/>
              </a:rPr>
              <a:t>medium</a:t>
            </a:r>
            <a:endParaRPr lang="en-US" sz="1100" dirty="0"/>
          </a:p>
        </p:txBody>
      </p:sp>
      <p:sp>
        <p:nvSpPr>
          <p:cNvPr id="22" name="Text 20"/>
          <p:cNvSpPr/>
          <p:nvPr/>
        </p:nvSpPr>
        <p:spPr>
          <a:xfrm>
            <a:off x="777240" y="4334256"/>
            <a:ext cx="2514600" cy="502920"/>
          </a:xfrm>
          <a:prstGeom prst="rect">
            <a:avLst/>
          </a:prstGeom>
          <a:noFill/>
          <a:ln/>
        </p:spPr>
        <p:txBody>
          <a:bodyPr wrap="square" lIns="0" tIns="0" rIns="0" bIns="0" rtlCol="0" anchor="ctr"/>
          <a:lstStyle/>
          <a:p>
            <a:pPr indent="0" marL="0">
              <a:buNone/>
            </a:pPr>
            <a:r>
              <a:rPr lang="en-US" sz="1200" dirty="0">
                <a:solidFill>
                  <a:srgbClr val="1F2A3A"/>
                </a:solidFill>
                <a:latin typeface="Calibri" pitchFamily="34" charset="0"/>
                <a:ea typeface="Calibri" pitchFamily="34" charset="-122"/>
                <a:cs typeface="Calibri" pitchFamily="34" charset="-120"/>
              </a:rPr>
              <a:t>Patent application basics</a:t>
            </a:r>
            <a:endParaRPr lang="en-US" sz="1200" dirty="0"/>
          </a:p>
        </p:txBody>
      </p:sp>
      <p:sp>
        <p:nvSpPr>
          <p:cNvPr id="23" name="Shape 21"/>
          <p:cNvSpPr/>
          <p:nvPr/>
        </p:nvSpPr>
        <p:spPr>
          <a:xfrm>
            <a:off x="3383280" y="4425696"/>
            <a:ext cx="411480" cy="310896"/>
          </a:xfrm>
          <a:prstGeom prst="roundRect">
            <a:avLst>
              <a:gd name="adj" fmla="val 14706"/>
            </a:avLst>
          </a:prstGeom>
          <a:solidFill>
            <a:srgbClr val="4F7492"/>
          </a:solidFill>
          <a:ln/>
        </p:spPr>
      </p:sp>
      <p:sp>
        <p:nvSpPr>
          <p:cNvPr id="24" name="Text 22"/>
          <p:cNvSpPr/>
          <p:nvPr/>
        </p:nvSpPr>
        <p:spPr>
          <a:xfrm>
            <a:off x="3867912" y="4389120"/>
            <a:ext cx="868680" cy="384048"/>
          </a:xfrm>
          <a:prstGeom prst="rect">
            <a:avLst/>
          </a:prstGeom>
          <a:noFill/>
          <a:ln/>
        </p:spPr>
        <p:txBody>
          <a:bodyPr wrap="square" lIns="0" tIns="0" rIns="0" bIns="0" rtlCol="0" anchor="ctr"/>
          <a:lstStyle/>
          <a:p>
            <a:pPr indent="0" marL="0">
              <a:buNone/>
            </a:pPr>
            <a:r>
              <a:rPr lang="en-US" sz="1100" i="1" dirty="0">
                <a:solidFill>
                  <a:srgbClr val="5E6B7A"/>
                </a:solidFill>
                <a:latin typeface="Calibri" pitchFamily="34" charset="0"/>
                <a:ea typeface="Calibri" pitchFamily="34" charset="-122"/>
                <a:cs typeface="Calibri" pitchFamily="34" charset="-120"/>
              </a:rPr>
              <a:t>weak</a:t>
            </a:r>
            <a:endParaRPr lang="en-US" sz="1100" dirty="0"/>
          </a:p>
        </p:txBody>
      </p:sp>
      <p:sp>
        <p:nvSpPr>
          <p:cNvPr id="25" name="Text 23"/>
          <p:cNvSpPr/>
          <p:nvPr/>
        </p:nvSpPr>
        <p:spPr>
          <a:xfrm>
            <a:off x="502920" y="5257800"/>
            <a:ext cx="6720840" cy="914400"/>
          </a:xfrm>
          <a:prstGeom prst="rect">
            <a:avLst/>
          </a:prstGeom>
          <a:noFill/>
          <a:ln/>
        </p:spPr>
        <p:txBody>
          <a:bodyPr wrap="square" lIns="0" tIns="0" rIns="0" bIns="0" rtlCol="0" anchor="ctr"/>
          <a:lstStyle/>
          <a:p>
            <a:pPr indent="0" marL="0">
              <a:buNone/>
            </a:pPr>
            <a:r>
              <a:rPr lang="en-US" sz="1200" i="1" dirty="0">
                <a:solidFill>
                  <a:srgbClr val="5E6B7A"/>
                </a:solidFill>
                <a:latin typeface="Calibri" pitchFamily="34" charset="0"/>
                <a:ea typeface="Calibri" pitchFamily="34" charset="-122"/>
                <a:cs typeface="Calibri" pitchFamily="34" charset="-120"/>
              </a:rPr>
              <a:t>Rare, specific words (“renewal fee”) count for far more than common ones (“the”, “apply”) — a librarian's instinct, written as arithmetic. The formula, BM25, dates from the 1990s: fast, transparent, zero AI.</a:t>
            </a:r>
            <a:endParaRPr lang="en-US" sz="1200" dirty="0"/>
          </a:p>
        </p:txBody>
      </p:sp>
      <p:sp>
        <p:nvSpPr>
          <p:cNvPr id="26" name="Shape 24"/>
          <p:cNvSpPr/>
          <p:nvPr/>
        </p:nvSpPr>
        <p:spPr>
          <a:xfrm>
            <a:off x="7543800" y="1298448"/>
            <a:ext cx="4142232" cy="4892040"/>
          </a:xfrm>
          <a:prstGeom prst="roundRect">
            <a:avLst>
              <a:gd name="adj" fmla="val 1987"/>
            </a:avLst>
          </a:prstGeom>
          <a:solidFill>
            <a:srgbClr val="FBE9E7"/>
          </a:solidFill>
          <a:ln/>
        </p:spPr>
      </p:sp>
      <p:sp>
        <p:nvSpPr>
          <p:cNvPr id="27" name="Shape 25"/>
          <p:cNvSpPr/>
          <p:nvPr/>
        </p:nvSpPr>
        <p:spPr>
          <a:xfrm>
            <a:off x="7772400" y="1536192"/>
            <a:ext cx="420624" cy="420624"/>
          </a:xfrm>
          <a:prstGeom prst="ellipse">
            <a:avLst/>
          </a:prstGeom>
          <a:solidFill>
            <a:srgbClr val="C94F4A"/>
          </a:solidFill>
          <a:ln/>
        </p:spPr>
      </p:sp>
      <p:pic>
        <p:nvPicPr>
          <p:cNvPr id="28" name="Image 0" descr="preencoded.png">    </p:cNvPr>
          <p:cNvPicPr>
            <a:picLocks noChangeAspect="1"/>
          </p:cNvPicPr>
          <p:nvPr/>
        </p:nvPicPr>
        <p:blipFill>
          <a:blip r:embed="rId1"/>
          <a:stretch>
            <a:fillRect/>
          </a:stretch>
        </p:blipFill>
        <p:spPr>
          <a:xfrm>
            <a:off x="7881762" y="1645554"/>
            <a:ext cx="201900" cy="201900"/>
          </a:xfrm>
          <a:prstGeom prst="rect">
            <a:avLst/>
          </a:prstGeom>
        </p:spPr>
      </p:pic>
      <p:sp>
        <p:nvSpPr>
          <p:cNvPr id="29" name="Text 26"/>
          <p:cNvSpPr/>
          <p:nvPr/>
        </p:nvSpPr>
        <p:spPr>
          <a:xfrm>
            <a:off x="8339328" y="1609344"/>
            <a:ext cx="3200400" cy="274320"/>
          </a:xfrm>
          <a:prstGeom prst="rect">
            <a:avLst/>
          </a:prstGeom>
          <a:noFill/>
          <a:ln/>
        </p:spPr>
        <p:txBody>
          <a:bodyPr wrap="square" lIns="0" tIns="0" rIns="0" bIns="0" rtlCol="0" anchor="ctr"/>
          <a:lstStyle/>
          <a:p>
            <a:pPr indent="0" marL="0">
              <a:buNone/>
            </a:pPr>
            <a:r>
              <a:rPr lang="en-US" sz="1300" b="1" spc="150" kern="0" dirty="0">
                <a:solidFill>
                  <a:srgbClr val="C94F4A"/>
                </a:solidFill>
                <a:latin typeface="Arial" pitchFamily="34" charset="0"/>
                <a:ea typeface="Arial" pitchFamily="34" charset="-122"/>
                <a:cs typeface="Arial" pitchFamily="34" charset="-120"/>
              </a:rPr>
              <a:t>THE CATCH</a:t>
            </a:r>
            <a:endParaRPr lang="en-US" sz="1300" dirty="0"/>
          </a:p>
        </p:txBody>
      </p:sp>
      <p:sp>
        <p:nvSpPr>
          <p:cNvPr id="30" name="Shape 27"/>
          <p:cNvSpPr/>
          <p:nvPr/>
        </p:nvSpPr>
        <p:spPr>
          <a:xfrm>
            <a:off x="7772400" y="2148840"/>
            <a:ext cx="3703320" cy="777240"/>
          </a:xfrm>
          <a:prstGeom prst="roundRect">
            <a:avLst>
              <a:gd name="adj" fmla="val 10588"/>
            </a:avLst>
          </a:prstGeom>
          <a:solidFill>
            <a:srgbClr val="FFFFFF"/>
          </a:solidFill>
          <a:ln w="12700">
            <a:solidFill>
              <a:srgbClr val="C9D6E2"/>
            </a:solidFill>
            <a:prstDash val="solid"/>
          </a:ln>
        </p:spPr>
      </p:sp>
      <p:sp>
        <p:nvSpPr>
          <p:cNvPr id="31" name="Text 28"/>
          <p:cNvSpPr/>
          <p:nvPr/>
        </p:nvSpPr>
        <p:spPr>
          <a:xfrm>
            <a:off x="7936992" y="2148840"/>
            <a:ext cx="3383280" cy="777240"/>
          </a:xfrm>
          <a:prstGeom prst="rect">
            <a:avLst/>
          </a:prstGeom>
          <a:noFill/>
          <a:ln/>
        </p:spPr>
        <p:txBody>
          <a:bodyPr wrap="square" lIns="0" tIns="0" rIns="0" bIns="0" rtlCol="0" anchor="ctr"/>
          <a:lstStyle/>
          <a:p>
            <a:pPr indent="0" marL="0">
              <a:buNone/>
            </a:pPr>
            <a:r>
              <a:rPr lang="en-US" sz="1250" i="1" dirty="0">
                <a:solidFill>
                  <a:srgbClr val="1F2A3A"/>
                </a:solidFill>
                <a:latin typeface="Calibri" pitchFamily="34" charset="0"/>
                <a:ea typeface="Calibri" pitchFamily="34" charset="-122"/>
                <a:cs typeface="Calibri" pitchFamily="34" charset="-120"/>
              </a:rPr>
              <a:t>“the cost of keeping your registration”</a:t>
            </a:r>
            <a:endParaRPr lang="en-US" sz="1250" dirty="0"/>
          </a:p>
        </p:txBody>
      </p:sp>
      <p:sp>
        <p:nvSpPr>
          <p:cNvPr id="32" name="Text 29"/>
          <p:cNvSpPr/>
          <p:nvPr/>
        </p:nvSpPr>
        <p:spPr>
          <a:xfrm>
            <a:off x="9400032" y="2944368"/>
            <a:ext cx="457200" cy="365760"/>
          </a:xfrm>
          <a:prstGeom prst="rect">
            <a:avLst/>
          </a:prstGeom>
          <a:noFill/>
          <a:ln/>
        </p:spPr>
        <p:txBody>
          <a:bodyPr wrap="square" lIns="0" tIns="0" rIns="0" bIns="0" rtlCol="0" anchor="ctr"/>
          <a:lstStyle/>
          <a:p>
            <a:pPr algn="ctr" indent="0" marL="0">
              <a:buNone/>
            </a:pPr>
            <a:r>
              <a:rPr lang="en-US" sz="2000" b="1" dirty="0">
                <a:solidFill>
                  <a:srgbClr val="C94F4A"/>
                </a:solidFill>
                <a:latin typeface="Arial" pitchFamily="34" charset="0"/>
                <a:ea typeface="Arial" pitchFamily="34" charset="-122"/>
                <a:cs typeface="Arial" pitchFamily="34" charset="-120"/>
              </a:rPr>
              <a:t>=</a:t>
            </a:r>
            <a:endParaRPr lang="en-US" sz="2000" dirty="0"/>
          </a:p>
        </p:txBody>
      </p:sp>
      <p:sp>
        <p:nvSpPr>
          <p:cNvPr id="33" name="Shape 30"/>
          <p:cNvSpPr/>
          <p:nvPr/>
        </p:nvSpPr>
        <p:spPr>
          <a:xfrm>
            <a:off x="7772400" y="3310128"/>
            <a:ext cx="3703320" cy="777240"/>
          </a:xfrm>
          <a:prstGeom prst="roundRect">
            <a:avLst>
              <a:gd name="adj" fmla="val 10588"/>
            </a:avLst>
          </a:prstGeom>
          <a:solidFill>
            <a:srgbClr val="FFFFFF"/>
          </a:solidFill>
          <a:ln w="12700">
            <a:solidFill>
              <a:srgbClr val="C9D6E2"/>
            </a:solidFill>
            <a:prstDash val="solid"/>
          </a:ln>
        </p:spPr>
      </p:sp>
      <p:sp>
        <p:nvSpPr>
          <p:cNvPr id="34" name="Text 31"/>
          <p:cNvSpPr/>
          <p:nvPr/>
        </p:nvSpPr>
        <p:spPr>
          <a:xfrm>
            <a:off x="7936992" y="3310128"/>
            <a:ext cx="3383280" cy="777240"/>
          </a:xfrm>
          <a:prstGeom prst="rect">
            <a:avLst/>
          </a:prstGeom>
          <a:noFill/>
          <a:ln/>
        </p:spPr>
        <p:txBody>
          <a:bodyPr wrap="square" lIns="0" tIns="0" rIns="0" bIns="0" rtlCol="0" anchor="ctr"/>
          <a:lstStyle/>
          <a:p>
            <a:pPr indent="0" marL="0">
              <a:buNone/>
            </a:pPr>
            <a:r>
              <a:rPr lang="en-US" sz="1250" i="1" dirty="0">
                <a:solidFill>
                  <a:srgbClr val="1F2A3A"/>
                </a:solidFill>
                <a:latin typeface="Calibri" pitchFamily="34" charset="0"/>
                <a:ea typeface="Calibri" pitchFamily="34" charset="-122"/>
                <a:cs typeface="Calibri" pitchFamily="34" charset="-120"/>
              </a:rPr>
              <a:t>“the renewal fee”</a:t>
            </a:r>
            <a:endParaRPr lang="en-US" sz="1250" dirty="0"/>
          </a:p>
        </p:txBody>
      </p:sp>
      <p:sp>
        <p:nvSpPr>
          <p:cNvPr id="35" name="Text 32"/>
          <p:cNvSpPr/>
          <p:nvPr/>
        </p:nvSpPr>
        <p:spPr>
          <a:xfrm>
            <a:off x="7772400" y="4279392"/>
            <a:ext cx="3703320" cy="9144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Same meaning. Zero shared words. Word-matching alone would sail straight past it — and legal language is full of exactly this.</a:t>
            </a:r>
            <a:endParaRPr lang="en-US" sz="1250" dirty="0"/>
          </a:p>
        </p:txBody>
      </p:sp>
      <p:sp>
        <p:nvSpPr>
          <p:cNvPr id="36" name="Text 33"/>
          <p:cNvSpPr/>
          <p:nvPr/>
        </p:nvSpPr>
        <p:spPr>
          <a:xfrm>
            <a:off x="7772400" y="5349240"/>
            <a:ext cx="3703320" cy="365760"/>
          </a:xfrm>
          <a:prstGeom prst="rect">
            <a:avLst/>
          </a:prstGeom>
          <a:noFill/>
          <a:ln/>
        </p:spPr>
        <p:txBody>
          <a:bodyPr wrap="square" lIns="0" tIns="0" rIns="0" bIns="0" rtlCol="0" anchor="ctr"/>
          <a:lstStyle/>
          <a:p>
            <a:pPr indent="0" marL="0">
              <a:buNone/>
            </a:pPr>
            <a:r>
              <a:rPr lang="en-US" sz="1250" b="1" dirty="0">
                <a:solidFill>
                  <a:srgbClr val="C94F4A"/>
                </a:solidFill>
                <a:latin typeface="Calibri" pitchFamily="34" charset="0"/>
                <a:ea typeface="Calibri" pitchFamily="34" charset="-122"/>
                <a:cs typeface="Calibri" pitchFamily="34" charset="-120"/>
              </a:rPr>
              <a:t>→ so we also match meaning (next slide)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HOW MATCHING WORKS · PART 2 OF 2</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Give every passage a place on a map of meaning</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502920" y="1353312"/>
            <a:ext cx="365760" cy="365760"/>
          </a:xfrm>
          <a:prstGeom prst="ellipse">
            <a:avLst/>
          </a:prstGeom>
          <a:solidFill>
            <a:srgbClr val="0C2442"/>
          </a:solidFill>
          <a:ln/>
        </p:spPr>
      </p:sp>
      <p:sp>
        <p:nvSpPr>
          <p:cNvPr id="6" name="Text 4"/>
          <p:cNvSpPr/>
          <p:nvPr/>
        </p:nvSpPr>
        <p:spPr>
          <a:xfrm>
            <a:off x="502920" y="1353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024128" y="1325880"/>
            <a:ext cx="5029200" cy="9144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A small open-source reading model has digested billions of sentences and learned which words keep the same company.</a:t>
            </a:r>
            <a:endParaRPr lang="en-US" sz="1250" dirty="0"/>
          </a:p>
        </p:txBody>
      </p:sp>
      <p:sp>
        <p:nvSpPr>
          <p:cNvPr id="8" name="Shape 6"/>
          <p:cNvSpPr/>
          <p:nvPr/>
        </p:nvSpPr>
        <p:spPr>
          <a:xfrm>
            <a:off x="502920" y="2322576"/>
            <a:ext cx="365760" cy="365760"/>
          </a:xfrm>
          <a:prstGeom prst="ellipse">
            <a:avLst/>
          </a:prstGeom>
          <a:solidFill>
            <a:srgbClr val="0C2442"/>
          </a:solidFill>
          <a:ln/>
        </p:spPr>
      </p:sp>
      <p:sp>
        <p:nvSpPr>
          <p:cNvPr id="9" name="Text 7"/>
          <p:cNvSpPr/>
          <p:nvPr/>
        </p:nvSpPr>
        <p:spPr>
          <a:xfrm>
            <a:off x="502920" y="2322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024128" y="2295144"/>
            <a:ext cx="5029200" cy="9144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Show it a passage; it answers with a list of 768 numbers — coordinates. The jargon for this: a vector embedding.</a:t>
            </a:r>
            <a:endParaRPr lang="en-US" sz="1250" dirty="0"/>
          </a:p>
        </p:txBody>
      </p:sp>
      <p:sp>
        <p:nvSpPr>
          <p:cNvPr id="11" name="Shape 9"/>
          <p:cNvSpPr/>
          <p:nvPr/>
        </p:nvSpPr>
        <p:spPr>
          <a:xfrm>
            <a:off x="502920" y="3291840"/>
            <a:ext cx="365760" cy="365760"/>
          </a:xfrm>
          <a:prstGeom prst="ellipse">
            <a:avLst/>
          </a:prstGeom>
          <a:solidFill>
            <a:srgbClr val="0C2442"/>
          </a:solidFill>
          <a:ln/>
        </p:spPr>
      </p:sp>
      <p:sp>
        <p:nvSpPr>
          <p:cNvPr id="12" name="Text 10"/>
          <p:cNvSpPr/>
          <p:nvPr/>
        </p:nvSpPr>
        <p:spPr>
          <a:xfrm>
            <a:off x="502920" y="3291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1024128" y="3264408"/>
            <a:ext cx="5029200" cy="9144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Passages about the same idea land close together on the map — even when they share no words at all.</a:t>
            </a:r>
            <a:endParaRPr lang="en-US" sz="1250" dirty="0"/>
          </a:p>
        </p:txBody>
      </p:sp>
      <p:sp>
        <p:nvSpPr>
          <p:cNvPr id="14" name="Shape 12"/>
          <p:cNvSpPr/>
          <p:nvPr/>
        </p:nvSpPr>
        <p:spPr>
          <a:xfrm>
            <a:off x="502920" y="4261104"/>
            <a:ext cx="365760" cy="365760"/>
          </a:xfrm>
          <a:prstGeom prst="ellipse">
            <a:avLst/>
          </a:prstGeom>
          <a:solidFill>
            <a:srgbClr val="0C2442"/>
          </a:solidFill>
          <a:ln/>
        </p:spPr>
      </p:sp>
      <p:sp>
        <p:nvSpPr>
          <p:cNvPr id="15" name="Text 13"/>
          <p:cNvSpPr/>
          <p:nvPr/>
        </p:nvSpPr>
        <p:spPr>
          <a:xfrm>
            <a:off x="502920" y="4261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p:nvPr/>
        </p:nvSpPr>
        <p:spPr>
          <a:xfrm>
            <a:off x="1024128" y="4233672"/>
            <a:ext cx="5029200" cy="91440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So “is this change about that page?” becomes “how far apart are these two points?” — instant, repeatable, and free once the coordinates are stored.</a:t>
            </a:r>
            <a:endParaRPr lang="en-US" sz="1250" dirty="0"/>
          </a:p>
        </p:txBody>
      </p:sp>
      <p:sp>
        <p:nvSpPr>
          <p:cNvPr id="17" name="Shape 15"/>
          <p:cNvSpPr/>
          <p:nvPr/>
        </p:nvSpPr>
        <p:spPr>
          <a:xfrm>
            <a:off x="502920" y="5257800"/>
            <a:ext cx="5577840" cy="1143000"/>
          </a:xfrm>
          <a:prstGeom prst="roundRect">
            <a:avLst>
              <a:gd name="adj" fmla="val 7200"/>
            </a:avLst>
          </a:prstGeom>
          <a:solidFill>
            <a:srgbClr val="EEF2F7"/>
          </a:solidFill>
          <a:ln/>
        </p:spPr>
      </p:sp>
      <p:sp>
        <p:nvSpPr>
          <p:cNvPr id="18" name="Shape 16"/>
          <p:cNvSpPr/>
          <p:nvPr/>
        </p:nvSpPr>
        <p:spPr>
          <a:xfrm>
            <a:off x="713232" y="5513832"/>
            <a:ext cx="329184" cy="329184"/>
          </a:xfrm>
          <a:prstGeom prst="roundRect">
            <a:avLst>
              <a:gd name="adj" fmla="val 12500"/>
            </a:avLst>
          </a:prstGeom>
          <a:solidFill>
            <a:srgbClr val="0C2442"/>
          </a:solidFill>
          <a:ln/>
        </p:spPr>
      </p:sp>
      <p:sp>
        <p:nvSpPr>
          <p:cNvPr id="19" name="Text 17"/>
          <p:cNvSpPr/>
          <p:nvPr/>
        </p:nvSpPr>
        <p:spPr>
          <a:xfrm>
            <a:off x="658368" y="5513832"/>
            <a:ext cx="438912" cy="329184"/>
          </a:xfrm>
          <a:prstGeom prst="rect">
            <a:avLst/>
          </a:prstGeom>
          <a:noFill/>
          <a:ln/>
        </p:spPr>
        <p:txBody>
          <a:bodyPr wrap="square" lIns="0" tIns="0" rIns="0" bIns="0" rtlCol="0" anchor="ctr"/>
          <a:lstStyle/>
          <a:p>
            <a:pPr algn="ctr" indent="0" marL="0">
              <a:buNone/>
            </a:pPr>
            <a:endParaRPr lang="en-US" sz="1100" dirty="0"/>
          </a:p>
        </p:txBody>
      </p:sp>
      <p:sp>
        <p:nvSpPr>
          <p:cNvPr id="20" name="Text 18"/>
          <p:cNvSpPr/>
          <p:nvPr/>
        </p:nvSpPr>
        <p:spPr>
          <a:xfrm>
            <a:off x="1188720" y="5394960"/>
            <a:ext cx="4709160" cy="914400"/>
          </a:xfrm>
          <a:prstGeom prst="rect">
            <a:avLst/>
          </a:prstGeom>
          <a:noFill/>
          <a:ln/>
        </p:spPr>
        <p:txBody>
          <a:bodyPr wrap="square" lIns="0" tIns="0" rIns="0" bIns="0" rtlCol="0" anchor="ctr"/>
          <a:lstStyle/>
          <a:p>
            <a:pPr indent="0" marL="0">
              <a:buNone/>
            </a:pPr>
            <a:r>
              <a:rPr lang="en-US" sz="1150" b="1" dirty="0">
                <a:solidFill>
                  <a:srgbClr val="0C2442"/>
                </a:solidFill>
                <a:latin typeface="Calibri" pitchFamily="34" charset="0"/>
                <a:ea typeface="Calibri" pitchFamily="34" charset="-122"/>
                <a:cs typeface="Calibri" pitchFamily="34" charset="-120"/>
              </a:rPr>
              <a:t>Still the machinery, not the chatbot: </a:t>
            </a:r>
            <a:pPr indent="0" marL="0">
              <a:buNone/>
            </a:pPr>
            <a:r>
              <a:rPr lang="en-US" sz="1150" dirty="0">
                <a:solidFill>
                  <a:srgbClr val="1F2A3A"/>
                </a:solidFill>
                <a:latin typeface="Calibri" pitchFamily="34" charset="0"/>
                <a:ea typeface="Calibri" pitchFamily="34" charset="-122"/>
                <a:cs typeface="Calibri" pitchFamily="34" charset="-120"/>
              </a:rPr>
              <a:t>the reading model is frozen. Same passage in, same coordinates out, every time — measurement, not conversation.</a:t>
            </a:r>
            <a:endParaRPr lang="en-US" sz="1150" dirty="0"/>
          </a:p>
        </p:txBody>
      </p:sp>
      <p:sp>
        <p:nvSpPr>
          <p:cNvPr id="21" name="Shape 19"/>
          <p:cNvSpPr/>
          <p:nvPr/>
        </p:nvSpPr>
        <p:spPr>
          <a:xfrm>
            <a:off x="6400800" y="1325880"/>
            <a:ext cx="5285232" cy="5074920"/>
          </a:xfrm>
          <a:prstGeom prst="roundRect">
            <a:avLst>
              <a:gd name="adj" fmla="val 1622"/>
            </a:avLst>
          </a:prstGeom>
          <a:solidFill>
            <a:srgbClr val="EEF2F7"/>
          </a:solidFill>
          <a:ln/>
        </p:spPr>
      </p:sp>
      <p:sp>
        <p:nvSpPr>
          <p:cNvPr id="22" name="Text 20"/>
          <p:cNvSpPr/>
          <p:nvPr/>
        </p:nvSpPr>
        <p:spPr>
          <a:xfrm>
            <a:off x="6629400" y="1463040"/>
            <a:ext cx="4828032" cy="256032"/>
          </a:xfrm>
          <a:prstGeom prst="rect">
            <a:avLst/>
          </a:prstGeom>
          <a:noFill/>
          <a:ln/>
        </p:spPr>
        <p:txBody>
          <a:bodyPr wrap="square" lIns="0" tIns="0" rIns="0" bIns="0" rtlCol="0" anchor="ctr"/>
          <a:lstStyle/>
          <a:p>
            <a:pPr indent="0" marL="0">
              <a:buNone/>
            </a:pPr>
            <a:r>
              <a:rPr lang="en-US" sz="1050" b="1" spc="120" kern="0" dirty="0">
                <a:solidFill>
                  <a:srgbClr val="4F7492"/>
                </a:solidFill>
                <a:latin typeface="Arial" pitchFamily="34" charset="0"/>
                <a:ea typeface="Arial" pitchFamily="34" charset="-122"/>
                <a:cs typeface="Arial" pitchFamily="34" charset="-120"/>
              </a:rPr>
              <a:t>THE MEANING MAP (SKETCHED IN 2-D)</a:t>
            </a:r>
            <a:endParaRPr lang="en-US" sz="1050" dirty="0"/>
          </a:p>
        </p:txBody>
      </p:sp>
      <p:sp>
        <p:nvSpPr>
          <p:cNvPr id="23" name="Shape 21"/>
          <p:cNvSpPr/>
          <p:nvPr/>
        </p:nvSpPr>
        <p:spPr>
          <a:xfrm>
            <a:off x="6720840" y="2011680"/>
            <a:ext cx="2651760" cy="1965960"/>
          </a:xfrm>
          <a:prstGeom prst="ellipse">
            <a:avLst/>
          </a:prstGeom>
          <a:solidFill>
            <a:srgbClr val="4F7492">
              <a:alpha val="14000"/>
            </a:srgbClr>
          </a:solidFill>
          <a:ln w="9525">
            <a:solidFill>
              <a:srgbClr val="4F7492"/>
            </a:solidFill>
            <a:prstDash val="dash"/>
          </a:ln>
        </p:spPr>
      </p:sp>
      <p:sp>
        <p:nvSpPr>
          <p:cNvPr id="24" name="Shape 22"/>
          <p:cNvSpPr/>
          <p:nvPr/>
        </p:nvSpPr>
        <p:spPr>
          <a:xfrm>
            <a:off x="9098280" y="4251960"/>
            <a:ext cx="2148840" cy="1600200"/>
          </a:xfrm>
          <a:prstGeom prst="ellipse">
            <a:avLst/>
          </a:prstGeom>
          <a:solidFill>
            <a:srgbClr val="0C2442">
              <a:alpha val="12000"/>
            </a:srgbClr>
          </a:solidFill>
          <a:ln w="9525">
            <a:solidFill>
              <a:srgbClr val="0C2442"/>
            </a:solidFill>
            <a:prstDash val="dash"/>
          </a:ln>
        </p:spPr>
      </p:sp>
      <p:sp>
        <p:nvSpPr>
          <p:cNvPr id="25" name="Shape 23"/>
          <p:cNvSpPr/>
          <p:nvPr/>
        </p:nvSpPr>
        <p:spPr>
          <a:xfrm>
            <a:off x="7178040" y="2377440"/>
            <a:ext cx="201168" cy="201168"/>
          </a:xfrm>
          <a:prstGeom prst="ellipse">
            <a:avLst/>
          </a:prstGeom>
          <a:solidFill>
            <a:srgbClr val="4F7492"/>
          </a:solidFill>
          <a:ln/>
        </p:spPr>
      </p:sp>
      <p:sp>
        <p:nvSpPr>
          <p:cNvPr id="26" name="Text 24"/>
          <p:cNvSpPr/>
          <p:nvPr/>
        </p:nvSpPr>
        <p:spPr>
          <a:xfrm>
            <a:off x="6903720" y="2048256"/>
            <a:ext cx="1463040" cy="237744"/>
          </a:xfrm>
          <a:prstGeom prst="rect">
            <a:avLst/>
          </a:prstGeom>
          <a:noFill/>
          <a:ln/>
        </p:spPr>
        <p:txBody>
          <a:bodyPr wrap="square" lIns="0" tIns="0" rIns="0" bIns="0" rtlCol="0" anchor="ctr"/>
          <a:lstStyle/>
          <a:p>
            <a:pPr algn="l" indent="0" marL="0">
              <a:buNone/>
            </a:pPr>
            <a:r>
              <a:rPr lang="en-US" sz="1000" dirty="0">
                <a:solidFill>
                  <a:srgbClr val="1F2A3A"/>
                </a:solidFill>
                <a:latin typeface="Calibri" pitchFamily="34" charset="0"/>
                <a:ea typeface="Calibri" pitchFamily="34" charset="-122"/>
                <a:cs typeface="Calibri" pitchFamily="34" charset="-120"/>
              </a:rPr>
              <a:t>Renewal fees</a:t>
            </a:r>
            <a:endParaRPr lang="en-US" sz="1000" dirty="0"/>
          </a:p>
        </p:txBody>
      </p:sp>
      <p:sp>
        <p:nvSpPr>
          <p:cNvPr id="27" name="Shape 25"/>
          <p:cNvSpPr/>
          <p:nvPr/>
        </p:nvSpPr>
        <p:spPr>
          <a:xfrm>
            <a:off x="8001000" y="2697480"/>
            <a:ext cx="201168" cy="201168"/>
          </a:xfrm>
          <a:prstGeom prst="ellipse">
            <a:avLst/>
          </a:prstGeom>
          <a:solidFill>
            <a:srgbClr val="4F7492"/>
          </a:solidFill>
          <a:ln/>
        </p:spPr>
      </p:sp>
      <p:sp>
        <p:nvSpPr>
          <p:cNvPr id="28" name="Text 26"/>
          <p:cNvSpPr/>
          <p:nvPr/>
        </p:nvSpPr>
        <p:spPr>
          <a:xfrm>
            <a:off x="8247888" y="2642616"/>
            <a:ext cx="2011680" cy="237744"/>
          </a:xfrm>
          <a:prstGeom prst="rect">
            <a:avLst/>
          </a:prstGeom>
          <a:noFill/>
          <a:ln/>
        </p:spPr>
        <p:txBody>
          <a:bodyPr wrap="square" lIns="0" tIns="0" rIns="0" bIns="0" rtlCol="0" anchor="ctr"/>
          <a:lstStyle/>
          <a:p>
            <a:pPr algn="l" indent="0" marL="0">
              <a:buNone/>
            </a:pPr>
            <a:r>
              <a:rPr lang="en-US" sz="1000" dirty="0">
                <a:solidFill>
                  <a:srgbClr val="1F2A3A"/>
                </a:solidFill>
                <a:latin typeface="Calibri" pitchFamily="34" charset="0"/>
                <a:ea typeface="Calibri" pitchFamily="34" charset="-122"/>
                <a:cs typeface="Calibri" pitchFamily="34" charset="-120"/>
              </a:rPr>
              <a:t>Keeping your registration</a:t>
            </a:r>
            <a:endParaRPr lang="en-US" sz="1000" dirty="0"/>
          </a:p>
        </p:txBody>
      </p:sp>
      <p:sp>
        <p:nvSpPr>
          <p:cNvPr id="29" name="Shape 27"/>
          <p:cNvSpPr/>
          <p:nvPr/>
        </p:nvSpPr>
        <p:spPr>
          <a:xfrm>
            <a:off x="7040880" y="3200400"/>
            <a:ext cx="201168" cy="201168"/>
          </a:xfrm>
          <a:prstGeom prst="ellipse">
            <a:avLst/>
          </a:prstGeom>
          <a:solidFill>
            <a:srgbClr val="4F7492"/>
          </a:solidFill>
          <a:ln/>
        </p:spPr>
      </p:sp>
      <p:sp>
        <p:nvSpPr>
          <p:cNvPr id="30" name="Text 28"/>
          <p:cNvSpPr/>
          <p:nvPr/>
        </p:nvSpPr>
        <p:spPr>
          <a:xfrm>
            <a:off x="6858000" y="3447288"/>
            <a:ext cx="2011680" cy="237744"/>
          </a:xfrm>
          <a:prstGeom prst="rect">
            <a:avLst/>
          </a:prstGeom>
          <a:noFill/>
          <a:ln/>
        </p:spPr>
        <p:txBody>
          <a:bodyPr wrap="square" lIns="0" tIns="0" rIns="0" bIns="0" rtlCol="0" anchor="ctr"/>
          <a:lstStyle/>
          <a:p>
            <a:pPr algn="l" indent="0" marL="0">
              <a:buNone/>
            </a:pPr>
            <a:r>
              <a:rPr lang="en-US" sz="1000" dirty="0">
                <a:solidFill>
                  <a:srgbClr val="1F2A3A"/>
                </a:solidFill>
                <a:latin typeface="Calibri" pitchFamily="34" charset="0"/>
                <a:ea typeface="Calibri" pitchFamily="34" charset="-122"/>
                <a:cs typeface="Calibri" pitchFamily="34" charset="-120"/>
              </a:rPr>
              <a:t>Late renewal penalties</a:t>
            </a:r>
            <a:endParaRPr lang="en-US" sz="1000" dirty="0"/>
          </a:p>
        </p:txBody>
      </p:sp>
      <p:sp>
        <p:nvSpPr>
          <p:cNvPr id="31" name="Shape 29"/>
          <p:cNvSpPr/>
          <p:nvPr/>
        </p:nvSpPr>
        <p:spPr>
          <a:xfrm>
            <a:off x="9921240" y="4617720"/>
            <a:ext cx="201168" cy="201168"/>
          </a:xfrm>
          <a:prstGeom prst="ellipse">
            <a:avLst/>
          </a:prstGeom>
          <a:solidFill>
            <a:srgbClr val="0C2442"/>
          </a:solidFill>
          <a:ln/>
        </p:spPr>
      </p:sp>
      <p:sp>
        <p:nvSpPr>
          <p:cNvPr id="32" name="Text 30"/>
          <p:cNvSpPr/>
          <p:nvPr/>
        </p:nvSpPr>
        <p:spPr>
          <a:xfrm>
            <a:off x="10168128" y="4572000"/>
            <a:ext cx="1463040" cy="237744"/>
          </a:xfrm>
          <a:prstGeom prst="rect">
            <a:avLst/>
          </a:prstGeom>
          <a:noFill/>
          <a:ln/>
        </p:spPr>
        <p:txBody>
          <a:bodyPr wrap="square" lIns="0" tIns="0" rIns="0" bIns="0" rtlCol="0" anchor="ctr"/>
          <a:lstStyle/>
          <a:p>
            <a:pPr algn="l" indent="0" marL="0">
              <a:buNone/>
            </a:pPr>
            <a:r>
              <a:rPr lang="en-US" sz="1000" dirty="0">
                <a:solidFill>
                  <a:srgbClr val="1F2A3A"/>
                </a:solidFill>
                <a:latin typeface="Calibri" pitchFamily="34" charset="0"/>
                <a:ea typeface="Calibri" pitchFamily="34" charset="-122"/>
                <a:cs typeface="Calibri" pitchFamily="34" charset="-120"/>
              </a:rPr>
              <a:t>Filing a patent</a:t>
            </a:r>
            <a:endParaRPr lang="en-US" sz="1000" dirty="0"/>
          </a:p>
        </p:txBody>
      </p:sp>
      <p:sp>
        <p:nvSpPr>
          <p:cNvPr id="33" name="Shape 31"/>
          <p:cNvSpPr/>
          <p:nvPr/>
        </p:nvSpPr>
        <p:spPr>
          <a:xfrm>
            <a:off x="9418320" y="5212080"/>
            <a:ext cx="201168" cy="201168"/>
          </a:xfrm>
          <a:prstGeom prst="ellipse">
            <a:avLst/>
          </a:prstGeom>
          <a:solidFill>
            <a:srgbClr val="0C2442"/>
          </a:solidFill>
          <a:ln/>
        </p:spPr>
      </p:sp>
      <p:sp>
        <p:nvSpPr>
          <p:cNvPr id="34" name="Text 32"/>
          <p:cNvSpPr/>
          <p:nvPr/>
        </p:nvSpPr>
        <p:spPr>
          <a:xfrm>
            <a:off x="9665208" y="5166360"/>
            <a:ext cx="1737360" cy="237744"/>
          </a:xfrm>
          <a:prstGeom prst="rect">
            <a:avLst/>
          </a:prstGeom>
          <a:noFill/>
          <a:ln/>
        </p:spPr>
        <p:txBody>
          <a:bodyPr wrap="square" lIns="0" tIns="0" rIns="0" bIns="0" rtlCol="0" anchor="ctr"/>
          <a:lstStyle/>
          <a:p>
            <a:pPr algn="l" indent="0" marL="0">
              <a:buNone/>
            </a:pPr>
            <a:r>
              <a:rPr lang="en-US" sz="1000" dirty="0">
                <a:solidFill>
                  <a:srgbClr val="1F2A3A"/>
                </a:solidFill>
                <a:latin typeface="Calibri" pitchFamily="34" charset="0"/>
                <a:ea typeface="Calibri" pitchFamily="34" charset="-122"/>
                <a:cs typeface="Calibri" pitchFamily="34" charset="-120"/>
              </a:rPr>
              <a:t>Patent examination</a:t>
            </a:r>
            <a:endParaRPr lang="en-US" sz="1000" dirty="0"/>
          </a:p>
        </p:txBody>
      </p:sp>
      <p:sp>
        <p:nvSpPr>
          <p:cNvPr id="35" name="Shape 33"/>
          <p:cNvSpPr/>
          <p:nvPr/>
        </p:nvSpPr>
        <p:spPr>
          <a:xfrm>
            <a:off x="10881360" y="2240280"/>
            <a:ext cx="201168" cy="201168"/>
          </a:xfrm>
          <a:prstGeom prst="ellipse">
            <a:avLst/>
          </a:prstGeom>
          <a:solidFill>
            <a:srgbClr val="9AA7B4"/>
          </a:solidFill>
          <a:ln/>
        </p:spPr>
      </p:sp>
      <p:sp>
        <p:nvSpPr>
          <p:cNvPr id="36" name="Text 34"/>
          <p:cNvSpPr/>
          <p:nvPr/>
        </p:nvSpPr>
        <p:spPr>
          <a:xfrm>
            <a:off x="9400032" y="2276856"/>
            <a:ext cx="1371600" cy="237744"/>
          </a:xfrm>
          <a:prstGeom prst="rect">
            <a:avLst/>
          </a:prstGeom>
          <a:noFill/>
          <a:ln/>
        </p:spPr>
        <p:txBody>
          <a:bodyPr wrap="square" lIns="0" tIns="0" rIns="0" bIns="0" rtlCol="0" anchor="ctr"/>
          <a:lstStyle/>
          <a:p>
            <a:pPr algn="r" indent="0" marL="0">
              <a:buNone/>
            </a:pPr>
            <a:r>
              <a:rPr lang="en-US" sz="1000" dirty="0">
                <a:solidFill>
                  <a:srgbClr val="1F2A3A"/>
                </a:solidFill>
                <a:latin typeface="Calibri" pitchFamily="34" charset="0"/>
                <a:ea typeface="Calibri" pitchFamily="34" charset="-122"/>
                <a:cs typeface="Calibri" pitchFamily="34" charset="-120"/>
              </a:rPr>
              <a:t>Office holiday hours</a:t>
            </a:r>
            <a:endParaRPr lang="en-US" sz="1000" dirty="0"/>
          </a:p>
        </p:txBody>
      </p:sp>
      <p:sp>
        <p:nvSpPr>
          <p:cNvPr id="37" name="Shape 35"/>
          <p:cNvSpPr/>
          <p:nvPr/>
        </p:nvSpPr>
        <p:spPr>
          <a:xfrm>
            <a:off x="8686800" y="3703320"/>
            <a:ext cx="310896" cy="310896"/>
          </a:xfrm>
          <a:prstGeom prst="star5">
            <a:avLst/>
          </a:prstGeom>
          <a:solidFill>
            <a:srgbClr val="C94F4A"/>
          </a:solidFill>
          <a:ln/>
        </p:spPr>
      </p:sp>
      <p:sp>
        <p:nvSpPr>
          <p:cNvPr id="38" name="Text 36"/>
          <p:cNvSpPr/>
          <p:nvPr/>
        </p:nvSpPr>
        <p:spPr>
          <a:xfrm>
            <a:off x="8092440" y="4069080"/>
            <a:ext cx="2194560" cy="237744"/>
          </a:xfrm>
          <a:prstGeom prst="rect">
            <a:avLst/>
          </a:prstGeom>
          <a:noFill/>
          <a:ln/>
        </p:spPr>
        <p:txBody>
          <a:bodyPr wrap="square" lIns="0" tIns="0" rIns="0" bIns="0" rtlCol="0" anchor="ctr"/>
          <a:lstStyle/>
          <a:p>
            <a:pPr indent="0" marL="0">
              <a:buNone/>
            </a:pPr>
            <a:r>
              <a:rPr lang="en-US" sz="1000" b="1" dirty="0">
                <a:solidFill>
                  <a:srgbClr val="C94F4A"/>
                </a:solidFill>
                <a:latin typeface="Calibri" pitchFamily="34" charset="0"/>
                <a:ea typeface="Calibri" pitchFamily="34" charset="-122"/>
                <a:cs typeface="Calibri" pitchFamily="34" charset="-120"/>
              </a:rPr>
              <a:t>the fee change (incoming)</a:t>
            </a:r>
            <a:endParaRPr lang="en-US" sz="1000" dirty="0"/>
          </a:p>
        </p:txBody>
      </p:sp>
      <p:sp>
        <p:nvSpPr>
          <p:cNvPr id="39" name="Shape 37"/>
          <p:cNvSpPr/>
          <p:nvPr/>
        </p:nvSpPr>
        <p:spPr>
          <a:xfrm>
            <a:off x="8183880" y="2953512"/>
            <a:ext cx="548640" cy="749808"/>
          </a:xfrm>
          <a:prstGeom prst="line">
            <a:avLst/>
          </a:prstGeom>
          <a:noFill/>
          <a:ln w="19050">
            <a:solidFill>
              <a:srgbClr val="C94F4A"/>
            </a:solidFill>
            <a:prstDash val="dash"/>
          </a:ln>
        </p:spPr>
      </p:sp>
      <p:sp>
        <p:nvSpPr>
          <p:cNvPr id="40" name="Text 38"/>
          <p:cNvSpPr/>
          <p:nvPr/>
        </p:nvSpPr>
        <p:spPr>
          <a:xfrm>
            <a:off x="6675120" y="4526280"/>
            <a:ext cx="2377440" cy="457200"/>
          </a:xfrm>
          <a:prstGeom prst="rect">
            <a:avLst/>
          </a:prstGeom>
          <a:noFill/>
          <a:ln/>
        </p:spPr>
        <p:txBody>
          <a:bodyPr wrap="square" lIns="0" tIns="0" rIns="0" bIns="0" rtlCol="0" anchor="ctr"/>
          <a:lstStyle/>
          <a:p>
            <a:pPr indent="0" marL="0">
              <a:buNone/>
            </a:pPr>
            <a:r>
              <a:rPr lang="en-US" sz="1000" i="1" dirty="0">
                <a:solidFill>
                  <a:srgbClr val="5E6B7A"/>
                </a:solidFill>
                <a:latin typeface="Calibri" pitchFamily="34" charset="0"/>
                <a:ea typeface="Calibri" pitchFamily="34" charset="-122"/>
                <a:cs typeface="Calibri" pitchFamily="34" charset="-120"/>
              </a:rPr>
              <a:t>close = probably about the same thing</a:t>
            </a:r>
            <a:endParaRPr lang="en-US" sz="1000" dirty="0"/>
          </a:p>
        </p:txBody>
      </p:sp>
      <p:sp>
        <p:nvSpPr>
          <p:cNvPr id="41" name="Text 39"/>
          <p:cNvSpPr/>
          <p:nvPr/>
        </p:nvSpPr>
        <p:spPr>
          <a:xfrm>
            <a:off x="6629400" y="6016752"/>
            <a:ext cx="4828032" cy="256032"/>
          </a:xfrm>
          <a:prstGeom prst="rect">
            <a:avLst/>
          </a:prstGeom>
          <a:noFill/>
          <a:ln/>
        </p:spPr>
        <p:txBody>
          <a:bodyPr wrap="square" lIns="0" tIns="0" rIns="0" bIns="0" rtlCol="0" anchor="ctr"/>
          <a:lstStyle/>
          <a:p>
            <a:pPr algn="r" indent="0" marL="0">
              <a:buNone/>
            </a:pPr>
            <a:r>
              <a:rPr lang="en-US" sz="950" i="1" dirty="0">
                <a:solidFill>
                  <a:srgbClr val="5E6B7A"/>
                </a:solidFill>
                <a:latin typeface="Calibri" pitchFamily="34" charset="0"/>
                <a:ea typeface="Calibri" pitchFamily="34" charset="-122"/>
                <a:cs typeface="Calibri" pitchFamily="34" charset="-120"/>
              </a:rPr>
              <a:t>the real map has 768 dimensions, not 2 — the idea is identical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GATES 4–5</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Two judges rank every page — then zoom in, section by section</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8918143" y="310896"/>
            <a:ext cx="246888" cy="246888"/>
          </a:xfrm>
          <a:prstGeom prst="roundRect">
            <a:avLst>
              <a:gd name="adj" fmla="val 16667"/>
            </a:avLst>
          </a:prstGeom>
          <a:solidFill>
            <a:srgbClr val="E3EAF2"/>
          </a:solidFill>
          <a:ln w="9525">
            <a:solidFill>
              <a:srgbClr val="C9D6E2"/>
            </a:solidFill>
            <a:prstDash val="solid"/>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E3EAF2"/>
          </a:solidFill>
          <a:ln w="9525">
            <a:solidFill>
              <a:srgbClr val="C9D6E2"/>
            </a:solidFill>
            <a:prstDash val="solid"/>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E3EAF2"/>
          </a:solidFill>
          <a:ln w="9525">
            <a:solidFill>
              <a:srgbClr val="C9D6E2"/>
            </a:solidFill>
            <a:prstDash val="solid"/>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0C2442"/>
          </a:solidFill>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0C2442"/>
          </a:solidFill>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E3EAF2"/>
          </a:solidFill>
          <a:ln w="9525">
            <a:solidFill>
              <a:srgbClr val="C9D6E2"/>
            </a:solidFill>
            <a:prstDash val="solid"/>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E3EAF2"/>
          </a:solidFill>
          <a:ln w="9525">
            <a:solidFill>
              <a:srgbClr val="C9D6E2"/>
            </a:solidFill>
            <a:prstDash val="solid"/>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3EAF2"/>
          </a:solidFill>
          <a:ln w="9525">
            <a:solidFill>
              <a:srgbClr val="C9D6E2"/>
            </a:solidFill>
            <a:prstDash val="solid"/>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E3EAF2"/>
          </a:solidFill>
          <a:ln w="9525">
            <a:solidFill>
              <a:srgbClr val="C9D6E2"/>
            </a:solidFill>
            <a:prstDash val="solid"/>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298448"/>
            <a:ext cx="2651760" cy="2011680"/>
          </a:xfrm>
          <a:prstGeom prst="roundRect">
            <a:avLst>
              <a:gd name="adj" fmla="val 4091"/>
            </a:avLst>
          </a:prstGeom>
          <a:solidFill>
            <a:srgbClr val="FFFFFF"/>
          </a:solidFill>
          <a:ln w="12700">
            <a:solidFill>
              <a:srgbClr val="C9D6E2"/>
            </a:solidFill>
            <a:prstDash val="solid"/>
          </a:ln>
        </p:spPr>
      </p:sp>
      <p:sp>
        <p:nvSpPr>
          <p:cNvPr id="24" name="Text 22"/>
          <p:cNvSpPr/>
          <p:nvPr/>
        </p:nvSpPr>
        <p:spPr>
          <a:xfrm>
            <a:off x="667512" y="1426464"/>
            <a:ext cx="2377440" cy="274320"/>
          </a:xfrm>
          <a:prstGeom prst="rect">
            <a:avLst/>
          </a:prstGeom>
          <a:noFill/>
          <a:ln/>
        </p:spPr>
        <p:txBody>
          <a:bodyPr wrap="square" lIns="0" tIns="0" rIns="0" bIns="0" rtlCol="0" anchor="ctr"/>
          <a:lstStyle/>
          <a:p>
            <a:pPr indent="0" marL="0">
              <a:buNone/>
            </a:pPr>
            <a:r>
              <a:rPr lang="en-US" sz="1100" b="1" dirty="0">
                <a:solidFill>
                  <a:srgbClr val="4F7492"/>
                </a:solidFill>
                <a:latin typeface="Arial" pitchFamily="34" charset="0"/>
                <a:ea typeface="Arial" pitchFamily="34" charset="-122"/>
                <a:cs typeface="Arial" pitchFamily="34" charset="-120"/>
              </a:rPr>
              <a:t>THE WORD JUDGE SAYS</a:t>
            </a:r>
            <a:endParaRPr lang="en-US" sz="1100" dirty="0"/>
          </a:p>
        </p:txBody>
      </p:sp>
      <p:sp>
        <p:nvSpPr>
          <p:cNvPr id="25" name="Text 23"/>
          <p:cNvSpPr/>
          <p:nvPr/>
        </p:nvSpPr>
        <p:spPr>
          <a:xfrm>
            <a:off x="667512" y="1755648"/>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1. </a:t>
            </a:r>
            <a:pPr indent="0" marL="0">
              <a:buNone/>
            </a:pPr>
            <a:r>
              <a:rPr lang="en-US" sz="1150" b="1" dirty="0">
                <a:solidFill>
                  <a:srgbClr val="0C2442"/>
                </a:solidFill>
                <a:latin typeface="Calibri" pitchFamily="34" charset="0"/>
                <a:ea typeface="Calibri" pitchFamily="34" charset="-122"/>
                <a:cs typeface="Calibri" pitchFamily="34" charset="-120"/>
              </a:rPr>
              <a:t>Renewing your trade mark</a:t>
            </a:r>
            <a:endParaRPr lang="en-US" sz="1150" dirty="0"/>
          </a:p>
        </p:txBody>
      </p:sp>
      <p:sp>
        <p:nvSpPr>
          <p:cNvPr id="26" name="Text 24"/>
          <p:cNvSpPr/>
          <p:nvPr/>
        </p:nvSpPr>
        <p:spPr>
          <a:xfrm>
            <a:off x="667512" y="2084832"/>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2. </a:t>
            </a:r>
            <a:pPr indent="0" marL="0">
              <a:buNone/>
            </a:pPr>
            <a:r>
              <a:rPr lang="en-US" sz="1150" dirty="0">
                <a:solidFill>
                  <a:srgbClr val="1F2A3A"/>
                </a:solidFill>
                <a:latin typeface="Calibri" pitchFamily="34" charset="0"/>
                <a:ea typeface="Calibri" pitchFamily="34" charset="-122"/>
                <a:cs typeface="Calibri" pitchFamily="34" charset="-120"/>
              </a:rPr>
              <a:t>Fees and payments</a:t>
            </a:r>
            <a:endParaRPr lang="en-US" sz="1150" dirty="0"/>
          </a:p>
        </p:txBody>
      </p:sp>
      <p:sp>
        <p:nvSpPr>
          <p:cNvPr id="27" name="Text 25"/>
          <p:cNvSpPr/>
          <p:nvPr/>
        </p:nvSpPr>
        <p:spPr>
          <a:xfrm>
            <a:off x="667512" y="2414016"/>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3. </a:t>
            </a:r>
            <a:pPr indent="0" marL="0">
              <a:buNone/>
            </a:pPr>
            <a:r>
              <a:rPr lang="en-US" sz="1150" dirty="0">
                <a:solidFill>
                  <a:srgbClr val="1F2A3A"/>
                </a:solidFill>
                <a:latin typeface="Calibri" pitchFamily="34" charset="0"/>
                <a:ea typeface="Calibri" pitchFamily="34" charset="-122"/>
                <a:cs typeface="Calibri" pitchFamily="34" charset="-120"/>
              </a:rPr>
              <a:t>Trade mark basics</a:t>
            </a:r>
            <a:endParaRPr lang="en-US" sz="1150" dirty="0"/>
          </a:p>
        </p:txBody>
      </p:sp>
      <p:sp>
        <p:nvSpPr>
          <p:cNvPr id="28" name="Text 26"/>
          <p:cNvSpPr/>
          <p:nvPr/>
        </p:nvSpPr>
        <p:spPr>
          <a:xfrm>
            <a:off x="667512" y="2743200"/>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4. </a:t>
            </a:r>
            <a:pPr indent="0" marL="0">
              <a:buNone/>
            </a:pPr>
            <a:r>
              <a:rPr lang="en-US" sz="1150" dirty="0">
                <a:solidFill>
                  <a:srgbClr val="1F2A3A"/>
                </a:solidFill>
                <a:latin typeface="Calibri" pitchFamily="34" charset="0"/>
                <a:ea typeface="Calibri" pitchFamily="34" charset="-122"/>
                <a:cs typeface="Calibri" pitchFamily="34" charset="-120"/>
              </a:rPr>
              <a:t>Madrid System renewals</a:t>
            </a:r>
            <a:endParaRPr lang="en-US" sz="1150" dirty="0"/>
          </a:p>
        </p:txBody>
      </p:sp>
      <p:sp>
        <p:nvSpPr>
          <p:cNvPr id="29" name="Shape 27"/>
          <p:cNvSpPr/>
          <p:nvPr/>
        </p:nvSpPr>
        <p:spPr>
          <a:xfrm>
            <a:off x="3383280" y="1298448"/>
            <a:ext cx="2651760" cy="2011680"/>
          </a:xfrm>
          <a:prstGeom prst="roundRect">
            <a:avLst>
              <a:gd name="adj" fmla="val 4091"/>
            </a:avLst>
          </a:prstGeom>
          <a:solidFill>
            <a:srgbClr val="FFFFFF"/>
          </a:solidFill>
          <a:ln w="12700">
            <a:solidFill>
              <a:srgbClr val="C9D6E2"/>
            </a:solidFill>
            <a:prstDash val="solid"/>
          </a:ln>
        </p:spPr>
      </p:sp>
      <p:sp>
        <p:nvSpPr>
          <p:cNvPr id="30" name="Text 28"/>
          <p:cNvSpPr/>
          <p:nvPr/>
        </p:nvSpPr>
        <p:spPr>
          <a:xfrm>
            <a:off x="3547872" y="1426464"/>
            <a:ext cx="2377440" cy="274320"/>
          </a:xfrm>
          <a:prstGeom prst="rect">
            <a:avLst/>
          </a:prstGeom>
          <a:noFill/>
          <a:ln/>
        </p:spPr>
        <p:txBody>
          <a:bodyPr wrap="square" lIns="0" tIns="0" rIns="0" bIns="0" rtlCol="0" anchor="ctr"/>
          <a:lstStyle/>
          <a:p>
            <a:pPr indent="0" marL="0">
              <a:buNone/>
            </a:pPr>
            <a:r>
              <a:rPr lang="en-US" sz="1100" b="1" dirty="0">
                <a:solidFill>
                  <a:srgbClr val="4F7492"/>
                </a:solidFill>
                <a:latin typeface="Arial" pitchFamily="34" charset="0"/>
                <a:ea typeface="Arial" pitchFamily="34" charset="-122"/>
                <a:cs typeface="Arial" pitchFamily="34" charset="-120"/>
              </a:rPr>
              <a:t>THE MEANING JUDGE SAYS</a:t>
            </a:r>
            <a:endParaRPr lang="en-US" sz="1100" dirty="0"/>
          </a:p>
        </p:txBody>
      </p:sp>
      <p:sp>
        <p:nvSpPr>
          <p:cNvPr id="31" name="Text 29"/>
          <p:cNvSpPr/>
          <p:nvPr/>
        </p:nvSpPr>
        <p:spPr>
          <a:xfrm>
            <a:off x="3547872" y="1755648"/>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1. </a:t>
            </a:r>
            <a:pPr indent="0" marL="0">
              <a:buNone/>
            </a:pPr>
            <a:r>
              <a:rPr lang="en-US" sz="1150" b="1" dirty="0">
                <a:solidFill>
                  <a:srgbClr val="0C2442"/>
                </a:solidFill>
                <a:latin typeface="Calibri" pitchFamily="34" charset="0"/>
                <a:ea typeface="Calibri" pitchFamily="34" charset="-122"/>
                <a:cs typeface="Calibri" pitchFamily="34" charset="-120"/>
              </a:rPr>
              <a:t>Renewing your trade mark</a:t>
            </a:r>
            <a:endParaRPr lang="en-US" sz="1150" dirty="0"/>
          </a:p>
        </p:txBody>
      </p:sp>
      <p:sp>
        <p:nvSpPr>
          <p:cNvPr id="32" name="Text 30"/>
          <p:cNvSpPr/>
          <p:nvPr/>
        </p:nvSpPr>
        <p:spPr>
          <a:xfrm>
            <a:off x="3547872" y="2084832"/>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2. </a:t>
            </a:r>
            <a:pPr indent="0" marL="0">
              <a:buNone/>
            </a:pPr>
            <a:r>
              <a:rPr lang="en-US" sz="1150" dirty="0">
                <a:solidFill>
                  <a:srgbClr val="1F2A3A"/>
                </a:solidFill>
                <a:latin typeface="Calibri" pitchFamily="34" charset="0"/>
                <a:ea typeface="Calibri" pitchFamily="34" charset="-122"/>
                <a:cs typeface="Calibri" pitchFamily="34" charset="-120"/>
              </a:rPr>
              <a:t>Madrid System renewals</a:t>
            </a:r>
            <a:endParaRPr lang="en-US" sz="1150" dirty="0"/>
          </a:p>
        </p:txBody>
      </p:sp>
      <p:sp>
        <p:nvSpPr>
          <p:cNvPr id="33" name="Text 31"/>
          <p:cNvSpPr/>
          <p:nvPr/>
        </p:nvSpPr>
        <p:spPr>
          <a:xfrm>
            <a:off x="3547872" y="2414016"/>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3. </a:t>
            </a:r>
            <a:pPr indent="0" marL="0">
              <a:buNone/>
            </a:pPr>
            <a:r>
              <a:rPr lang="en-US" sz="1150" dirty="0">
                <a:solidFill>
                  <a:srgbClr val="1F2A3A"/>
                </a:solidFill>
                <a:latin typeface="Calibri" pitchFamily="34" charset="0"/>
                <a:ea typeface="Calibri" pitchFamily="34" charset="-122"/>
                <a:cs typeface="Calibri" pitchFamily="34" charset="-120"/>
              </a:rPr>
              <a:t>Fees and payments</a:t>
            </a:r>
            <a:endParaRPr lang="en-US" sz="1150" dirty="0"/>
          </a:p>
        </p:txBody>
      </p:sp>
      <p:sp>
        <p:nvSpPr>
          <p:cNvPr id="34" name="Text 32"/>
          <p:cNvSpPr/>
          <p:nvPr/>
        </p:nvSpPr>
        <p:spPr>
          <a:xfrm>
            <a:off x="3547872" y="2743200"/>
            <a:ext cx="2377440" cy="292608"/>
          </a:xfrm>
          <a:prstGeom prst="rect">
            <a:avLst/>
          </a:prstGeom>
          <a:noFill/>
          <a:ln/>
        </p:spPr>
        <p:txBody>
          <a:bodyPr wrap="square" lIns="0" tIns="0" rIns="0" bIns="0" rtlCol="0" anchor="ctr"/>
          <a:lstStyle/>
          <a:p>
            <a:pPr indent="0" marL="0">
              <a:buNone/>
            </a:pPr>
            <a:r>
              <a:rPr lang="en-US" sz="1150" b="1" dirty="0">
                <a:solidFill>
                  <a:srgbClr val="5E6B7A"/>
                </a:solidFill>
                <a:latin typeface="Calibri" pitchFamily="34" charset="0"/>
                <a:ea typeface="Calibri" pitchFamily="34" charset="-122"/>
                <a:cs typeface="Calibri" pitchFamily="34" charset="-120"/>
              </a:rPr>
              <a:t>4. </a:t>
            </a:r>
            <a:pPr indent="0" marL="0">
              <a:buNone/>
            </a:pPr>
            <a:r>
              <a:rPr lang="en-US" sz="1150" dirty="0">
                <a:solidFill>
                  <a:srgbClr val="1F2A3A"/>
                </a:solidFill>
                <a:latin typeface="Calibri" pitchFamily="34" charset="0"/>
                <a:ea typeface="Calibri" pitchFamily="34" charset="-122"/>
                <a:cs typeface="Calibri" pitchFamily="34" charset="-120"/>
              </a:rPr>
              <a:t>Protecting overseas</a:t>
            </a:r>
            <a:endParaRPr lang="en-US" sz="1150" dirty="0"/>
          </a:p>
        </p:txBody>
      </p:sp>
      <p:sp>
        <p:nvSpPr>
          <p:cNvPr id="35" name="Shape 33"/>
          <p:cNvSpPr/>
          <p:nvPr/>
        </p:nvSpPr>
        <p:spPr>
          <a:xfrm flipV="1">
            <a:off x="1709928" y="3401568"/>
            <a:ext cx="237744" cy="182880"/>
          </a:xfrm>
          <a:prstGeom prst="triangle">
            <a:avLst/>
          </a:prstGeom>
          <a:solidFill>
            <a:srgbClr val="4F7492"/>
          </a:solidFill>
          <a:ln/>
        </p:spPr>
      </p:sp>
      <p:sp>
        <p:nvSpPr>
          <p:cNvPr id="36" name="Shape 34"/>
          <p:cNvSpPr/>
          <p:nvPr/>
        </p:nvSpPr>
        <p:spPr>
          <a:xfrm flipV="1">
            <a:off x="4590288" y="3401568"/>
            <a:ext cx="237744" cy="182880"/>
          </a:xfrm>
          <a:prstGeom prst="triangle">
            <a:avLst/>
          </a:prstGeom>
          <a:solidFill>
            <a:srgbClr val="4F7492"/>
          </a:solidFill>
          <a:ln/>
        </p:spPr>
      </p:sp>
      <p:sp>
        <p:nvSpPr>
          <p:cNvPr id="37" name="Shape 35"/>
          <p:cNvSpPr/>
          <p:nvPr/>
        </p:nvSpPr>
        <p:spPr>
          <a:xfrm>
            <a:off x="502920" y="3675888"/>
            <a:ext cx="5532120" cy="960120"/>
          </a:xfrm>
          <a:prstGeom prst="roundRect">
            <a:avLst>
              <a:gd name="adj" fmla="val 8571"/>
            </a:avLst>
          </a:prstGeom>
          <a:solidFill>
            <a:srgbClr val="0C2442"/>
          </a:solidFill>
          <a:ln/>
        </p:spPr>
      </p:sp>
      <p:sp>
        <p:nvSpPr>
          <p:cNvPr id="38" name="Text 36"/>
          <p:cNvSpPr/>
          <p:nvPr/>
        </p:nvSpPr>
        <p:spPr>
          <a:xfrm>
            <a:off x="749808" y="3675888"/>
            <a:ext cx="5074920" cy="9601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BLENDED SHORTLIST  </a:t>
            </a:r>
            <a:pPr indent="0" marL="0">
              <a:buNone/>
            </a:pPr>
            <a:r>
              <a:rPr lang="en-US" sz="1100" dirty="0">
                <a:solidFill>
                  <a:srgbClr val="FFFFFF"/>
                </a:solidFill>
                <a:latin typeface="Calibri" pitchFamily="34" charset="0"/>
                <a:ea typeface="Calibri" pitchFamily="34" charset="-122"/>
                <a:cs typeface="Calibri" pitchFamily="34" charset="-120"/>
              </a:rPr>
              <a:t>— high on either list scores well; the meaning judge counts double; the source's importance nudges the total</a:t>
            </a:r>
            <a:endParaRPr lang="en-US" sz="1250" dirty="0"/>
          </a:p>
        </p:txBody>
      </p:sp>
      <p:sp>
        <p:nvSpPr>
          <p:cNvPr id="39" name="Text 37"/>
          <p:cNvSpPr/>
          <p:nvPr/>
        </p:nvSpPr>
        <p:spPr>
          <a:xfrm>
            <a:off x="548640" y="4892040"/>
            <a:ext cx="5486400" cy="1280160"/>
          </a:xfrm>
          <a:prstGeom prst="rect">
            <a:avLst/>
          </a:prstGeom>
          <a:noFill/>
          <a:ln/>
        </p:spPr>
        <p:txBody>
          <a:bodyPr wrap="square" lIns="0" tIns="0" rIns="0" bIns="0" rtlCol="0" anchor="t"/>
          <a:lstStyle/>
          <a:p>
            <a:pPr marL="177800" indent="-177800">
              <a:buSzPct val="100000"/>
              <a:buChar char="•"/>
            </a:pPr>
            <a:r>
              <a:rPr lang="en-US" sz="1200" b="1" dirty="0">
                <a:solidFill>
                  <a:srgbClr val="0C2442"/>
                </a:solidFill>
                <a:latin typeface="Calibri" pitchFamily="34" charset="0"/>
                <a:ea typeface="Calibri" pitchFamily="34" charset="-122"/>
                <a:cs typeface="Calibri" pitchFamily="34" charset="-120"/>
              </a:rPr>
              <a:t>Kept:  </a:t>
            </a:r>
            <a:pPr indent="0" marL="0">
              <a:spcAft>
                <a:spcPts val="800"/>
              </a:spcAft>
              <a:buNone/>
            </a:pPr>
            <a:r>
              <a:rPr lang="en-US" sz="1200" dirty="0">
                <a:solidFill>
                  <a:srgbClr val="1F2A3A"/>
                </a:solidFill>
                <a:latin typeface="Calibri" pitchFamily="34" charset="0"/>
                <a:ea typeface="Calibri" pitchFamily="34" charset="-122"/>
                <a:cs typeface="Calibri" pitchFamily="34" charset="-120"/>
              </a:rPr>
              <a:t>the top 5, plus anything above a quality floor.</a:t>
            </a:r>
            <a:endParaRPr lang="en-US" sz="1200" dirty="0"/>
          </a:p>
          <a:p>
            <a:pPr marL="177800" indent="-177800">
              <a:buSzPct val="100000"/>
              <a:buChar char="•"/>
            </a:pPr>
            <a:r>
              <a:rPr lang="en-US" sz="1200" b="1" dirty="0">
                <a:solidFill>
                  <a:srgbClr val="0C2442"/>
                </a:solidFill>
                <a:latin typeface="Calibri" pitchFamily="34" charset="0"/>
                <a:ea typeface="Calibri" pitchFamily="34" charset="-122"/>
                <a:cs typeface="Calibri" pitchFamily="34" charset="-120"/>
              </a:rPr>
              <a:t>Free pass:  </a:t>
            </a:r>
            <a:pPr indent="0" marL="0">
              <a:buNone/>
            </a:pPr>
            <a:r>
              <a:rPr lang="en-US" sz="1200" dirty="0">
                <a:solidFill>
                  <a:srgbClr val="1F2A3A"/>
                </a:solidFill>
                <a:latin typeface="Calibri" pitchFamily="34" charset="0"/>
                <a:ea typeface="Calibri" pitchFamily="34" charset="-122"/>
                <a:cs typeface="Calibri" pitchFamily="34" charset="-120"/>
              </a:rPr>
              <a:t>changes from critical sources (the IP Acts themselves) skip the queue — if a big amendment touches 20 pages, all 20 go through.</a:t>
            </a:r>
            <a:endParaRPr lang="en-US" sz="1200" dirty="0"/>
          </a:p>
        </p:txBody>
      </p:sp>
      <p:sp>
        <p:nvSpPr>
          <p:cNvPr id="40" name="Shape 38"/>
          <p:cNvSpPr/>
          <p:nvPr/>
        </p:nvSpPr>
        <p:spPr>
          <a:xfrm>
            <a:off x="6400800" y="1298448"/>
            <a:ext cx="5285232" cy="3749040"/>
          </a:xfrm>
          <a:prstGeom prst="roundRect">
            <a:avLst>
              <a:gd name="adj" fmla="val 2195"/>
            </a:avLst>
          </a:prstGeom>
          <a:solidFill>
            <a:srgbClr val="EEF2F7"/>
          </a:solidFill>
          <a:ln/>
        </p:spPr>
      </p:sp>
      <p:sp>
        <p:nvSpPr>
          <p:cNvPr id="41" name="Shape 39"/>
          <p:cNvSpPr/>
          <p:nvPr/>
        </p:nvSpPr>
        <p:spPr>
          <a:xfrm>
            <a:off x="6656832" y="1517904"/>
            <a:ext cx="365760" cy="365760"/>
          </a:xfrm>
          <a:prstGeom prst="roundRect">
            <a:avLst>
              <a:gd name="adj" fmla="val 11250"/>
            </a:avLst>
          </a:prstGeom>
          <a:solidFill>
            <a:srgbClr val="0C2442"/>
          </a:solidFill>
          <a:ln/>
        </p:spPr>
      </p:sp>
      <p:sp>
        <p:nvSpPr>
          <p:cNvPr id="42" name="Text 40"/>
          <p:cNvSpPr/>
          <p:nvPr/>
        </p:nvSpPr>
        <p:spPr>
          <a:xfrm>
            <a:off x="6601968" y="1517904"/>
            <a:ext cx="4754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43" name="Text 41"/>
          <p:cNvSpPr/>
          <p:nvPr/>
        </p:nvSpPr>
        <p:spPr>
          <a:xfrm>
            <a:off x="7178040" y="1499616"/>
            <a:ext cx="4389120" cy="274320"/>
          </a:xfrm>
          <a:prstGeom prst="rect">
            <a:avLst/>
          </a:prstGeom>
          <a:noFill/>
          <a:ln/>
        </p:spPr>
        <p:txBody>
          <a:bodyPr wrap="square" lIns="0" tIns="0" rIns="0" bIns="0" rtlCol="0" anchor="ctr"/>
          <a:lstStyle/>
          <a:p>
            <a:pPr indent="0" marL="0">
              <a:buNone/>
            </a:pPr>
            <a:r>
              <a:rPr lang="en-US" sz="1250" b="1" dirty="0">
                <a:solidFill>
                  <a:srgbClr val="0C2442"/>
                </a:solidFill>
                <a:latin typeface="Arial" pitchFamily="34" charset="0"/>
                <a:ea typeface="Arial" pitchFamily="34" charset="-122"/>
                <a:cs typeface="Arial" pitchFamily="34" charset="-120"/>
              </a:rPr>
              <a:t>THEN ZOOM IN, SECTION BY SECTION</a:t>
            </a:r>
            <a:endParaRPr lang="en-US" sz="1250" dirty="0"/>
          </a:p>
        </p:txBody>
      </p:sp>
      <p:sp>
        <p:nvSpPr>
          <p:cNvPr id="44" name="Text 42"/>
          <p:cNvSpPr/>
          <p:nvPr/>
        </p:nvSpPr>
        <p:spPr>
          <a:xfrm>
            <a:off x="7178040" y="1773936"/>
            <a:ext cx="4389120" cy="274320"/>
          </a:xfrm>
          <a:prstGeom prst="rect">
            <a:avLst/>
          </a:prstGeom>
          <a:noFill/>
          <a:ln/>
        </p:spPr>
        <p:txBody>
          <a:bodyPr wrap="square" lIns="0" tIns="0" rIns="0" bIns="0" rtlCol="0" anchor="ctr"/>
          <a:lstStyle/>
          <a:p>
            <a:pPr indent="0" marL="0">
              <a:buNone/>
            </a:pPr>
            <a:r>
              <a:rPr lang="en-US" sz="1150" i="1" dirty="0">
                <a:solidFill>
                  <a:srgbClr val="4F7492"/>
                </a:solidFill>
                <a:latin typeface="Calibri" pitchFamily="34" charset="0"/>
                <a:ea typeface="Calibri" pitchFamily="34" charset="-122"/>
                <a:cs typeface="Calibri" pitchFamily="34" charset="-120"/>
              </a:rPr>
              <a:t>the change's passages vs all 1,164 stored passages</a:t>
            </a:r>
            <a:endParaRPr lang="en-US" sz="1150" dirty="0"/>
          </a:p>
        </p:txBody>
      </p:sp>
      <p:sp>
        <p:nvSpPr>
          <p:cNvPr id="45" name="Text 43"/>
          <p:cNvSpPr/>
          <p:nvPr/>
        </p:nvSpPr>
        <p:spPr>
          <a:xfrm>
            <a:off x="6675120" y="2212848"/>
            <a:ext cx="4754880" cy="36576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A page stays on the shortlist only if, on the meaning map:</a:t>
            </a:r>
            <a:endParaRPr lang="en-US" sz="1250" dirty="0"/>
          </a:p>
        </p:txBody>
      </p:sp>
      <p:sp>
        <p:nvSpPr>
          <p:cNvPr id="46" name="Shape 44"/>
          <p:cNvSpPr/>
          <p:nvPr/>
        </p:nvSpPr>
        <p:spPr>
          <a:xfrm>
            <a:off x="6675120" y="2633472"/>
            <a:ext cx="4754880" cy="914400"/>
          </a:xfrm>
          <a:prstGeom prst="roundRect">
            <a:avLst>
              <a:gd name="adj" fmla="val 9000"/>
            </a:avLst>
          </a:prstGeom>
          <a:solidFill>
            <a:srgbClr val="FFFFFF"/>
          </a:solidFill>
          <a:ln w="12700">
            <a:solidFill>
              <a:srgbClr val="C9D6E2"/>
            </a:solidFill>
            <a:prstDash val="solid"/>
          </a:ln>
        </p:spPr>
      </p:sp>
      <p:sp>
        <p:nvSpPr>
          <p:cNvPr id="47" name="Text 45"/>
          <p:cNvSpPr/>
          <p:nvPr/>
        </p:nvSpPr>
        <p:spPr>
          <a:xfrm>
            <a:off x="6858000" y="2633472"/>
            <a:ext cx="4434840" cy="914400"/>
          </a:xfrm>
          <a:prstGeom prst="rect">
            <a:avLst/>
          </a:prstGeom>
          <a:noFill/>
          <a:ln/>
        </p:spPr>
        <p:txBody>
          <a:bodyPr wrap="square" lIns="0" tIns="0" rIns="0" bIns="0" rtlCol="0" anchor="ctr"/>
          <a:lstStyle/>
          <a:p>
            <a:pPr indent="0" marL="0">
              <a:buNone/>
            </a:pPr>
            <a:r>
              <a:rPr lang="en-US" sz="1200" b="1" dirty="0">
                <a:solidFill>
                  <a:srgbClr val="0C2442"/>
                </a:solidFill>
                <a:latin typeface="Calibri" pitchFamily="34" charset="0"/>
                <a:ea typeface="Calibri" pitchFamily="34" charset="-122"/>
                <a:cs typeface="Calibri" pitchFamily="34" charset="-120"/>
              </a:rPr>
              <a:t>one section matches strongly</a:t>
            </a:r>
            <a:pPr indent="0" marL="0">
              <a:buNone/>
            </a:pPr>
            <a:r>
              <a:rPr lang="en-US" sz="1200" dirty="0">
                <a:solidFill>
                  <a:srgbClr val="1F2A3A"/>
                </a:solidFill>
                <a:latin typeface="Calibri" pitchFamily="34" charset="0"/>
                <a:ea typeface="Calibri" pitchFamily="34" charset="-122"/>
                <a:cs typeface="Calibri" pitchFamily="34" charset="-120"/>
              </a:rPr>
              <a:t>  — similarity ≥ 0.75 out of 1.0 (“clearly the same subject”)</a:t>
            </a:r>
            <a:endParaRPr lang="en-US" sz="1200" dirty="0"/>
          </a:p>
        </p:txBody>
      </p:sp>
      <p:sp>
        <p:nvSpPr>
          <p:cNvPr id="48" name="Text 46"/>
          <p:cNvSpPr/>
          <p:nvPr/>
        </p:nvSpPr>
        <p:spPr>
          <a:xfrm>
            <a:off x="6675120" y="3584448"/>
            <a:ext cx="4754880" cy="274320"/>
          </a:xfrm>
          <a:prstGeom prst="rect">
            <a:avLst/>
          </a:prstGeom>
          <a:noFill/>
          <a:ln/>
        </p:spPr>
        <p:txBody>
          <a:bodyPr wrap="square" lIns="0" tIns="0" rIns="0" bIns="0" rtlCol="0" anchor="ctr"/>
          <a:lstStyle/>
          <a:p>
            <a:pPr algn="ctr" indent="0" marL="0">
              <a:buNone/>
            </a:pPr>
            <a:r>
              <a:rPr lang="en-US" sz="1100" i="1" dirty="0">
                <a:solidFill>
                  <a:srgbClr val="5E6B7A"/>
                </a:solidFill>
                <a:latin typeface="Calibri" pitchFamily="34" charset="0"/>
                <a:ea typeface="Calibri" pitchFamily="34" charset="-122"/>
                <a:cs typeface="Calibri" pitchFamily="34" charset="-120"/>
              </a:rPr>
              <a:t>— or —</a:t>
            </a:r>
            <a:endParaRPr lang="en-US" sz="1100" dirty="0"/>
          </a:p>
        </p:txBody>
      </p:sp>
      <p:sp>
        <p:nvSpPr>
          <p:cNvPr id="49" name="Shape 47"/>
          <p:cNvSpPr/>
          <p:nvPr/>
        </p:nvSpPr>
        <p:spPr>
          <a:xfrm>
            <a:off x="6675120" y="3877056"/>
            <a:ext cx="4754880" cy="914400"/>
          </a:xfrm>
          <a:prstGeom prst="roundRect">
            <a:avLst>
              <a:gd name="adj" fmla="val 9000"/>
            </a:avLst>
          </a:prstGeom>
          <a:solidFill>
            <a:srgbClr val="FFFFFF"/>
          </a:solidFill>
          <a:ln w="12700">
            <a:solidFill>
              <a:srgbClr val="C9D6E2"/>
            </a:solidFill>
            <a:prstDash val="solid"/>
          </a:ln>
        </p:spPr>
      </p:sp>
      <p:sp>
        <p:nvSpPr>
          <p:cNvPr id="50" name="Text 48"/>
          <p:cNvSpPr/>
          <p:nvPr/>
        </p:nvSpPr>
        <p:spPr>
          <a:xfrm>
            <a:off x="6858000" y="3877056"/>
            <a:ext cx="4434840" cy="914400"/>
          </a:xfrm>
          <a:prstGeom prst="rect">
            <a:avLst/>
          </a:prstGeom>
          <a:noFill/>
          <a:ln/>
        </p:spPr>
        <p:txBody>
          <a:bodyPr wrap="square" lIns="0" tIns="0" rIns="0" bIns="0" rtlCol="0" anchor="ctr"/>
          <a:lstStyle/>
          <a:p>
            <a:pPr indent="0" marL="0">
              <a:buNone/>
            </a:pPr>
            <a:r>
              <a:rPr lang="en-US" sz="1200" b="1" dirty="0">
                <a:solidFill>
                  <a:srgbClr val="0C2442"/>
                </a:solidFill>
                <a:latin typeface="Calibri" pitchFamily="34" charset="0"/>
                <a:ea typeface="Calibri" pitchFamily="34" charset="-122"/>
                <a:cs typeface="Calibri" pitchFamily="34" charset="-120"/>
              </a:rPr>
              <a:t>several sections match moderately</a:t>
            </a:r>
            <a:pPr indent="0" marL="0">
              <a:buNone/>
            </a:pPr>
            <a:r>
              <a:rPr lang="en-US" sz="1200" dirty="0">
                <a:solidFill>
                  <a:srgbClr val="1F2A3A"/>
                </a:solidFill>
                <a:latin typeface="Calibri" pitchFamily="34" charset="0"/>
                <a:ea typeface="Calibri" pitchFamily="34" charset="-122"/>
                <a:cs typeface="Calibri" pitchFamily="34" charset="-120"/>
              </a:rPr>
              <a:t>  — 3 or more at ≥ 0.45 (“broadly about the same territory”)</a:t>
            </a:r>
            <a:endParaRPr lang="en-US" sz="1200" dirty="0"/>
          </a:p>
        </p:txBody>
      </p:sp>
      <p:sp>
        <p:nvSpPr>
          <p:cNvPr id="51" name="Text 49"/>
          <p:cNvSpPr/>
          <p:nvPr/>
        </p:nvSpPr>
        <p:spPr>
          <a:xfrm>
            <a:off x="6400800" y="5257800"/>
            <a:ext cx="5285232" cy="685800"/>
          </a:xfrm>
          <a:prstGeom prst="rect">
            <a:avLst/>
          </a:prstGeom>
          <a:noFill/>
          <a:ln/>
        </p:spPr>
        <p:txBody>
          <a:bodyPr wrap="square" lIns="0" tIns="0" rIns="0" bIns="0" rtlCol="0" anchor="ctr"/>
          <a:lstStyle/>
          <a:p>
            <a:pPr indent="0" marL="0">
              <a:buNone/>
            </a:pPr>
            <a:r>
              <a:rPr lang="en-US" sz="1200" i="1" dirty="0">
                <a:solidFill>
                  <a:srgbClr val="5E6B7A"/>
                </a:solidFill>
                <a:latin typeface="Calibri" pitchFamily="34" charset="0"/>
                <a:ea typeface="Calibri" pitchFamily="34" charset="-122"/>
                <a:cs typeface="Calibri" pitchFamily="34" charset="-120"/>
              </a:rPr>
              <a:t>Every score is logged, so any morning's shortlist can be reconstructed and challenged after the fact.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GATE 6</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A slower reader double-checks — then warns the neighbours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8918143" y="310896"/>
            <a:ext cx="246888" cy="246888"/>
          </a:xfrm>
          <a:prstGeom prst="roundRect">
            <a:avLst>
              <a:gd name="adj" fmla="val 16667"/>
            </a:avLst>
          </a:prstGeom>
          <a:solidFill>
            <a:srgbClr val="E3EAF2"/>
          </a:solidFill>
          <a:ln w="9525">
            <a:solidFill>
              <a:srgbClr val="C9D6E2"/>
            </a:solidFill>
            <a:prstDash val="solid"/>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E3EAF2"/>
          </a:solidFill>
          <a:ln w="9525">
            <a:solidFill>
              <a:srgbClr val="C9D6E2"/>
            </a:solidFill>
            <a:prstDash val="solid"/>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E3EAF2"/>
          </a:solidFill>
          <a:ln w="9525">
            <a:solidFill>
              <a:srgbClr val="C9D6E2"/>
            </a:solidFill>
            <a:prstDash val="solid"/>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E3EAF2"/>
          </a:solidFill>
          <a:ln w="9525">
            <a:solidFill>
              <a:srgbClr val="C9D6E2"/>
            </a:solidFill>
            <a:prstDash val="solid"/>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E3EAF2"/>
          </a:solidFill>
          <a:ln w="9525">
            <a:solidFill>
              <a:srgbClr val="C9D6E2"/>
            </a:solidFill>
            <a:prstDash val="solid"/>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0C2442"/>
          </a:solidFill>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E3EAF2"/>
          </a:solidFill>
          <a:ln w="9525">
            <a:solidFill>
              <a:srgbClr val="C9D6E2"/>
            </a:solidFill>
            <a:prstDash val="solid"/>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3EAF2"/>
          </a:solidFill>
          <a:ln w="9525">
            <a:solidFill>
              <a:srgbClr val="C9D6E2"/>
            </a:solidFill>
            <a:prstDash val="solid"/>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E3EAF2"/>
          </a:solidFill>
          <a:ln w="9525">
            <a:solidFill>
              <a:srgbClr val="C9D6E2"/>
            </a:solidFill>
            <a:prstDash val="solid"/>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298448"/>
            <a:ext cx="5394960" cy="2286000"/>
          </a:xfrm>
          <a:prstGeom prst="roundRect">
            <a:avLst>
              <a:gd name="adj" fmla="val 3600"/>
            </a:avLst>
          </a:prstGeom>
          <a:solidFill>
            <a:srgbClr val="EEF2F7"/>
          </a:solidFill>
          <a:ln/>
        </p:spPr>
      </p:sp>
      <p:sp>
        <p:nvSpPr>
          <p:cNvPr id="24" name="Shape 22"/>
          <p:cNvSpPr/>
          <p:nvPr/>
        </p:nvSpPr>
        <p:spPr>
          <a:xfrm>
            <a:off x="777240" y="1536192"/>
            <a:ext cx="420624" cy="420624"/>
          </a:xfrm>
          <a:prstGeom prst="ellipse">
            <a:avLst/>
          </a:prstGeom>
          <a:solidFill>
            <a:srgbClr val="4F7492"/>
          </a:solidFill>
          <a:ln/>
        </p:spPr>
      </p:sp>
      <p:pic>
        <p:nvPicPr>
          <p:cNvPr id="25" name="Image 0" descr="preencoded.png">    </p:cNvPr>
          <p:cNvPicPr>
            <a:picLocks noChangeAspect="1"/>
          </p:cNvPicPr>
          <p:nvPr/>
        </p:nvPicPr>
        <p:blipFill>
          <a:blip r:embed="rId1"/>
          <a:stretch>
            <a:fillRect/>
          </a:stretch>
        </p:blipFill>
        <p:spPr>
          <a:xfrm>
            <a:off x="886602" y="1645554"/>
            <a:ext cx="201900" cy="201900"/>
          </a:xfrm>
          <a:prstGeom prst="rect">
            <a:avLst/>
          </a:prstGeom>
        </p:spPr>
      </p:pic>
      <p:sp>
        <p:nvSpPr>
          <p:cNvPr id="26" name="Text 23"/>
          <p:cNvSpPr/>
          <p:nvPr/>
        </p:nvSpPr>
        <p:spPr>
          <a:xfrm>
            <a:off x="1353312" y="1463040"/>
            <a:ext cx="4434840" cy="1005840"/>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The fast reader (used so far)</a:t>
            </a:r>
            <a:endParaRPr lang="en-US" sz="1250" dirty="0"/>
          </a:p>
          <a:p>
            <a:pPr indent="0" marL="0">
              <a:buNone/>
            </a:pPr>
            <a:r>
              <a:rPr lang="en-US" sz="1150" dirty="0">
                <a:solidFill>
                  <a:srgbClr val="1F2A3A"/>
                </a:solidFill>
                <a:latin typeface="Calibri" pitchFamily="34" charset="0"/>
                <a:ea typeface="Calibri" pitchFamily="34" charset="-122"/>
                <a:cs typeface="Calibri" pitchFamily="34" charset="-120"/>
              </a:rPr>
              <a:t>compares two book reports written separately — coordinates made independently, then measured. Quick enough for millions of comparisons; approximate by design.</a:t>
            </a:r>
            <a:endParaRPr lang="en-US" sz="1250" dirty="0"/>
          </a:p>
        </p:txBody>
      </p:sp>
      <p:sp>
        <p:nvSpPr>
          <p:cNvPr id="27" name="Shape 24"/>
          <p:cNvSpPr/>
          <p:nvPr/>
        </p:nvSpPr>
        <p:spPr>
          <a:xfrm>
            <a:off x="777240" y="2697480"/>
            <a:ext cx="420624" cy="420624"/>
          </a:xfrm>
          <a:prstGeom prst="ellipse">
            <a:avLst/>
          </a:prstGeom>
          <a:solidFill>
            <a:srgbClr val="0C2442"/>
          </a:solidFill>
          <a:ln/>
        </p:spPr>
      </p:sp>
      <p:pic>
        <p:nvPicPr>
          <p:cNvPr id="28" name="Image 1" descr="preencoded.png">    </p:cNvPr>
          <p:cNvPicPr>
            <a:picLocks noChangeAspect="1"/>
          </p:cNvPicPr>
          <p:nvPr/>
        </p:nvPicPr>
        <p:blipFill>
          <a:blip r:embed="rId2"/>
          <a:stretch>
            <a:fillRect/>
          </a:stretch>
        </p:blipFill>
        <p:spPr>
          <a:xfrm>
            <a:off x="886602" y="2806842"/>
            <a:ext cx="201900" cy="201900"/>
          </a:xfrm>
          <a:prstGeom prst="rect">
            <a:avLst/>
          </a:prstGeom>
        </p:spPr>
      </p:pic>
      <p:sp>
        <p:nvSpPr>
          <p:cNvPr id="29" name="Text 25"/>
          <p:cNvSpPr/>
          <p:nvPr/>
        </p:nvSpPr>
        <p:spPr>
          <a:xfrm>
            <a:off x="1353312" y="2633472"/>
            <a:ext cx="4434840" cy="1005840"/>
          </a:xfrm>
          <a:prstGeom prst="rect">
            <a:avLst/>
          </a:prstGeom>
          <a:noFill/>
          <a:ln/>
        </p:spPr>
        <p:txBody>
          <a:bodyPr wrap="square" lIns="0" tIns="0" rIns="0" bIns="0" rtlCol="0" anchor="ctr"/>
          <a:lstStyle/>
          <a:p>
            <a:pPr indent="0" marL="0">
              <a:buNone/>
            </a:pPr>
            <a:r>
              <a:rPr lang="en-US" sz="1250" b="1" dirty="0">
                <a:solidFill>
                  <a:srgbClr val="0C2442"/>
                </a:solidFill>
                <a:latin typeface="Calibri" pitchFamily="34" charset="0"/>
                <a:ea typeface="Calibri" pitchFamily="34" charset="-122"/>
                <a:cs typeface="Calibri" pitchFamily="34" charset="-120"/>
              </a:rPr>
              <a:t>The careful reader (now)</a:t>
            </a:r>
            <a:endParaRPr lang="en-US" sz="1250" dirty="0"/>
          </a:p>
          <a:p>
            <a:pPr indent="0" marL="0">
              <a:buNone/>
            </a:pPr>
            <a:r>
              <a:rPr lang="en-US" sz="1150" dirty="0">
                <a:solidFill>
                  <a:srgbClr val="1F2A3A"/>
                </a:solidFill>
                <a:latin typeface="Calibri" pitchFamily="34" charset="0"/>
                <a:ea typeface="Calibri" pitchFamily="34" charset="-122"/>
                <a:cs typeface="Calibri" pitchFamily="34" charset="-120"/>
              </a:rPr>
              <a:t>puts both texts on the same desk and reads them together, weighing every line of one against every line of the other. Far sharper — and affordable, because only ~5 finalists remain.</a:t>
            </a:r>
            <a:endParaRPr lang="en-US" sz="1250" dirty="0"/>
          </a:p>
        </p:txBody>
      </p:sp>
      <p:sp>
        <p:nvSpPr>
          <p:cNvPr id="30" name="Shape 26"/>
          <p:cNvSpPr/>
          <p:nvPr/>
        </p:nvSpPr>
        <p:spPr>
          <a:xfrm>
            <a:off x="502920" y="3749040"/>
            <a:ext cx="5394960" cy="685800"/>
          </a:xfrm>
          <a:prstGeom prst="roundRect">
            <a:avLst>
              <a:gd name="adj" fmla="val 12000"/>
            </a:avLst>
          </a:prstGeom>
          <a:solidFill>
            <a:srgbClr val="FFFFFF"/>
          </a:solidFill>
          <a:ln w="12700">
            <a:solidFill>
              <a:srgbClr val="C9D6E2"/>
            </a:solidFill>
            <a:prstDash val="solid"/>
          </a:ln>
        </p:spPr>
      </p:sp>
      <p:sp>
        <p:nvSpPr>
          <p:cNvPr id="31" name="Text 27"/>
          <p:cNvSpPr/>
          <p:nvPr/>
        </p:nvSpPr>
        <p:spPr>
          <a:xfrm>
            <a:off x="777240" y="3749040"/>
            <a:ext cx="4937760" cy="685800"/>
          </a:xfrm>
          <a:prstGeom prst="rect">
            <a:avLst/>
          </a:prstGeom>
          <a:noFill/>
          <a:ln/>
        </p:spPr>
        <p:txBody>
          <a:bodyPr wrap="square" lIns="0" tIns="0" rIns="0" bIns="0" rtlCol="0" anchor="ctr"/>
          <a:lstStyle/>
          <a:p>
            <a:pPr indent="0" marL="0">
              <a:buNone/>
            </a:pPr>
            <a:r>
              <a:rPr lang="en-US" sz="1200" b="1" dirty="0">
                <a:solidFill>
                  <a:srgbClr val="0C2442"/>
                </a:solidFill>
                <a:latin typeface="Calibri" pitchFamily="34" charset="0"/>
                <a:ea typeface="Calibri" pitchFamily="34" charset="-122"/>
                <a:cs typeface="Calibri" pitchFamily="34" charset="-120"/>
              </a:rPr>
              <a:t>Verdict:  </a:t>
            </a:r>
            <a:pPr indent="0" marL="0">
              <a:buNone/>
            </a:pPr>
            <a:r>
              <a:rPr lang="en-US" sz="1200" dirty="0">
                <a:solidFill>
                  <a:srgbClr val="1F2A3A"/>
                </a:solidFill>
                <a:latin typeface="Calibri" pitchFamily="34" charset="0"/>
                <a:ea typeface="Calibri" pitchFamily="34" charset="-122"/>
                <a:cs typeface="Calibri" pitchFamily="34" charset="-120"/>
              </a:rPr>
              <a:t>pages scoring ≥ 0.60 out of 1.0 with the careful reader go forward; the rest are logged and dropped.</a:t>
            </a:r>
            <a:endParaRPr lang="en-US" sz="1200" dirty="0"/>
          </a:p>
        </p:txBody>
      </p:sp>
      <p:sp>
        <p:nvSpPr>
          <p:cNvPr id="32" name="Text 28"/>
          <p:cNvSpPr/>
          <p:nvPr/>
        </p:nvSpPr>
        <p:spPr>
          <a:xfrm>
            <a:off x="502920" y="4617720"/>
            <a:ext cx="5394960" cy="640080"/>
          </a:xfrm>
          <a:prstGeom prst="rect">
            <a:avLst/>
          </a:prstGeom>
          <a:noFill/>
          <a:ln/>
        </p:spPr>
        <p:txBody>
          <a:bodyPr wrap="square" lIns="0" tIns="0" rIns="0" bIns="0" rtlCol="0" anchor="ctr"/>
          <a:lstStyle/>
          <a:p>
            <a:pPr indent="0" marL="0">
              <a:buNone/>
            </a:pPr>
            <a:r>
              <a:rPr lang="en-US" sz="1250" i="1" dirty="0">
                <a:solidFill>
                  <a:srgbClr val="5E6B7A"/>
                </a:solidFill>
                <a:latin typeface="Calibri" pitchFamily="34" charset="0"/>
                <a:ea typeface="Calibri" pitchFamily="34" charset="-122"/>
                <a:cs typeface="Calibri" pitchFamily="34" charset="-120"/>
              </a:rPr>
              <a:t>Same trade everywhere in the funnel: cheap-and-rough on everything, expensive-and-sharp on survivors only.</a:t>
            </a:r>
            <a:endParaRPr lang="en-US" sz="1250" dirty="0"/>
          </a:p>
        </p:txBody>
      </p:sp>
      <p:sp>
        <p:nvSpPr>
          <p:cNvPr id="33" name="Shape 29"/>
          <p:cNvSpPr/>
          <p:nvPr/>
        </p:nvSpPr>
        <p:spPr>
          <a:xfrm>
            <a:off x="6382512" y="1298448"/>
            <a:ext cx="5303520" cy="3977640"/>
          </a:xfrm>
          <a:prstGeom prst="roundRect">
            <a:avLst>
              <a:gd name="adj" fmla="val 2069"/>
            </a:avLst>
          </a:prstGeom>
          <a:solidFill>
            <a:srgbClr val="EEF2F7"/>
          </a:solidFill>
          <a:ln/>
        </p:spPr>
      </p:sp>
      <p:sp>
        <p:nvSpPr>
          <p:cNvPr id="34" name="Text 30"/>
          <p:cNvSpPr/>
          <p:nvPr/>
        </p:nvSpPr>
        <p:spPr>
          <a:xfrm>
            <a:off x="6629400" y="1444752"/>
            <a:ext cx="4846320" cy="274320"/>
          </a:xfrm>
          <a:prstGeom prst="rect">
            <a:avLst/>
          </a:prstGeom>
          <a:noFill/>
          <a:ln/>
        </p:spPr>
        <p:txBody>
          <a:bodyPr wrap="square" lIns="0" tIns="0" rIns="0" bIns="0" rtlCol="0" anchor="ctr"/>
          <a:lstStyle/>
          <a:p>
            <a:pPr indent="0" marL="0">
              <a:buNone/>
            </a:pPr>
            <a:r>
              <a:rPr lang="en-US" sz="1150" b="1" spc="100" kern="0" dirty="0">
                <a:solidFill>
                  <a:srgbClr val="0C2442"/>
                </a:solidFill>
                <a:latin typeface="Arial" pitchFamily="34" charset="0"/>
                <a:ea typeface="Arial" pitchFamily="34" charset="-122"/>
                <a:cs typeface="Arial" pitchFamily="34" charset="-120"/>
              </a:rPr>
              <a:t>THE RIPPLE — WARNING THE NEIGHBOURS</a:t>
            </a:r>
            <a:endParaRPr lang="en-US" sz="1150" dirty="0"/>
          </a:p>
        </p:txBody>
      </p:sp>
      <p:sp>
        <p:nvSpPr>
          <p:cNvPr id="35" name="Shape 31"/>
          <p:cNvSpPr/>
          <p:nvPr/>
        </p:nvSpPr>
        <p:spPr>
          <a:xfrm flipV="1">
            <a:off x="7324344" y="2286000"/>
            <a:ext cx="1453896" cy="512064"/>
          </a:xfrm>
          <a:prstGeom prst="line">
            <a:avLst/>
          </a:prstGeom>
          <a:noFill/>
          <a:ln w="19050">
            <a:solidFill>
              <a:srgbClr val="4F7492"/>
            </a:solidFill>
            <a:prstDash val="dash"/>
          </a:ln>
        </p:spPr>
      </p:sp>
      <p:sp>
        <p:nvSpPr>
          <p:cNvPr id="36" name="Shape 32"/>
          <p:cNvSpPr/>
          <p:nvPr/>
        </p:nvSpPr>
        <p:spPr>
          <a:xfrm>
            <a:off x="7324344" y="2798064"/>
            <a:ext cx="1316736" cy="768096"/>
          </a:xfrm>
          <a:prstGeom prst="line">
            <a:avLst/>
          </a:prstGeom>
          <a:noFill/>
          <a:ln w="19050">
            <a:solidFill>
              <a:srgbClr val="4F7492"/>
            </a:solidFill>
            <a:prstDash val="dash"/>
          </a:ln>
        </p:spPr>
      </p:sp>
      <p:sp>
        <p:nvSpPr>
          <p:cNvPr id="37" name="Shape 33"/>
          <p:cNvSpPr/>
          <p:nvPr/>
        </p:nvSpPr>
        <p:spPr>
          <a:xfrm>
            <a:off x="8778240" y="2286000"/>
            <a:ext cx="1344168" cy="384048"/>
          </a:xfrm>
          <a:prstGeom prst="line">
            <a:avLst/>
          </a:prstGeom>
          <a:noFill/>
          <a:ln w="19050">
            <a:solidFill>
              <a:srgbClr val="4F7492"/>
            </a:solidFill>
            <a:prstDash val="dash"/>
          </a:ln>
        </p:spPr>
      </p:sp>
      <p:sp>
        <p:nvSpPr>
          <p:cNvPr id="38" name="Shape 34"/>
          <p:cNvSpPr/>
          <p:nvPr/>
        </p:nvSpPr>
        <p:spPr>
          <a:xfrm>
            <a:off x="10122408" y="2670048"/>
            <a:ext cx="1069848" cy="566928"/>
          </a:xfrm>
          <a:prstGeom prst="line">
            <a:avLst/>
          </a:prstGeom>
          <a:noFill/>
          <a:ln w="19050">
            <a:solidFill>
              <a:srgbClr val="4F7492"/>
            </a:solidFill>
            <a:prstDash val="dash"/>
          </a:ln>
        </p:spPr>
      </p:sp>
      <p:sp>
        <p:nvSpPr>
          <p:cNvPr id="39" name="Shape 35"/>
          <p:cNvSpPr/>
          <p:nvPr/>
        </p:nvSpPr>
        <p:spPr>
          <a:xfrm>
            <a:off x="7040880" y="2514600"/>
            <a:ext cx="566928" cy="566928"/>
          </a:xfrm>
          <a:prstGeom prst="ellipse">
            <a:avLst/>
          </a:prstGeom>
          <a:solidFill>
            <a:srgbClr val="C94F4A"/>
          </a:solidFill>
          <a:ln w="19050">
            <a:solidFill>
              <a:srgbClr val="FFFFFF"/>
            </a:solidFill>
            <a:prstDash val="solid"/>
          </a:ln>
        </p:spPr>
      </p:sp>
      <p:sp>
        <p:nvSpPr>
          <p:cNvPr id="40" name="Shape 36"/>
          <p:cNvSpPr/>
          <p:nvPr/>
        </p:nvSpPr>
        <p:spPr>
          <a:xfrm>
            <a:off x="8549640" y="2057400"/>
            <a:ext cx="457200" cy="457200"/>
          </a:xfrm>
          <a:prstGeom prst="ellipse">
            <a:avLst/>
          </a:prstGeom>
          <a:solidFill>
            <a:srgbClr val="2D4C6A"/>
          </a:solidFill>
          <a:ln w="19050">
            <a:solidFill>
              <a:srgbClr val="FFFFFF"/>
            </a:solidFill>
            <a:prstDash val="solid"/>
          </a:ln>
        </p:spPr>
      </p:sp>
      <p:sp>
        <p:nvSpPr>
          <p:cNvPr id="41" name="Shape 37"/>
          <p:cNvSpPr/>
          <p:nvPr/>
        </p:nvSpPr>
        <p:spPr>
          <a:xfrm>
            <a:off x="8412480" y="3337560"/>
            <a:ext cx="457200" cy="457200"/>
          </a:xfrm>
          <a:prstGeom prst="ellipse">
            <a:avLst/>
          </a:prstGeom>
          <a:solidFill>
            <a:srgbClr val="2D4C6A"/>
          </a:solidFill>
          <a:ln w="19050">
            <a:solidFill>
              <a:srgbClr val="FFFFFF"/>
            </a:solidFill>
            <a:prstDash val="solid"/>
          </a:ln>
        </p:spPr>
      </p:sp>
      <p:sp>
        <p:nvSpPr>
          <p:cNvPr id="42" name="Shape 38"/>
          <p:cNvSpPr/>
          <p:nvPr/>
        </p:nvSpPr>
        <p:spPr>
          <a:xfrm>
            <a:off x="9921240" y="2468880"/>
            <a:ext cx="402336" cy="402336"/>
          </a:xfrm>
          <a:prstGeom prst="ellipse">
            <a:avLst/>
          </a:prstGeom>
          <a:solidFill>
            <a:srgbClr val="4F7492"/>
          </a:solidFill>
          <a:ln w="19050">
            <a:solidFill>
              <a:srgbClr val="FFFFFF"/>
            </a:solidFill>
            <a:prstDash val="solid"/>
          </a:ln>
        </p:spPr>
      </p:sp>
      <p:sp>
        <p:nvSpPr>
          <p:cNvPr id="43" name="Shape 39"/>
          <p:cNvSpPr/>
          <p:nvPr/>
        </p:nvSpPr>
        <p:spPr>
          <a:xfrm>
            <a:off x="11018520" y="3063240"/>
            <a:ext cx="347472" cy="347472"/>
          </a:xfrm>
          <a:prstGeom prst="ellipse">
            <a:avLst/>
          </a:prstGeom>
          <a:solidFill>
            <a:srgbClr val="8FA6BC"/>
          </a:solidFill>
          <a:ln w="19050">
            <a:solidFill>
              <a:srgbClr val="FFFFFF"/>
            </a:solidFill>
            <a:prstDash val="solid"/>
          </a:ln>
        </p:spPr>
      </p:sp>
      <p:sp>
        <p:nvSpPr>
          <p:cNvPr id="44" name="Text 40"/>
          <p:cNvSpPr/>
          <p:nvPr/>
        </p:nvSpPr>
        <p:spPr>
          <a:xfrm>
            <a:off x="6720840" y="3081528"/>
            <a:ext cx="1188720" cy="457200"/>
          </a:xfrm>
          <a:prstGeom prst="rect">
            <a:avLst/>
          </a:prstGeom>
          <a:noFill/>
          <a:ln/>
        </p:spPr>
        <p:txBody>
          <a:bodyPr wrap="square" lIns="0" tIns="0" rIns="0" bIns="0" rtlCol="0" anchor="ctr"/>
          <a:lstStyle/>
          <a:p>
            <a:pPr algn="ctr" indent="0" marL="0">
              <a:buNone/>
            </a:pPr>
            <a:r>
              <a:rPr lang="en-US" sz="950" b="1" dirty="0">
                <a:solidFill>
                  <a:srgbClr val="C94F4A"/>
                </a:solidFill>
                <a:latin typeface="Calibri" pitchFamily="34" charset="0"/>
                <a:ea typeface="Calibri" pitchFamily="34" charset="-122"/>
                <a:cs typeface="Calibri" pitchFamily="34" charset="-120"/>
              </a:rPr>
              <a:t>confirmed</a:t>
            </a:r>
            <a:endParaRPr lang="en-US" sz="950" dirty="0"/>
          </a:p>
          <a:p>
            <a:pPr algn="ctr" indent="0" marL="0">
              <a:buNone/>
            </a:pPr>
            <a:r>
              <a:rPr lang="en-US" sz="950" b="1" dirty="0">
                <a:solidFill>
                  <a:srgbClr val="C94F4A"/>
                </a:solidFill>
                <a:latin typeface="Calibri" pitchFamily="34" charset="0"/>
                <a:ea typeface="Calibri" pitchFamily="34" charset="-122"/>
                <a:cs typeface="Calibri" pitchFamily="34" charset="-120"/>
              </a:rPr>
              <a:t>hit</a:t>
            </a:r>
            <a:endParaRPr lang="en-US" sz="950" dirty="0"/>
          </a:p>
        </p:txBody>
      </p:sp>
      <p:sp>
        <p:nvSpPr>
          <p:cNvPr id="45" name="Text 41"/>
          <p:cNvSpPr/>
          <p:nvPr/>
        </p:nvSpPr>
        <p:spPr>
          <a:xfrm>
            <a:off x="8385048" y="1783080"/>
            <a:ext cx="822960" cy="237744"/>
          </a:xfrm>
          <a:prstGeom prst="rect">
            <a:avLst/>
          </a:prstGeom>
          <a:noFill/>
          <a:ln/>
        </p:spPr>
        <p:txBody>
          <a:bodyPr wrap="square" lIns="0" tIns="0" rIns="0" bIns="0" rtlCol="0" anchor="ctr"/>
          <a:lstStyle/>
          <a:p>
            <a:pPr algn="ctr" indent="0" marL="0">
              <a:buNone/>
            </a:pPr>
            <a:r>
              <a:rPr lang="en-US" sz="950" b="1" dirty="0">
                <a:solidFill>
                  <a:srgbClr val="0C2442"/>
                </a:solidFill>
                <a:latin typeface="Calibri" pitchFamily="34" charset="0"/>
                <a:ea typeface="Calibri" pitchFamily="34" charset="-122"/>
                <a:cs typeface="Calibri" pitchFamily="34" charset="-120"/>
              </a:rPr>
              <a:t>45%</a:t>
            </a:r>
            <a:endParaRPr lang="en-US" sz="950" dirty="0"/>
          </a:p>
        </p:txBody>
      </p:sp>
      <p:sp>
        <p:nvSpPr>
          <p:cNvPr id="46" name="Text 42"/>
          <p:cNvSpPr/>
          <p:nvPr/>
        </p:nvSpPr>
        <p:spPr>
          <a:xfrm>
            <a:off x="8247888" y="3063240"/>
            <a:ext cx="822960" cy="237744"/>
          </a:xfrm>
          <a:prstGeom prst="rect">
            <a:avLst/>
          </a:prstGeom>
          <a:noFill/>
          <a:ln/>
        </p:spPr>
        <p:txBody>
          <a:bodyPr wrap="square" lIns="0" tIns="0" rIns="0" bIns="0" rtlCol="0" anchor="ctr"/>
          <a:lstStyle/>
          <a:p>
            <a:pPr algn="ctr" indent="0" marL="0">
              <a:buNone/>
            </a:pPr>
            <a:r>
              <a:rPr lang="en-US" sz="950" b="1" dirty="0">
                <a:solidFill>
                  <a:srgbClr val="0C2442"/>
                </a:solidFill>
                <a:latin typeface="Calibri" pitchFamily="34" charset="0"/>
                <a:ea typeface="Calibri" pitchFamily="34" charset="-122"/>
                <a:cs typeface="Calibri" pitchFamily="34" charset="-120"/>
              </a:rPr>
              <a:t>45%</a:t>
            </a:r>
            <a:endParaRPr lang="en-US" sz="950" dirty="0"/>
          </a:p>
        </p:txBody>
      </p:sp>
      <p:sp>
        <p:nvSpPr>
          <p:cNvPr id="47" name="Text 43"/>
          <p:cNvSpPr/>
          <p:nvPr/>
        </p:nvSpPr>
        <p:spPr>
          <a:xfrm>
            <a:off x="9756648" y="2194560"/>
            <a:ext cx="822960" cy="237744"/>
          </a:xfrm>
          <a:prstGeom prst="rect">
            <a:avLst/>
          </a:prstGeom>
          <a:noFill/>
          <a:ln/>
        </p:spPr>
        <p:txBody>
          <a:bodyPr wrap="square" lIns="0" tIns="0" rIns="0" bIns="0" rtlCol="0" anchor="ctr"/>
          <a:lstStyle/>
          <a:p>
            <a:pPr algn="ctr" indent="0" marL="0">
              <a:buNone/>
            </a:pPr>
            <a:r>
              <a:rPr lang="en-US" sz="950" b="1" dirty="0">
                <a:solidFill>
                  <a:srgbClr val="0C2442"/>
                </a:solidFill>
                <a:latin typeface="Calibri" pitchFamily="34" charset="0"/>
                <a:ea typeface="Calibri" pitchFamily="34" charset="-122"/>
                <a:cs typeface="Calibri" pitchFamily="34" charset="-120"/>
              </a:rPr>
              <a:t>20%</a:t>
            </a:r>
            <a:endParaRPr lang="en-US" sz="950" dirty="0"/>
          </a:p>
        </p:txBody>
      </p:sp>
      <p:sp>
        <p:nvSpPr>
          <p:cNvPr id="48" name="Text 44"/>
          <p:cNvSpPr/>
          <p:nvPr/>
        </p:nvSpPr>
        <p:spPr>
          <a:xfrm>
            <a:off x="10853928" y="2788920"/>
            <a:ext cx="822960" cy="237744"/>
          </a:xfrm>
          <a:prstGeom prst="rect">
            <a:avLst/>
          </a:prstGeom>
          <a:noFill/>
          <a:ln/>
        </p:spPr>
        <p:txBody>
          <a:bodyPr wrap="square" lIns="0" tIns="0" rIns="0" bIns="0" rtlCol="0" anchor="ctr"/>
          <a:lstStyle/>
          <a:p>
            <a:pPr algn="ctr" indent="0" marL="0">
              <a:buNone/>
            </a:pPr>
            <a:r>
              <a:rPr lang="en-US" sz="950" b="1" dirty="0">
                <a:solidFill>
                  <a:srgbClr val="0C2442"/>
                </a:solidFill>
                <a:latin typeface="Calibri" pitchFamily="34" charset="0"/>
                <a:ea typeface="Calibri" pitchFamily="34" charset="-122"/>
                <a:cs typeface="Calibri" pitchFamily="34" charset="-120"/>
              </a:rPr>
              <a:t>9%</a:t>
            </a:r>
            <a:endParaRPr lang="en-US" sz="950" dirty="0"/>
          </a:p>
        </p:txBody>
      </p:sp>
      <p:sp>
        <p:nvSpPr>
          <p:cNvPr id="49" name="Text 45"/>
          <p:cNvSpPr/>
          <p:nvPr/>
        </p:nvSpPr>
        <p:spPr>
          <a:xfrm>
            <a:off x="6629400" y="3977640"/>
            <a:ext cx="4846320" cy="114300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Our pages form a web — 965 recorded connections (similar topic, shared Acts, direct links). A confirmed hit sends a fading nudge along it, so chains like Act → regulation → guidance get caught even when words and meaning both miss.</a:t>
            </a:r>
            <a:endParaRPr lang="en-US" sz="1150" dirty="0"/>
          </a:p>
        </p:txBody>
      </p:sp>
      <p:sp>
        <p:nvSpPr>
          <p:cNvPr id="50" name="Text 46"/>
          <p:cNvSpPr/>
          <p:nvPr/>
        </p:nvSpPr>
        <p:spPr>
          <a:xfrm>
            <a:off x="6382512" y="5440680"/>
            <a:ext cx="5303520" cy="731520"/>
          </a:xfrm>
          <a:prstGeom prst="rect">
            <a:avLst/>
          </a:prstGeom>
          <a:noFill/>
          <a:ln/>
        </p:spPr>
        <p:txBody>
          <a:bodyPr wrap="square" lIns="0" tIns="0" rIns="0" bIns="0" rtlCol="0" anchor="ctr"/>
          <a:lstStyle/>
          <a:p>
            <a:pPr indent="0" marL="0">
              <a:buNone/>
            </a:pPr>
            <a:r>
              <a:rPr lang="en-US" sz="1200" i="1" dirty="0">
                <a:solidFill>
                  <a:srgbClr val="5E6B7A"/>
                </a:solidFill>
                <a:latin typeface="Calibri" pitchFamily="34" charset="0"/>
                <a:ea typeface="Calibri" pitchFamily="34" charset="-122"/>
                <a:cs typeface="Calibri" pitchFamily="34" charset="-120"/>
              </a:rPr>
              <a:t>Nudges fade at ~45% per step, stop after 3 steps, and only ever ADD caution — they never talk a page out of an alert.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GATES 7–8</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Only now does an AI get to read — under exam conditions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8918143" y="310896"/>
            <a:ext cx="246888" cy="246888"/>
          </a:xfrm>
          <a:prstGeom prst="roundRect">
            <a:avLst>
              <a:gd name="adj" fmla="val 16667"/>
            </a:avLst>
          </a:prstGeom>
          <a:solidFill>
            <a:srgbClr val="E3EAF2"/>
          </a:solidFill>
          <a:ln w="9525">
            <a:solidFill>
              <a:srgbClr val="C9D6E2"/>
            </a:solidFill>
            <a:prstDash val="solid"/>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E3EAF2"/>
          </a:solidFill>
          <a:ln w="9525">
            <a:solidFill>
              <a:srgbClr val="C9D6E2"/>
            </a:solidFill>
            <a:prstDash val="solid"/>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E3EAF2"/>
          </a:solidFill>
          <a:ln w="9525">
            <a:solidFill>
              <a:srgbClr val="C9D6E2"/>
            </a:solidFill>
            <a:prstDash val="solid"/>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E3EAF2"/>
          </a:solidFill>
          <a:ln w="9525">
            <a:solidFill>
              <a:srgbClr val="C9D6E2"/>
            </a:solidFill>
            <a:prstDash val="solid"/>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E3EAF2"/>
          </a:solidFill>
          <a:ln w="9525">
            <a:solidFill>
              <a:srgbClr val="C9D6E2"/>
            </a:solidFill>
            <a:prstDash val="solid"/>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E3EAF2"/>
          </a:solidFill>
          <a:ln w="9525">
            <a:solidFill>
              <a:srgbClr val="C9D6E2"/>
            </a:solidFill>
            <a:prstDash val="solid"/>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0C2442"/>
          </a:solidFill>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8A33D"/>
          </a:solidFill>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0C2442"/>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E3EAF2"/>
          </a:solidFill>
          <a:ln w="9525">
            <a:solidFill>
              <a:srgbClr val="C9D6E2"/>
            </a:solidFill>
            <a:prstDash val="solid"/>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298448"/>
            <a:ext cx="4892040" cy="3017520"/>
          </a:xfrm>
          <a:prstGeom prst="roundRect">
            <a:avLst>
              <a:gd name="adj" fmla="val 2727"/>
            </a:avLst>
          </a:prstGeom>
          <a:solidFill>
            <a:srgbClr val="EEF2F7"/>
          </a:solidFill>
          <a:ln/>
        </p:spPr>
      </p:sp>
      <p:sp>
        <p:nvSpPr>
          <p:cNvPr id="24" name="Shape 22"/>
          <p:cNvSpPr/>
          <p:nvPr/>
        </p:nvSpPr>
        <p:spPr>
          <a:xfrm>
            <a:off x="777240" y="1517904"/>
            <a:ext cx="365760" cy="365760"/>
          </a:xfrm>
          <a:prstGeom prst="roundRect">
            <a:avLst>
              <a:gd name="adj" fmla="val 11250"/>
            </a:avLst>
          </a:prstGeom>
          <a:solidFill>
            <a:srgbClr val="0C2442"/>
          </a:solidFill>
          <a:ln/>
        </p:spPr>
      </p:sp>
      <p:sp>
        <p:nvSpPr>
          <p:cNvPr id="25" name="Text 23"/>
          <p:cNvSpPr/>
          <p:nvPr/>
        </p:nvSpPr>
        <p:spPr>
          <a:xfrm>
            <a:off x="722376" y="1517904"/>
            <a:ext cx="4754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6" name="Text 24"/>
          <p:cNvSpPr/>
          <p:nvPr/>
        </p:nvSpPr>
        <p:spPr>
          <a:xfrm>
            <a:off x="1298448" y="1554480"/>
            <a:ext cx="3931920" cy="274320"/>
          </a:xfrm>
          <a:prstGeom prst="rect">
            <a:avLst/>
          </a:prstGeom>
          <a:noFill/>
          <a:ln/>
        </p:spPr>
        <p:txBody>
          <a:bodyPr wrap="square" lIns="0" tIns="0" rIns="0" bIns="0" rtlCol="0" anchor="ctr"/>
          <a:lstStyle/>
          <a:p>
            <a:pPr indent="0" marL="0">
              <a:buNone/>
            </a:pPr>
            <a:r>
              <a:rPr lang="en-US" sz="1250" b="1" spc="100" kern="0" dirty="0">
                <a:solidFill>
                  <a:srgbClr val="0C2442"/>
                </a:solidFill>
                <a:latin typeface="Arial" pitchFamily="34" charset="0"/>
                <a:ea typeface="Arial" pitchFamily="34" charset="-122"/>
                <a:cs typeface="Arial" pitchFamily="34" charset="-120"/>
              </a:rPr>
              <a:t>THE BRIEFING IT RECEIVES</a:t>
            </a:r>
            <a:endParaRPr lang="en-US" sz="1250" dirty="0"/>
          </a:p>
        </p:txBody>
      </p:sp>
      <p:sp>
        <p:nvSpPr>
          <p:cNvPr id="27" name="Text 25"/>
          <p:cNvSpPr/>
          <p:nvPr/>
        </p:nvSpPr>
        <p:spPr>
          <a:xfrm>
            <a:off x="822960" y="2011680"/>
            <a:ext cx="4297680" cy="1828800"/>
          </a:xfrm>
          <a:prstGeom prst="rect">
            <a:avLst/>
          </a:prstGeom>
          <a:noFill/>
          <a:ln/>
        </p:spPr>
        <p:txBody>
          <a:bodyPr wrap="square" lIns="0" tIns="0" rIns="0" bIns="0" rtlCol="0" anchor="t"/>
          <a:lstStyle/>
          <a:p>
            <a:pPr marL="177800" indent="-177800">
              <a:buSzPct val="100000"/>
              <a:buChar char="•"/>
            </a:pPr>
            <a:r>
              <a:rPr lang="en-US" sz="1200" b="1" dirty="0">
                <a:solidFill>
                  <a:srgbClr val="0C2442"/>
                </a:solidFill>
                <a:latin typeface="Calibri" pitchFamily="34" charset="0"/>
                <a:ea typeface="Calibri" pitchFamily="34" charset="-122"/>
                <a:cs typeface="Calibri" pitchFamily="34" charset="-120"/>
              </a:rPr>
              <a:t>Today's changes pointing at this page,  </a:t>
            </a:r>
            <a:pPr indent="0" marL="0">
              <a:spcAft>
                <a:spcPts val="1000"/>
              </a:spcAft>
              <a:buNone/>
            </a:pPr>
            <a:r>
              <a:rPr lang="en-US" sz="1200" dirty="0">
                <a:solidFill>
                  <a:srgbClr val="1F2A3A"/>
                </a:solidFill>
                <a:latin typeface="Calibri" pitchFamily="34" charset="0"/>
                <a:ea typeface="Calibri" pitchFamily="34" charset="-122"/>
                <a:cs typeface="Calibri" pitchFamily="34" charset="-120"/>
              </a:rPr>
              <a:t>grouped into one briefing — one call per page, never per change</a:t>
            </a:r>
            <a:endParaRPr lang="en-US" sz="1200" dirty="0"/>
          </a:p>
          <a:p>
            <a:pPr marL="177800" indent="-177800">
              <a:buSzPct val="100000"/>
              <a:buChar char="•"/>
            </a:pPr>
            <a:r>
              <a:rPr lang="en-US" sz="1200" b="1" dirty="0">
                <a:solidFill>
                  <a:srgbClr val="0C2442"/>
                </a:solidFill>
                <a:latin typeface="Calibri" pitchFamily="34" charset="0"/>
                <a:ea typeface="Calibri" pitchFamily="34" charset="-122"/>
                <a:cs typeface="Calibri" pitchFamily="34" charset="-120"/>
              </a:rPr>
              <a:t>The page's full current text,  </a:t>
            </a:r>
            <a:pPr indent="0" marL="0">
              <a:spcAft>
                <a:spcPts val="1000"/>
              </a:spcAft>
              <a:buNone/>
            </a:pPr>
            <a:r>
              <a:rPr lang="en-US" sz="1200" dirty="0">
                <a:solidFill>
                  <a:srgbClr val="1F2A3A"/>
                </a:solidFill>
                <a:latin typeface="Calibri" pitchFamily="34" charset="0"/>
                <a:ea typeface="Calibri" pitchFamily="34" charset="-122"/>
                <a:cs typeface="Calibri" pitchFamily="34" charset="-120"/>
              </a:rPr>
              <a:t>straight from the corpus database</a:t>
            </a:r>
            <a:endParaRPr lang="en-US" sz="1200" dirty="0"/>
          </a:p>
          <a:p>
            <a:pPr marL="177800" indent="-177800">
              <a:buSzPct val="100000"/>
              <a:buChar char="•"/>
            </a:pPr>
            <a:r>
              <a:rPr lang="en-US" sz="1200" b="1" dirty="0">
                <a:solidFill>
                  <a:srgbClr val="0C2442"/>
                </a:solidFill>
                <a:latin typeface="Calibri" pitchFamily="34" charset="0"/>
                <a:ea typeface="Calibri" pitchFamily="34" charset="-122"/>
                <a:cs typeface="Calibri" pitchFamily="34" charset="-120"/>
              </a:rPr>
              <a:t>Every score from every earlier gate  </a:t>
            </a:r>
            <a:pPr indent="0" marL="0">
              <a:buNone/>
            </a:pPr>
            <a:r>
              <a:rPr lang="en-US" sz="1200" dirty="0">
                <a:solidFill>
                  <a:srgbClr val="1F2A3A"/>
                </a:solidFill>
                <a:latin typeface="Calibri" pitchFamily="34" charset="0"/>
                <a:ea typeface="Calibri" pitchFamily="34" charset="-122"/>
                <a:cs typeface="Calibri" pitchFamily="34" charset="-120"/>
              </a:rPr>
              <a:t>— evidence attached, not vibes</a:t>
            </a:r>
            <a:endParaRPr lang="en-US" sz="1200" dirty="0"/>
          </a:p>
        </p:txBody>
      </p:sp>
      <p:sp>
        <p:nvSpPr>
          <p:cNvPr id="28" name="Text 26"/>
          <p:cNvSpPr/>
          <p:nvPr/>
        </p:nvSpPr>
        <p:spPr>
          <a:xfrm>
            <a:off x="822960" y="3913632"/>
            <a:ext cx="4297680" cy="320040"/>
          </a:xfrm>
          <a:prstGeom prst="rect">
            <a:avLst/>
          </a:prstGeom>
          <a:noFill/>
          <a:ln/>
        </p:spPr>
        <p:txBody>
          <a:bodyPr wrap="square" lIns="0" tIns="0" rIns="0" bIns="0" rtlCol="0" anchor="ctr"/>
          <a:lstStyle/>
          <a:p>
            <a:pPr indent="0" marL="0">
              <a:buNone/>
            </a:pPr>
            <a:r>
              <a:rPr lang="en-US" sz="1150" i="1" dirty="0">
                <a:solidFill>
                  <a:srgbClr val="4F7492"/>
                </a:solidFill>
                <a:latin typeface="Calibri" pitchFamily="34" charset="0"/>
                <a:ea typeface="Calibri" pitchFamily="34" charset="-122"/>
                <a:cs typeface="Calibri" pitchFamily="34" charset="-120"/>
              </a:rPr>
              <a:t>2–3 briefings on a typical day — the entire AI workload</a:t>
            </a:r>
            <a:endParaRPr lang="en-US" sz="1150" dirty="0"/>
          </a:p>
        </p:txBody>
      </p:sp>
      <p:sp>
        <p:nvSpPr>
          <p:cNvPr id="29" name="Shape 27"/>
          <p:cNvSpPr/>
          <p:nvPr/>
        </p:nvSpPr>
        <p:spPr>
          <a:xfrm>
            <a:off x="5577840" y="1298448"/>
            <a:ext cx="6108192" cy="3017520"/>
          </a:xfrm>
          <a:prstGeom prst="roundRect">
            <a:avLst>
              <a:gd name="adj" fmla="val 2727"/>
            </a:avLst>
          </a:prstGeom>
          <a:solidFill>
            <a:srgbClr val="FCF3E2"/>
          </a:solidFill>
          <a:ln/>
        </p:spPr>
      </p:sp>
      <p:sp>
        <p:nvSpPr>
          <p:cNvPr id="30" name="Shape 28"/>
          <p:cNvSpPr/>
          <p:nvPr/>
        </p:nvSpPr>
        <p:spPr>
          <a:xfrm>
            <a:off x="5833872" y="1499616"/>
            <a:ext cx="402336" cy="402336"/>
          </a:xfrm>
          <a:prstGeom prst="diamond">
            <a:avLst/>
          </a:prstGeom>
          <a:solidFill>
            <a:srgbClr val="E8A33D"/>
          </a:solidFill>
          <a:ln/>
        </p:spPr>
      </p:sp>
      <p:sp>
        <p:nvSpPr>
          <p:cNvPr id="31" name="Text 29"/>
          <p:cNvSpPr/>
          <p:nvPr/>
        </p:nvSpPr>
        <p:spPr>
          <a:xfrm>
            <a:off x="5742432" y="1481328"/>
            <a:ext cx="585216" cy="402336"/>
          </a:xfrm>
          <a:prstGeom prst="rect">
            <a:avLst/>
          </a:prstGeom>
          <a:noFill/>
          <a:ln/>
        </p:spPr>
        <p:txBody>
          <a:bodyPr wrap="square" lIns="0" tIns="0" rIns="0" bIns="0" rtlCol="0" anchor="ctr"/>
          <a:lstStyle/>
          <a:p>
            <a:pPr algn="ctr" indent="0" marL="0">
              <a:buNone/>
            </a:pPr>
            <a:r>
              <a:rPr lang="en-US" sz="1100" b="1" dirty="0">
                <a:solidFill>
                  <a:srgbClr val="0C2442"/>
                </a:solidFill>
                <a:latin typeface="Arial" pitchFamily="34" charset="0"/>
                <a:ea typeface="Arial" pitchFamily="34" charset="-122"/>
                <a:cs typeface="Arial" pitchFamily="34" charset="-120"/>
              </a:rPr>
              <a:t>8</a:t>
            </a:r>
            <a:endParaRPr lang="en-US" sz="1100" dirty="0"/>
          </a:p>
        </p:txBody>
      </p:sp>
      <p:sp>
        <p:nvSpPr>
          <p:cNvPr id="32" name="Text 30"/>
          <p:cNvSpPr/>
          <p:nvPr/>
        </p:nvSpPr>
        <p:spPr>
          <a:xfrm>
            <a:off x="6382512" y="1554480"/>
            <a:ext cx="5120640" cy="274320"/>
          </a:xfrm>
          <a:prstGeom prst="rect">
            <a:avLst/>
          </a:prstGeom>
          <a:noFill/>
          <a:ln/>
        </p:spPr>
        <p:txBody>
          <a:bodyPr wrap="square" lIns="0" tIns="0" rIns="0" bIns="0" rtlCol="0" anchor="ctr"/>
          <a:lstStyle/>
          <a:p>
            <a:pPr indent="0" marL="0">
              <a:buNone/>
            </a:pPr>
            <a:r>
              <a:rPr lang="en-US" sz="1250" b="1" spc="100" kern="0" dirty="0">
                <a:solidFill>
                  <a:srgbClr val="9A6200"/>
                </a:solidFill>
                <a:latin typeface="Arial" pitchFamily="34" charset="0"/>
                <a:ea typeface="Arial" pitchFamily="34" charset="-122"/>
                <a:cs typeface="Arial" pitchFamily="34" charset="-120"/>
              </a:rPr>
              <a:t>THE EXAM RULES</a:t>
            </a:r>
            <a:endParaRPr lang="en-US" sz="1250" dirty="0"/>
          </a:p>
        </p:txBody>
      </p:sp>
      <p:sp>
        <p:nvSpPr>
          <p:cNvPr id="33" name="Text 31"/>
          <p:cNvSpPr/>
          <p:nvPr/>
        </p:nvSpPr>
        <p:spPr>
          <a:xfrm>
            <a:off x="5897880" y="1956816"/>
            <a:ext cx="5532120" cy="2286000"/>
          </a:xfrm>
          <a:prstGeom prst="rect">
            <a:avLst/>
          </a:prstGeom>
          <a:noFill/>
          <a:ln/>
        </p:spPr>
        <p:txBody>
          <a:bodyPr wrap="square" lIns="0" tIns="0" rIns="0" bIns="0" rtlCol="0" anchor="t"/>
          <a:lstStyle/>
          <a:p>
            <a:pPr marL="177800" indent="-177800">
              <a:buSzPct val="100000"/>
              <a:buChar char="•"/>
            </a:pPr>
            <a:r>
              <a:rPr lang="en-US" sz="1100" b="1" dirty="0">
                <a:solidFill>
                  <a:srgbClr val="0C2442"/>
                </a:solidFill>
                <a:latin typeface="Calibri" pitchFamily="34" charset="0"/>
                <a:ea typeface="Calibri" pitchFamily="34" charset="-122"/>
                <a:cs typeface="Calibri" pitchFamily="34" charset="-120"/>
              </a:rPr>
              <a:t>Fixed answer form:  </a:t>
            </a:r>
            <a:pPr indent="0" marL="0">
              <a:spcAft>
                <a:spcPts val="700"/>
              </a:spcAft>
              <a:buNone/>
            </a:pPr>
            <a:r>
              <a:rPr lang="en-US" sz="1100" dirty="0">
                <a:solidFill>
                  <a:srgbClr val="1F2A3A"/>
                </a:solidFill>
                <a:latin typeface="Calibri" pitchFamily="34" charset="0"/>
                <a:ea typeface="Calibri" pitchFamily="34" charset="-122"/>
                <a:cs typeface="Calibri" pitchFamily="34" charset="-120"/>
              </a:rPr>
              <a:t>verdict must be CHANGE REQUIRED, NO CHANGE or UNCERTAIN — plus confidence, reasoning, and the exact suggested edits</a:t>
            </a:r>
            <a:endParaRPr lang="en-US" sz="1100" dirty="0"/>
          </a:p>
          <a:p>
            <a:pPr marL="177800" indent="-177800">
              <a:buSzPct val="100000"/>
              <a:buChar char="•"/>
            </a:pPr>
            <a:r>
              <a:rPr lang="en-US" sz="1100" b="1" dirty="0">
                <a:solidFill>
                  <a:srgbClr val="0C2442"/>
                </a:solidFill>
                <a:latin typeface="Calibri" pitchFamily="34" charset="0"/>
                <a:ea typeface="Calibri" pitchFamily="34" charset="-122"/>
                <a:cs typeface="Calibri" pitchFamily="34" charset="-120"/>
              </a:rPr>
              <a:t>Doubt is welcome:  </a:t>
            </a:r>
            <a:pPr indent="0" marL="0">
              <a:spcAft>
                <a:spcPts val="700"/>
              </a:spcAft>
              <a:buNone/>
            </a:pPr>
            <a:r>
              <a:rPr lang="en-US" sz="1100" dirty="0">
                <a:solidFill>
                  <a:srgbClr val="1F2A3A"/>
                </a:solidFill>
                <a:latin typeface="Calibri" pitchFamily="34" charset="0"/>
                <a:ea typeface="Calibri" pitchFamily="34" charset="-122"/>
                <a:cs typeface="Calibri" pitchFamily="34" charset="-120"/>
              </a:rPr>
              <a:t>“uncertain” routes to a human; guessing is the failure mode, not honesty</a:t>
            </a:r>
            <a:endParaRPr lang="en-US" sz="1100" dirty="0"/>
          </a:p>
          <a:p>
            <a:pPr marL="177800" indent="-177800">
              <a:buSzPct val="100000"/>
              <a:buChar char="•"/>
            </a:pPr>
            <a:r>
              <a:rPr lang="en-US" sz="1100" b="1" dirty="0">
                <a:solidFill>
                  <a:srgbClr val="0C2442"/>
                </a:solidFill>
                <a:latin typeface="Calibri" pitchFamily="34" charset="0"/>
                <a:ea typeface="Calibri" pitchFamily="34" charset="-122"/>
                <a:cs typeface="Calibri" pitchFamily="34" charset="-120"/>
              </a:rPr>
              <a:t>Creativity turned down:  </a:t>
            </a:r>
            <a:pPr indent="0" marL="0">
              <a:spcAft>
                <a:spcPts val="700"/>
              </a:spcAft>
              <a:buNone/>
            </a:pPr>
            <a:r>
              <a:rPr lang="en-US" sz="1100" dirty="0">
                <a:solidFill>
                  <a:srgbClr val="1F2A3A"/>
                </a:solidFill>
                <a:latin typeface="Calibri" pitchFamily="34" charset="0"/>
                <a:ea typeface="Calibri" pitchFamily="34" charset="-122"/>
                <a:cs typeface="Calibri" pitchFamily="34" charset="-120"/>
              </a:rPr>
              <a:t>temperature 0.2 — in this job, variety is a bug</a:t>
            </a:r>
            <a:endParaRPr lang="en-US" sz="1100" dirty="0"/>
          </a:p>
          <a:p>
            <a:pPr marL="177800" indent="-177800">
              <a:buSzPct val="100000"/>
              <a:buChar char="•"/>
            </a:pPr>
            <a:r>
              <a:rPr lang="en-US" sz="1100" b="1" dirty="0">
                <a:solidFill>
                  <a:srgbClr val="0C2442"/>
                </a:solidFill>
                <a:latin typeface="Calibri" pitchFamily="34" charset="0"/>
                <a:ea typeface="Calibri" pitchFamily="34" charset="-122"/>
                <a:cs typeface="Calibri" pitchFamily="34" charset="-120"/>
              </a:rPr>
              <a:t>Answers are inspected by the machinery:  </a:t>
            </a:r>
            <a:pPr indent="0" marL="0">
              <a:buNone/>
            </a:pPr>
            <a:r>
              <a:rPr lang="en-US" sz="1100" dirty="0">
                <a:solidFill>
                  <a:srgbClr val="1F2A3A"/>
                </a:solidFill>
                <a:latin typeface="Calibri" pitchFamily="34" charset="0"/>
                <a:ea typeface="Calibri" pitchFamily="34" charset="-122"/>
                <a:cs typeface="Calibri" pitchFamily="34" charset="-120"/>
              </a:rPr>
              <a:t>malformed → one retry → set aside and flagged; service down → parked, retried tomorrow. Nothing is lost silently.</a:t>
            </a:r>
            <a:endParaRPr lang="en-US" sz="1100" dirty="0"/>
          </a:p>
        </p:txBody>
      </p:sp>
      <p:sp>
        <p:nvSpPr>
          <p:cNvPr id="34" name="Shape 32"/>
          <p:cNvSpPr/>
          <p:nvPr/>
        </p:nvSpPr>
        <p:spPr>
          <a:xfrm>
            <a:off x="502920" y="4526280"/>
            <a:ext cx="7863840" cy="1828800"/>
          </a:xfrm>
          <a:prstGeom prst="roundRect">
            <a:avLst>
              <a:gd name="adj" fmla="val 4500"/>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sp>
        <p:nvSpPr>
          <p:cNvPr id="35" name="Text 33"/>
          <p:cNvSpPr/>
          <p:nvPr/>
        </p:nvSpPr>
        <p:spPr>
          <a:xfrm>
            <a:off x="731520" y="4645152"/>
            <a:ext cx="7223760" cy="256032"/>
          </a:xfrm>
          <a:prstGeom prst="rect">
            <a:avLst/>
          </a:prstGeom>
          <a:noFill/>
          <a:ln/>
        </p:spPr>
        <p:txBody>
          <a:bodyPr wrap="square" lIns="0" tIns="0" rIns="0" bIns="0" rtlCol="0" anchor="ctr"/>
          <a:lstStyle/>
          <a:p>
            <a:pPr indent="0" marL="0">
              <a:buNone/>
            </a:pPr>
            <a:r>
              <a:rPr lang="en-US" sz="1000" b="1" spc="120" kern="0" dirty="0">
                <a:solidFill>
                  <a:srgbClr val="4F7492"/>
                </a:solidFill>
                <a:latin typeface="Arial" pitchFamily="34" charset="0"/>
                <a:ea typeface="Arial" pitchFamily="34" charset="-122"/>
                <a:cs typeface="Arial" pitchFamily="34" charset="-120"/>
              </a:rPr>
              <a:t>THE ANSWER SHEET — real output, lightly trimmed</a:t>
            </a:r>
            <a:endParaRPr lang="en-US" sz="1000" dirty="0"/>
          </a:p>
        </p:txBody>
      </p:sp>
      <p:sp>
        <p:nvSpPr>
          <p:cNvPr id="36" name="Text 34"/>
          <p:cNvSpPr/>
          <p:nvPr/>
        </p:nvSpPr>
        <p:spPr>
          <a:xfrm>
            <a:off x="731520" y="4956048"/>
            <a:ext cx="7223760" cy="1325880"/>
          </a:xfrm>
          <a:prstGeom prst="rect">
            <a:avLst/>
          </a:prstGeom>
          <a:noFill/>
          <a:ln/>
        </p:spPr>
        <p:txBody>
          <a:bodyPr wrap="square" lIns="0" tIns="0" rIns="0" bIns="0" rtlCol="0" anchor="t"/>
          <a:lstStyle/>
          <a:p>
            <a:pPr indent="0" marL="0">
              <a:buNone/>
            </a:pPr>
            <a:r>
              <a:rPr lang="en-US" sz="1150" dirty="0">
                <a:solidFill>
                  <a:srgbClr val="5E6B7A"/>
                </a:solidFill>
                <a:latin typeface="Courier New" pitchFamily="34" charset="0"/>
                <a:ea typeface="Courier New" pitchFamily="34" charset="-122"/>
                <a:cs typeface="Courier New" pitchFamily="34" charset="-120"/>
              </a:rPr>
              <a:t>verdict: </a:t>
            </a:r>
            <a:pPr indent="0" marL="0">
              <a:buNone/>
            </a:pPr>
            <a:r>
              <a:rPr lang="en-US" sz="1150" b="1" dirty="0">
                <a:solidFill>
                  <a:srgbClr val="C94F4A"/>
                </a:solidFill>
                <a:latin typeface="Courier New" pitchFamily="34" charset="0"/>
                <a:ea typeface="Courier New" pitchFamily="34" charset="-122"/>
                <a:cs typeface="Courier New" pitchFamily="34" charset="-120"/>
              </a:rPr>
              <a:t>CHANGE_REQUIRED</a:t>
            </a:r>
            <a:pPr indent="0" marL="0">
              <a:buNone/>
            </a:pPr>
            <a:r>
              <a:rPr lang="en-US" sz="1150" dirty="0">
                <a:solidFill>
                  <a:srgbClr val="5E6B7A"/>
                </a:solidFill>
                <a:latin typeface="Courier New" pitchFamily="34" charset="0"/>
                <a:ea typeface="Courier New" pitchFamily="34" charset="-122"/>
                <a:cs typeface="Courier New" pitchFamily="34" charset="-120"/>
              </a:rPr>
              <a:t>      confidence: </a:t>
            </a:r>
            <a:pPr indent="0" marL="0">
              <a:buNone/>
            </a:pPr>
            <a:r>
              <a:rPr lang="en-US" sz="1150" b="1" dirty="0">
                <a:solidFill>
                  <a:srgbClr val="0C2442"/>
                </a:solidFill>
                <a:latin typeface="Courier New" pitchFamily="34" charset="0"/>
                <a:ea typeface="Courier New" pitchFamily="34" charset="-122"/>
                <a:cs typeface="Courier New" pitchFamily="34" charset="-120"/>
              </a:rPr>
              <a:t>0.85</a:t>
            </a:r>
            <a:endParaRPr lang="en-US" sz="1150" dirty="0"/>
          </a:p>
          <a:p>
            <a:pPr indent="0" marL="0">
              <a:buNone/>
            </a:pPr>
            <a:r>
              <a:rPr lang="en-US" sz="1150" dirty="0">
                <a:solidFill>
                  <a:srgbClr val="5E6B7A"/>
                </a:solidFill>
                <a:latin typeface="Courier New" pitchFamily="34" charset="0"/>
                <a:ea typeface="Courier New" pitchFamily="34" charset="-122"/>
                <a:cs typeface="Courier New" pitchFamily="34" charset="-120"/>
              </a:rPr>
              <a:t>reasoning: </a:t>
            </a:r>
            <a:pPr indent="0" marL="0">
              <a:buNone/>
            </a:pPr>
            <a:r>
              <a:rPr lang="en-US" sz="1150" dirty="0">
                <a:solidFill>
                  <a:srgbClr val="1F2A3A"/>
                </a:solidFill>
                <a:latin typeface="Courier New" pitchFamily="34" charset="0"/>
                <a:ea typeface="Courier New" pitchFamily="34" charset="-122"/>
                <a:cs typeface="Courier New" pitchFamily="34" charset="-120"/>
              </a:rPr>
              <a:t>“the amendment reduced the examination period from 12 to 6 months; the page still says 12 months”</a:t>
            </a:r>
            <a:endParaRPr lang="en-US" sz="1150" dirty="0"/>
          </a:p>
          <a:p>
            <a:pPr indent="0" marL="0">
              <a:buNone/>
            </a:pPr>
            <a:r>
              <a:rPr lang="en-US" sz="1150" dirty="0">
                <a:solidFill>
                  <a:srgbClr val="5E6B7A"/>
                </a:solidFill>
                <a:latin typeface="Courier New" pitchFamily="34" charset="0"/>
                <a:ea typeface="Courier New" pitchFamily="34" charset="-122"/>
                <a:cs typeface="Courier New" pitchFamily="34" charset="-120"/>
              </a:rPr>
              <a:t>suggested edit: </a:t>
            </a:r>
            <a:pPr indent="0" marL="0">
              <a:buNone/>
            </a:pPr>
            <a:r>
              <a:rPr lang="en-US" sz="1150" b="1" dirty="0">
                <a:solidFill>
                  <a:srgbClr val="3E8E52"/>
                </a:solidFill>
                <a:latin typeface="Courier New" pitchFamily="34" charset="0"/>
                <a:ea typeface="Courier New" pitchFamily="34" charset="-122"/>
                <a:cs typeface="Courier New" pitchFamily="34" charset="-120"/>
              </a:rPr>
              <a:t>“update ‘12 months’ to ‘6 months’ to reflect amended s.44, Trade Marks Act 1995”</a:t>
            </a:r>
            <a:endParaRPr lang="en-US" sz="1150" dirty="0"/>
          </a:p>
        </p:txBody>
      </p:sp>
      <p:sp>
        <p:nvSpPr>
          <p:cNvPr id="37" name="Shape 35"/>
          <p:cNvSpPr/>
          <p:nvPr/>
        </p:nvSpPr>
        <p:spPr>
          <a:xfrm>
            <a:off x="8641080" y="4526280"/>
            <a:ext cx="3044952" cy="1828800"/>
          </a:xfrm>
          <a:prstGeom prst="roundRect">
            <a:avLst>
              <a:gd name="adj" fmla="val 4500"/>
            </a:avLst>
          </a:prstGeom>
          <a:solidFill>
            <a:srgbClr val="0C2442"/>
          </a:solidFill>
          <a:ln/>
        </p:spPr>
      </p:sp>
      <p:sp>
        <p:nvSpPr>
          <p:cNvPr id="38" name="Text 36"/>
          <p:cNvSpPr/>
          <p:nvPr/>
        </p:nvSpPr>
        <p:spPr>
          <a:xfrm>
            <a:off x="8915400" y="4681728"/>
            <a:ext cx="2514600" cy="1536192"/>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2–3</a:t>
            </a:r>
            <a:endParaRPr lang="en-US" sz="3800" dirty="0"/>
          </a:p>
          <a:p>
            <a:pPr indent="0" marL="0">
              <a:buNone/>
            </a:pPr>
            <a:r>
              <a:rPr lang="en-US" sz="1200" dirty="0">
                <a:solidFill>
                  <a:srgbClr val="FFFFFF"/>
                </a:solidFill>
                <a:latin typeface="Arial" pitchFamily="34" charset="0"/>
                <a:ea typeface="Arial" pitchFamily="34" charset="-122"/>
                <a:cs typeface="Arial" pitchFamily="34" charset="-120"/>
              </a:rPr>
              <a:t>AI calls a day, a few cents — the whole judgement bill</a:t>
            </a:r>
            <a:endParaRPr lang="en-US" sz="3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STAGE 9 · AND THE HUMAN</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One email. A human decides. The system learns.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8918143" y="310896"/>
            <a:ext cx="246888" cy="246888"/>
          </a:xfrm>
          <a:prstGeom prst="roundRect">
            <a:avLst>
              <a:gd name="adj" fmla="val 16667"/>
            </a:avLst>
          </a:prstGeom>
          <a:solidFill>
            <a:srgbClr val="E3EAF2"/>
          </a:solidFill>
          <a:ln w="9525">
            <a:solidFill>
              <a:srgbClr val="C9D6E2"/>
            </a:solidFill>
            <a:prstDash val="solid"/>
          </a:ln>
        </p:spPr>
      </p:sp>
      <p:sp>
        <p:nvSpPr>
          <p:cNvPr id="6" name="Text 4"/>
          <p:cNvSpPr/>
          <p:nvPr/>
        </p:nvSpPr>
        <p:spPr>
          <a:xfrm>
            <a:off x="886327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9233611" y="310896"/>
            <a:ext cx="246888" cy="246888"/>
          </a:xfrm>
          <a:prstGeom prst="roundRect">
            <a:avLst>
              <a:gd name="adj" fmla="val 16667"/>
            </a:avLst>
          </a:prstGeom>
          <a:solidFill>
            <a:srgbClr val="E3EAF2"/>
          </a:solidFill>
          <a:ln w="9525">
            <a:solidFill>
              <a:srgbClr val="C9D6E2"/>
            </a:solidFill>
            <a:prstDash val="solid"/>
          </a:ln>
        </p:spPr>
      </p:sp>
      <p:sp>
        <p:nvSpPr>
          <p:cNvPr id="8" name="Text 6"/>
          <p:cNvSpPr/>
          <p:nvPr/>
        </p:nvSpPr>
        <p:spPr>
          <a:xfrm>
            <a:off x="917874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2</a:t>
            </a:r>
            <a:endParaRPr lang="en-US" sz="1000" dirty="0"/>
          </a:p>
        </p:txBody>
      </p:sp>
      <p:sp>
        <p:nvSpPr>
          <p:cNvPr id="9" name="Shape 7"/>
          <p:cNvSpPr/>
          <p:nvPr/>
        </p:nvSpPr>
        <p:spPr>
          <a:xfrm>
            <a:off x="9549079" y="310896"/>
            <a:ext cx="246888" cy="246888"/>
          </a:xfrm>
          <a:prstGeom prst="roundRect">
            <a:avLst>
              <a:gd name="adj" fmla="val 16667"/>
            </a:avLst>
          </a:prstGeom>
          <a:solidFill>
            <a:srgbClr val="E3EAF2"/>
          </a:solidFill>
          <a:ln w="9525">
            <a:solidFill>
              <a:srgbClr val="C9D6E2"/>
            </a:solidFill>
            <a:prstDash val="solid"/>
          </a:ln>
        </p:spPr>
      </p:sp>
      <p:sp>
        <p:nvSpPr>
          <p:cNvPr id="10" name="Text 8"/>
          <p:cNvSpPr/>
          <p:nvPr/>
        </p:nvSpPr>
        <p:spPr>
          <a:xfrm>
            <a:off x="9494215"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3</a:t>
            </a:r>
            <a:endParaRPr lang="en-US" sz="1000" dirty="0"/>
          </a:p>
        </p:txBody>
      </p:sp>
      <p:sp>
        <p:nvSpPr>
          <p:cNvPr id="11" name="Shape 9"/>
          <p:cNvSpPr/>
          <p:nvPr/>
        </p:nvSpPr>
        <p:spPr>
          <a:xfrm>
            <a:off x="9864547" y="310896"/>
            <a:ext cx="246888" cy="246888"/>
          </a:xfrm>
          <a:prstGeom prst="roundRect">
            <a:avLst>
              <a:gd name="adj" fmla="val 16667"/>
            </a:avLst>
          </a:prstGeom>
          <a:solidFill>
            <a:srgbClr val="E3EAF2"/>
          </a:solidFill>
          <a:ln w="9525">
            <a:solidFill>
              <a:srgbClr val="C9D6E2"/>
            </a:solidFill>
            <a:prstDash val="solid"/>
          </a:ln>
        </p:spPr>
      </p:sp>
      <p:sp>
        <p:nvSpPr>
          <p:cNvPr id="12" name="Text 10"/>
          <p:cNvSpPr/>
          <p:nvPr/>
        </p:nvSpPr>
        <p:spPr>
          <a:xfrm>
            <a:off x="9809683"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4</a:t>
            </a:r>
            <a:endParaRPr lang="en-US" sz="1000" dirty="0"/>
          </a:p>
        </p:txBody>
      </p:sp>
      <p:sp>
        <p:nvSpPr>
          <p:cNvPr id="13" name="Shape 11"/>
          <p:cNvSpPr/>
          <p:nvPr/>
        </p:nvSpPr>
        <p:spPr>
          <a:xfrm>
            <a:off x="10180015" y="310896"/>
            <a:ext cx="246888" cy="246888"/>
          </a:xfrm>
          <a:prstGeom prst="roundRect">
            <a:avLst>
              <a:gd name="adj" fmla="val 16667"/>
            </a:avLst>
          </a:prstGeom>
          <a:solidFill>
            <a:srgbClr val="E3EAF2"/>
          </a:solidFill>
          <a:ln w="9525">
            <a:solidFill>
              <a:srgbClr val="C9D6E2"/>
            </a:solidFill>
            <a:prstDash val="solid"/>
          </a:ln>
        </p:spPr>
      </p:sp>
      <p:sp>
        <p:nvSpPr>
          <p:cNvPr id="14" name="Text 12"/>
          <p:cNvSpPr/>
          <p:nvPr/>
        </p:nvSpPr>
        <p:spPr>
          <a:xfrm>
            <a:off x="10125151"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5</a:t>
            </a:r>
            <a:endParaRPr lang="en-US" sz="1000" dirty="0"/>
          </a:p>
        </p:txBody>
      </p:sp>
      <p:sp>
        <p:nvSpPr>
          <p:cNvPr id="15" name="Shape 13"/>
          <p:cNvSpPr/>
          <p:nvPr/>
        </p:nvSpPr>
        <p:spPr>
          <a:xfrm>
            <a:off x="10495483" y="310896"/>
            <a:ext cx="246888" cy="246888"/>
          </a:xfrm>
          <a:prstGeom prst="roundRect">
            <a:avLst>
              <a:gd name="adj" fmla="val 16667"/>
            </a:avLst>
          </a:prstGeom>
          <a:solidFill>
            <a:srgbClr val="E3EAF2"/>
          </a:solidFill>
          <a:ln w="9525">
            <a:solidFill>
              <a:srgbClr val="C9D6E2"/>
            </a:solidFill>
            <a:prstDash val="solid"/>
          </a:ln>
        </p:spPr>
      </p:sp>
      <p:sp>
        <p:nvSpPr>
          <p:cNvPr id="16" name="Text 14"/>
          <p:cNvSpPr/>
          <p:nvPr/>
        </p:nvSpPr>
        <p:spPr>
          <a:xfrm>
            <a:off x="10440619"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6</a:t>
            </a:r>
            <a:endParaRPr lang="en-US" sz="1000" dirty="0"/>
          </a:p>
        </p:txBody>
      </p:sp>
      <p:sp>
        <p:nvSpPr>
          <p:cNvPr id="17" name="Shape 15"/>
          <p:cNvSpPr/>
          <p:nvPr/>
        </p:nvSpPr>
        <p:spPr>
          <a:xfrm>
            <a:off x="10810951" y="310896"/>
            <a:ext cx="246888" cy="246888"/>
          </a:xfrm>
          <a:prstGeom prst="roundRect">
            <a:avLst>
              <a:gd name="adj" fmla="val 16667"/>
            </a:avLst>
          </a:prstGeom>
          <a:solidFill>
            <a:srgbClr val="E3EAF2"/>
          </a:solidFill>
          <a:ln w="9525">
            <a:solidFill>
              <a:srgbClr val="C9D6E2"/>
            </a:solidFill>
            <a:prstDash val="solid"/>
          </a:ln>
        </p:spPr>
      </p:sp>
      <p:sp>
        <p:nvSpPr>
          <p:cNvPr id="18" name="Text 16"/>
          <p:cNvSpPr/>
          <p:nvPr/>
        </p:nvSpPr>
        <p:spPr>
          <a:xfrm>
            <a:off x="10756087" y="310896"/>
            <a:ext cx="356616" cy="246888"/>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7</a:t>
            </a:r>
            <a:endParaRPr lang="en-US" sz="1000" dirty="0"/>
          </a:p>
        </p:txBody>
      </p:sp>
      <p:sp>
        <p:nvSpPr>
          <p:cNvPr id="19" name="Shape 17"/>
          <p:cNvSpPr/>
          <p:nvPr/>
        </p:nvSpPr>
        <p:spPr>
          <a:xfrm>
            <a:off x="11126419" y="297180"/>
            <a:ext cx="274320" cy="274320"/>
          </a:xfrm>
          <a:prstGeom prst="diamond">
            <a:avLst/>
          </a:prstGeom>
          <a:solidFill>
            <a:srgbClr val="E3EAF2"/>
          </a:solidFill>
          <a:ln w="9525">
            <a:solidFill>
              <a:srgbClr val="C9D6E2"/>
            </a:solidFill>
            <a:prstDash val="solid"/>
          </a:ln>
        </p:spPr>
      </p:sp>
      <p:sp>
        <p:nvSpPr>
          <p:cNvPr id="20" name="Text 18"/>
          <p:cNvSpPr/>
          <p:nvPr/>
        </p:nvSpPr>
        <p:spPr>
          <a:xfrm>
            <a:off x="11034979" y="278892"/>
            <a:ext cx="457200" cy="274320"/>
          </a:xfrm>
          <a:prstGeom prst="rect">
            <a:avLst/>
          </a:prstGeom>
          <a:noFill/>
          <a:ln/>
        </p:spPr>
        <p:txBody>
          <a:bodyPr wrap="square" lIns="0" tIns="0" rIns="0" bIns="0" rtlCol="0" anchor="ctr"/>
          <a:lstStyle/>
          <a:p>
            <a:pPr algn="ctr" indent="0" marL="0">
              <a:buNone/>
            </a:pPr>
            <a:r>
              <a:rPr lang="en-US" sz="1000" b="1" dirty="0">
                <a:solidFill>
                  <a:srgbClr val="5E6B7A"/>
                </a:solidFill>
                <a:latin typeface="Arial" pitchFamily="34" charset="0"/>
                <a:ea typeface="Arial" pitchFamily="34" charset="-122"/>
                <a:cs typeface="Arial" pitchFamily="34" charset="-120"/>
              </a:rPr>
              <a:t>8</a:t>
            </a:r>
            <a:endParaRPr lang="en-US" sz="1000" dirty="0"/>
          </a:p>
        </p:txBody>
      </p:sp>
      <p:sp>
        <p:nvSpPr>
          <p:cNvPr id="21" name="Shape 19"/>
          <p:cNvSpPr/>
          <p:nvPr/>
        </p:nvSpPr>
        <p:spPr>
          <a:xfrm>
            <a:off x="11441887" y="310896"/>
            <a:ext cx="246888" cy="246888"/>
          </a:xfrm>
          <a:prstGeom prst="roundRect">
            <a:avLst>
              <a:gd name="adj" fmla="val 16667"/>
            </a:avLst>
          </a:prstGeom>
          <a:solidFill>
            <a:srgbClr val="0C2442"/>
          </a:solidFill>
          <a:ln/>
        </p:spPr>
      </p:sp>
      <p:sp>
        <p:nvSpPr>
          <p:cNvPr id="22" name="Text 20"/>
          <p:cNvSpPr/>
          <p:nvPr/>
        </p:nvSpPr>
        <p:spPr>
          <a:xfrm>
            <a:off x="11387023" y="310896"/>
            <a:ext cx="35661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3" name="Shape 21"/>
          <p:cNvSpPr/>
          <p:nvPr/>
        </p:nvSpPr>
        <p:spPr>
          <a:xfrm>
            <a:off x="502920" y="1298448"/>
            <a:ext cx="5806440" cy="4846320"/>
          </a:xfrm>
          <a:prstGeom prst="roundRect">
            <a:avLst>
              <a:gd name="adj" fmla="val 1698"/>
            </a:avLst>
          </a:prstGeom>
          <a:solidFill>
            <a:srgbClr val="FFFFFF"/>
          </a:solidFill>
          <a:ln w="12700">
            <a:solidFill>
              <a:srgbClr val="C9D6E2"/>
            </a:solidFill>
            <a:prstDash val="solid"/>
          </a:ln>
          <a:effectLst>
            <a:outerShdw sx="100000" sy="100000" kx="0" ky="0" algn="bl" rotWithShape="0" blurRad="76200" dist="25400" dir="5400000">
              <a:srgbClr val="9AAABB">
                <a:alpha val="35000"/>
              </a:srgbClr>
            </a:outerShdw>
          </a:effectLst>
        </p:spPr>
      </p:sp>
      <p:sp>
        <p:nvSpPr>
          <p:cNvPr id="24" name="Shape 22"/>
          <p:cNvSpPr/>
          <p:nvPr/>
        </p:nvSpPr>
        <p:spPr>
          <a:xfrm>
            <a:off x="502920" y="1298448"/>
            <a:ext cx="5806440" cy="512064"/>
          </a:xfrm>
          <a:prstGeom prst="roundRect">
            <a:avLst>
              <a:gd name="adj" fmla="val 16071"/>
            </a:avLst>
          </a:prstGeom>
          <a:solidFill>
            <a:srgbClr val="0C2442"/>
          </a:solidFill>
          <a:ln/>
        </p:spPr>
      </p:sp>
      <p:sp>
        <p:nvSpPr>
          <p:cNvPr id="25" name="Shape 23"/>
          <p:cNvSpPr/>
          <p:nvPr/>
        </p:nvSpPr>
        <p:spPr>
          <a:xfrm>
            <a:off x="640080" y="1371600"/>
            <a:ext cx="365760" cy="365760"/>
          </a:xfrm>
          <a:prstGeom prst="ellipse">
            <a:avLst/>
          </a:prstGeom>
          <a:solidFill>
            <a:srgbClr val="2D4C6A"/>
          </a:solidFill>
          <a:ln/>
        </p:spPr>
      </p:sp>
      <p:pic>
        <p:nvPicPr>
          <p:cNvPr id="26" name="Image 0" descr="preencoded.png">    </p:cNvPr>
          <p:cNvPicPr>
            <a:picLocks noChangeAspect="1"/>
          </p:cNvPicPr>
          <p:nvPr/>
        </p:nvPicPr>
        <p:blipFill>
          <a:blip r:embed="rId1"/>
          <a:stretch>
            <a:fillRect/>
          </a:stretch>
        </p:blipFill>
        <p:spPr>
          <a:xfrm>
            <a:off x="735178" y="1466698"/>
            <a:ext cx="175565" cy="175565"/>
          </a:xfrm>
          <a:prstGeom prst="rect">
            <a:avLst/>
          </a:prstGeom>
        </p:spPr>
      </p:pic>
      <p:sp>
        <p:nvSpPr>
          <p:cNvPr id="27" name="Text 24"/>
          <p:cNvSpPr/>
          <p:nvPr/>
        </p:nvSpPr>
        <p:spPr>
          <a:xfrm>
            <a:off x="1143000" y="1298448"/>
            <a:ext cx="502920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Tripwire — Mon 20 Jul — 2 pages flagged</a:t>
            </a:r>
            <a:endParaRPr lang="en-US" sz="1250" dirty="0"/>
          </a:p>
        </p:txBody>
      </p:sp>
      <p:sp>
        <p:nvSpPr>
          <p:cNvPr id="28" name="Shape 25"/>
          <p:cNvSpPr/>
          <p:nvPr/>
        </p:nvSpPr>
        <p:spPr>
          <a:xfrm>
            <a:off x="713232" y="2029968"/>
            <a:ext cx="384048" cy="384048"/>
          </a:xfrm>
          <a:prstGeom prst="ellipse">
            <a:avLst/>
          </a:prstGeom>
          <a:solidFill>
            <a:srgbClr val="3E8E52"/>
          </a:solidFill>
          <a:ln/>
        </p:spPr>
      </p:sp>
      <p:pic>
        <p:nvPicPr>
          <p:cNvPr id="29" name="Image 1" descr="preencoded.png">    </p:cNvPr>
          <p:cNvPicPr>
            <a:picLocks noChangeAspect="1"/>
          </p:cNvPicPr>
          <p:nvPr/>
        </p:nvPicPr>
        <p:blipFill>
          <a:blip r:embed="rId2"/>
          <a:stretch>
            <a:fillRect/>
          </a:stretch>
        </p:blipFill>
        <p:spPr>
          <a:xfrm>
            <a:off x="813084" y="2129820"/>
            <a:ext cx="184343" cy="184343"/>
          </a:xfrm>
          <a:prstGeom prst="rect">
            <a:avLst/>
          </a:prstGeom>
        </p:spPr>
      </p:pic>
      <p:sp>
        <p:nvSpPr>
          <p:cNvPr id="30" name="Text 26"/>
          <p:cNvSpPr/>
          <p:nvPr/>
        </p:nvSpPr>
        <p:spPr>
          <a:xfrm>
            <a:off x="1261872" y="1993392"/>
            <a:ext cx="4846320" cy="868680"/>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Recommended amendments</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the page, what changed upstream, the AI's reasoning, the exact suggested edit — and the scores from every gate as evidence</a:t>
            </a:r>
            <a:endParaRPr lang="en-US" sz="1250" dirty="0"/>
          </a:p>
        </p:txBody>
      </p:sp>
      <p:sp>
        <p:nvSpPr>
          <p:cNvPr id="31" name="Shape 27"/>
          <p:cNvSpPr/>
          <p:nvPr/>
        </p:nvSpPr>
        <p:spPr>
          <a:xfrm>
            <a:off x="713232" y="2990088"/>
            <a:ext cx="384048" cy="384048"/>
          </a:xfrm>
          <a:prstGeom prst="ellipse">
            <a:avLst/>
          </a:prstGeom>
          <a:solidFill>
            <a:srgbClr val="E8A33D"/>
          </a:solidFill>
          <a:ln/>
        </p:spPr>
      </p:sp>
      <p:pic>
        <p:nvPicPr>
          <p:cNvPr id="32" name="Image 2" descr="preencoded.png">    </p:cNvPr>
          <p:cNvPicPr>
            <a:picLocks noChangeAspect="1"/>
          </p:cNvPicPr>
          <p:nvPr/>
        </p:nvPicPr>
        <p:blipFill>
          <a:blip r:embed="rId3"/>
          <a:stretch>
            <a:fillRect/>
          </a:stretch>
        </p:blipFill>
        <p:spPr>
          <a:xfrm>
            <a:off x="813084" y="3089940"/>
            <a:ext cx="184343" cy="184343"/>
          </a:xfrm>
          <a:prstGeom prst="rect">
            <a:avLst/>
          </a:prstGeom>
        </p:spPr>
      </p:pic>
      <p:sp>
        <p:nvSpPr>
          <p:cNvPr id="33" name="Text 28"/>
          <p:cNvSpPr/>
          <p:nvPr/>
        </p:nvSpPr>
        <p:spPr>
          <a:xfrm>
            <a:off x="1261872" y="2953512"/>
            <a:ext cx="4846320" cy="868680"/>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For human review</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the “uncertain” pile, each with the AI's stated reason for doubt</a:t>
            </a:r>
            <a:endParaRPr lang="en-US" sz="1250" dirty="0"/>
          </a:p>
        </p:txBody>
      </p:sp>
      <p:sp>
        <p:nvSpPr>
          <p:cNvPr id="34" name="Shape 29"/>
          <p:cNvSpPr/>
          <p:nvPr/>
        </p:nvSpPr>
        <p:spPr>
          <a:xfrm>
            <a:off x="713232" y="3950208"/>
            <a:ext cx="384048" cy="384048"/>
          </a:xfrm>
          <a:prstGeom prst="ellipse">
            <a:avLst/>
          </a:prstGeom>
          <a:solidFill>
            <a:srgbClr val="8FA0B0"/>
          </a:solidFill>
          <a:ln/>
        </p:spPr>
      </p:sp>
      <p:pic>
        <p:nvPicPr>
          <p:cNvPr id="35" name="Image 3" descr="preencoded.png">    </p:cNvPr>
          <p:cNvPicPr>
            <a:picLocks noChangeAspect="1"/>
          </p:cNvPicPr>
          <p:nvPr/>
        </p:nvPicPr>
        <p:blipFill>
          <a:blip r:embed="rId4"/>
          <a:stretch>
            <a:fillRect/>
          </a:stretch>
        </p:blipFill>
        <p:spPr>
          <a:xfrm>
            <a:off x="813084" y="4050060"/>
            <a:ext cx="184343" cy="184343"/>
          </a:xfrm>
          <a:prstGeom prst="rect">
            <a:avLst/>
          </a:prstGeom>
        </p:spPr>
      </p:pic>
      <p:sp>
        <p:nvSpPr>
          <p:cNvPr id="36" name="Text 30"/>
          <p:cNvSpPr/>
          <p:nvPr/>
        </p:nvSpPr>
        <p:spPr>
          <a:xfrm>
            <a:off x="1261872" y="3913632"/>
            <a:ext cx="4846320" cy="868680"/>
          </a:xfrm>
          <a:prstGeom prst="rect">
            <a:avLst/>
          </a:prstGeom>
          <a:noFill/>
          <a:ln/>
        </p:spPr>
        <p:txBody>
          <a:bodyPr wrap="square" lIns="0" tIns="0" rIns="0" bIns="0" rtlCol="0" anchor="t"/>
          <a:lstStyle/>
          <a:p>
            <a:pPr indent="0" marL="0">
              <a:buNone/>
            </a:pPr>
            <a:r>
              <a:rPr lang="en-US" sz="1250" b="1" dirty="0">
                <a:solidFill>
                  <a:srgbClr val="0C2442"/>
                </a:solidFill>
                <a:latin typeface="Calibri" pitchFamily="34" charset="0"/>
                <a:ea typeface="Calibri" pitchFamily="34" charset="-122"/>
                <a:cs typeface="Calibri" pitchFamily="34" charset="-120"/>
              </a:rPr>
              <a:t>Rejected at the final gates</a:t>
            </a:r>
            <a:endParaRPr lang="en-US" sz="1250" dirty="0"/>
          </a:p>
          <a:p>
            <a:pPr indent="0" marL="0">
              <a:buNone/>
            </a:pPr>
            <a:r>
              <a:rPr lang="en-US" sz="1100" dirty="0">
                <a:solidFill>
                  <a:srgbClr val="1F2A3A"/>
                </a:solidFill>
                <a:latin typeface="Calibri" pitchFamily="34" charset="0"/>
                <a:ea typeface="Calibri" pitchFamily="34" charset="-122"/>
                <a:cs typeface="Calibri" pitchFamily="34" charset="-120"/>
              </a:rPr>
              <a:t>near-misses the deep checks threw out — so over-filtering is just as visible as alerts</a:t>
            </a:r>
            <a:endParaRPr lang="en-US" sz="1250" dirty="0"/>
          </a:p>
        </p:txBody>
      </p:sp>
      <p:sp>
        <p:nvSpPr>
          <p:cNvPr id="37" name="Text 31"/>
          <p:cNvSpPr/>
          <p:nvPr/>
        </p:nvSpPr>
        <p:spPr>
          <a:xfrm>
            <a:off x="713232" y="5102352"/>
            <a:ext cx="5303520" cy="237744"/>
          </a:xfrm>
          <a:prstGeom prst="rect">
            <a:avLst/>
          </a:prstGeom>
          <a:noFill/>
          <a:ln/>
        </p:spPr>
        <p:txBody>
          <a:bodyPr wrap="square" lIns="0" tIns="0" rIns="0" bIns="0" rtlCol="0" anchor="ctr"/>
          <a:lstStyle/>
          <a:p>
            <a:pPr indent="0" marL="0">
              <a:buNone/>
            </a:pPr>
            <a:r>
              <a:rPr lang="en-US" sz="950" b="1" spc="120" kern="0" dirty="0">
                <a:solidFill>
                  <a:srgbClr val="4F7492"/>
                </a:solidFill>
                <a:latin typeface="Arial" pitchFamily="34" charset="0"/>
                <a:ea typeface="Arial" pitchFamily="34" charset="-122"/>
                <a:cs typeface="Arial" pitchFamily="34" charset="-120"/>
              </a:rPr>
              <a:t>ONE-CLICK FEEDBACK AT THE FOOT OF EVERY ITEM</a:t>
            </a:r>
            <a:endParaRPr lang="en-US" sz="950" dirty="0"/>
          </a:p>
        </p:txBody>
      </p:sp>
      <p:sp>
        <p:nvSpPr>
          <p:cNvPr id="38" name="Shape 32"/>
          <p:cNvSpPr/>
          <p:nvPr/>
        </p:nvSpPr>
        <p:spPr>
          <a:xfrm>
            <a:off x="713232" y="5413248"/>
            <a:ext cx="797357" cy="402336"/>
          </a:xfrm>
          <a:prstGeom prst="roundRect">
            <a:avLst>
              <a:gd name="adj" fmla="val 50000"/>
            </a:avLst>
          </a:prstGeom>
          <a:solidFill>
            <a:srgbClr val="FFFFFF"/>
          </a:solidFill>
          <a:ln w="15875">
            <a:solidFill>
              <a:srgbClr val="4F7492"/>
            </a:solidFill>
            <a:prstDash val="solid"/>
          </a:ln>
        </p:spPr>
      </p:sp>
      <p:sp>
        <p:nvSpPr>
          <p:cNvPr id="39" name="Text 33"/>
          <p:cNvSpPr/>
          <p:nvPr/>
        </p:nvSpPr>
        <p:spPr>
          <a:xfrm>
            <a:off x="713232" y="5413248"/>
            <a:ext cx="797357" cy="402336"/>
          </a:xfrm>
          <a:prstGeom prst="rect">
            <a:avLst/>
          </a:prstGeom>
          <a:noFill/>
          <a:ln/>
        </p:spPr>
        <p:txBody>
          <a:bodyPr wrap="square" lIns="0" tIns="0" rIns="0" bIns="0" rtlCol="0" anchor="ctr"/>
          <a:lstStyle/>
          <a:p>
            <a:pPr algn="ctr" indent="0" marL="0">
              <a:buNone/>
            </a:pPr>
            <a:r>
              <a:rPr lang="en-US" sz="1050" b="1" dirty="0">
                <a:solidFill>
                  <a:srgbClr val="4F7492"/>
                </a:solidFill>
                <a:latin typeface="Calibri" pitchFamily="34" charset="0"/>
                <a:ea typeface="Calibri" pitchFamily="34" charset="-122"/>
                <a:cs typeface="Calibri" pitchFamily="34" charset="-120"/>
              </a:rPr>
              <a:t>Useful</a:t>
            </a:r>
            <a:endParaRPr lang="en-US" sz="1050" dirty="0"/>
          </a:p>
        </p:txBody>
      </p:sp>
      <p:sp>
        <p:nvSpPr>
          <p:cNvPr id="40" name="Shape 34"/>
          <p:cNvSpPr/>
          <p:nvPr/>
        </p:nvSpPr>
        <p:spPr>
          <a:xfrm>
            <a:off x="1638605" y="5413248"/>
            <a:ext cx="1472184" cy="402336"/>
          </a:xfrm>
          <a:prstGeom prst="roundRect">
            <a:avLst>
              <a:gd name="adj" fmla="val 50000"/>
            </a:avLst>
          </a:prstGeom>
          <a:solidFill>
            <a:srgbClr val="FFFFFF"/>
          </a:solidFill>
          <a:ln w="15875">
            <a:solidFill>
              <a:srgbClr val="4F7492"/>
            </a:solidFill>
            <a:prstDash val="solid"/>
          </a:ln>
        </p:spPr>
      </p:sp>
      <p:sp>
        <p:nvSpPr>
          <p:cNvPr id="41" name="Text 35"/>
          <p:cNvSpPr/>
          <p:nvPr/>
        </p:nvSpPr>
        <p:spPr>
          <a:xfrm>
            <a:off x="1638605" y="5413248"/>
            <a:ext cx="1472184" cy="402336"/>
          </a:xfrm>
          <a:prstGeom prst="rect">
            <a:avLst/>
          </a:prstGeom>
          <a:noFill/>
          <a:ln/>
        </p:spPr>
        <p:txBody>
          <a:bodyPr wrap="square" lIns="0" tIns="0" rIns="0" bIns="0" rtlCol="0" anchor="ctr"/>
          <a:lstStyle/>
          <a:p>
            <a:pPr algn="ctr" indent="0" marL="0">
              <a:buNone/>
            </a:pPr>
            <a:r>
              <a:rPr lang="en-US" sz="1050" b="1" dirty="0">
                <a:solidFill>
                  <a:srgbClr val="4F7492"/>
                </a:solidFill>
                <a:latin typeface="Calibri" pitchFamily="34" charset="0"/>
                <a:ea typeface="Calibri" pitchFamily="34" charset="-122"/>
                <a:cs typeface="Calibri" pitchFamily="34" charset="-120"/>
              </a:rPr>
              <a:t>Not significant</a:t>
            </a:r>
            <a:endParaRPr lang="en-US" sz="1050" dirty="0"/>
          </a:p>
        </p:txBody>
      </p:sp>
      <p:sp>
        <p:nvSpPr>
          <p:cNvPr id="42" name="Shape 36"/>
          <p:cNvSpPr/>
          <p:nvPr/>
        </p:nvSpPr>
        <p:spPr>
          <a:xfrm>
            <a:off x="3238805" y="5413248"/>
            <a:ext cx="1472184" cy="402336"/>
          </a:xfrm>
          <a:prstGeom prst="roundRect">
            <a:avLst>
              <a:gd name="adj" fmla="val 50000"/>
            </a:avLst>
          </a:prstGeom>
          <a:solidFill>
            <a:srgbClr val="FFFFFF"/>
          </a:solidFill>
          <a:ln w="15875">
            <a:solidFill>
              <a:srgbClr val="4F7492"/>
            </a:solidFill>
            <a:prstDash val="solid"/>
          </a:ln>
        </p:spPr>
      </p:sp>
      <p:sp>
        <p:nvSpPr>
          <p:cNvPr id="43" name="Text 37"/>
          <p:cNvSpPr/>
          <p:nvPr/>
        </p:nvSpPr>
        <p:spPr>
          <a:xfrm>
            <a:off x="3238805" y="5413248"/>
            <a:ext cx="1472184" cy="402336"/>
          </a:xfrm>
          <a:prstGeom prst="rect">
            <a:avLst/>
          </a:prstGeom>
          <a:noFill/>
          <a:ln/>
        </p:spPr>
        <p:txBody>
          <a:bodyPr wrap="square" lIns="0" tIns="0" rIns="0" bIns="0" rtlCol="0" anchor="ctr"/>
          <a:lstStyle/>
          <a:p>
            <a:pPr algn="ctr" indent="0" marL="0">
              <a:buNone/>
            </a:pPr>
            <a:r>
              <a:rPr lang="en-US" sz="1050" b="1" dirty="0">
                <a:solidFill>
                  <a:srgbClr val="4F7492"/>
                </a:solidFill>
                <a:latin typeface="Calibri" pitchFamily="34" charset="0"/>
                <a:ea typeface="Calibri" pitchFamily="34" charset="-122"/>
                <a:cs typeface="Calibri" pitchFamily="34" charset="-120"/>
              </a:rPr>
              <a:t>Wrong amendment</a:t>
            </a:r>
            <a:endParaRPr lang="en-US" sz="1050" dirty="0"/>
          </a:p>
        </p:txBody>
      </p:sp>
      <p:sp>
        <p:nvSpPr>
          <p:cNvPr id="44" name="Shape 38"/>
          <p:cNvSpPr/>
          <p:nvPr/>
        </p:nvSpPr>
        <p:spPr>
          <a:xfrm>
            <a:off x="4839005" y="5413248"/>
            <a:ext cx="1097280" cy="402336"/>
          </a:xfrm>
          <a:prstGeom prst="roundRect">
            <a:avLst>
              <a:gd name="adj" fmla="val 50000"/>
            </a:avLst>
          </a:prstGeom>
          <a:solidFill>
            <a:srgbClr val="FFFFFF"/>
          </a:solidFill>
          <a:ln w="15875">
            <a:solidFill>
              <a:srgbClr val="4F7492"/>
            </a:solidFill>
            <a:prstDash val="solid"/>
          </a:ln>
        </p:spPr>
      </p:sp>
      <p:sp>
        <p:nvSpPr>
          <p:cNvPr id="45" name="Text 39"/>
          <p:cNvSpPr/>
          <p:nvPr/>
        </p:nvSpPr>
        <p:spPr>
          <a:xfrm>
            <a:off x="4839005" y="5413248"/>
            <a:ext cx="1097280" cy="402336"/>
          </a:xfrm>
          <a:prstGeom prst="rect">
            <a:avLst/>
          </a:prstGeom>
          <a:noFill/>
          <a:ln/>
        </p:spPr>
        <p:txBody>
          <a:bodyPr wrap="square" lIns="0" tIns="0" rIns="0" bIns="0" rtlCol="0" anchor="ctr"/>
          <a:lstStyle/>
          <a:p>
            <a:pPr algn="ctr" indent="0" marL="0">
              <a:buNone/>
            </a:pPr>
            <a:r>
              <a:rPr lang="en-US" sz="1050" b="1" dirty="0">
                <a:solidFill>
                  <a:srgbClr val="4F7492"/>
                </a:solidFill>
                <a:latin typeface="Calibri" pitchFamily="34" charset="0"/>
                <a:ea typeface="Calibri" pitchFamily="34" charset="-122"/>
                <a:cs typeface="Calibri" pitchFamily="34" charset="-120"/>
              </a:rPr>
              <a:t>Wrong page</a:t>
            </a:r>
            <a:endParaRPr lang="en-US" sz="1050" dirty="0"/>
          </a:p>
        </p:txBody>
      </p:sp>
      <p:sp>
        <p:nvSpPr>
          <p:cNvPr id="46" name="Shape 40"/>
          <p:cNvSpPr/>
          <p:nvPr/>
        </p:nvSpPr>
        <p:spPr>
          <a:xfrm>
            <a:off x="6629400" y="1298448"/>
            <a:ext cx="5056632" cy="3931920"/>
          </a:xfrm>
          <a:prstGeom prst="roundRect">
            <a:avLst>
              <a:gd name="adj" fmla="val 2093"/>
            </a:avLst>
          </a:prstGeom>
          <a:solidFill>
            <a:srgbClr val="EEF2F7"/>
          </a:solidFill>
          <a:ln/>
        </p:spPr>
      </p:sp>
      <p:sp>
        <p:nvSpPr>
          <p:cNvPr id="47" name="Text 41"/>
          <p:cNvSpPr/>
          <p:nvPr/>
        </p:nvSpPr>
        <p:spPr>
          <a:xfrm>
            <a:off x="6876288" y="1444752"/>
            <a:ext cx="4572000" cy="274320"/>
          </a:xfrm>
          <a:prstGeom prst="rect">
            <a:avLst/>
          </a:prstGeom>
          <a:noFill/>
          <a:ln/>
        </p:spPr>
        <p:txBody>
          <a:bodyPr wrap="square" lIns="0" tIns="0" rIns="0" bIns="0" rtlCol="0" anchor="ctr"/>
          <a:lstStyle/>
          <a:p>
            <a:pPr indent="0" marL="0">
              <a:buNone/>
            </a:pPr>
            <a:r>
              <a:rPr lang="en-US" sz="1150" b="1" spc="100" kern="0" dirty="0">
                <a:solidFill>
                  <a:srgbClr val="0C2442"/>
                </a:solidFill>
                <a:latin typeface="Arial" pitchFamily="34" charset="0"/>
                <a:ea typeface="Arial" pitchFamily="34" charset="-122"/>
                <a:cs typeface="Arial" pitchFamily="34" charset="-120"/>
              </a:rPr>
              <a:t>THE LEARNING LOOP</a:t>
            </a:r>
            <a:endParaRPr lang="en-US" sz="1150" dirty="0"/>
          </a:p>
        </p:txBody>
      </p:sp>
      <p:sp>
        <p:nvSpPr>
          <p:cNvPr id="48" name="Shape 42"/>
          <p:cNvSpPr/>
          <p:nvPr/>
        </p:nvSpPr>
        <p:spPr>
          <a:xfrm>
            <a:off x="6876288" y="1810512"/>
            <a:ext cx="4160520" cy="658368"/>
          </a:xfrm>
          <a:prstGeom prst="roundRect">
            <a:avLst>
              <a:gd name="adj" fmla="val 12500"/>
            </a:avLst>
          </a:prstGeom>
          <a:solidFill>
            <a:srgbClr val="FFFFFF"/>
          </a:solidFill>
          <a:ln w="12700">
            <a:solidFill>
              <a:srgbClr val="C9D6E2"/>
            </a:solidFill>
            <a:prstDash val="solid"/>
          </a:ln>
        </p:spPr>
      </p:sp>
      <p:sp>
        <p:nvSpPr>
          <p:cNvPr id="49" name="Text 43"/>
          <p:cNvSpPr/>
          <p:nvPr/>
        </p:nvSpPr>
        <p:spPr>
          <a:xfrm>
            <a:off x="7040880" y="1810512"/>
            <a:ext cx="3886200" cy="658368"/>
          </a:xfrm>
          <a:prstGeom prst="rect">
            <a:avLst/>
          </a:prstGeom>
          <a:noFill/>
          <a:ln/>
        </p:spPr>
        <p:txBody>
          <a:bodyPr wrap="square" lIns="0" tIns="0" rIns="0" bIns="0" rtlCol="0" anchor="ctr"/>
          <a:lstStyle/>
          <a:p>
            <a:pPr indent="0" marL="0">
              <a:buNone/>
            </a:pPr>
            <a:r>
              <a:rPr lang="en-US" sz="1150" b="1" dirty="0">
                <a:solidFill>
                  <a:srgbClr val="0C2442"/>
                </a:solidFill>
                <a:latin typeface="Calibri" pitchFamily="34" charset="0"/>
                <a:ea typeface="Calibri" pitchFamily="34" charset="-122"/>
                <a:cs typeface="Calibri" pitchFamily="34" charset="-120"/>
              </a:rPr>
              <a:t>Tripwire alerts  </a:t>
            </a:r>
            <a:pPr indent="0" marL="0">
              <a:buNone/>
            </a:pPr>
            <a:r>
              <a:rPr lang="en-US" sz="1050" dirty="0">
                <a:solidFill>
                  <a:srgbClr val="5E6B7A"/>
                </a:solidFill>
                <a:latin typeface="Calibri" pitchFamily="34" charset="0"/>
                <a:ea typeface="Calibri" pitchFamily="34" charset="-122"/>
                <a:cs typeface="Calibri" pitchFamily="34" charset="-120"/>
              </a:rPr>
              <a:t>— one consolidated email per run</a:t>
            </a:r>
            <a:endParaRPr lang="en-US" sz="1150" dirty="0"/>
          </a:p>
        </p:txBody>
      </p:sp>
      <p:sp>
        <p:nvSpPr>
          <p:cNvPr id="50" name="Shape 44"/>
          <p:cNvSpPr/>
          <p:nvPr/>
        </p:nvSpPr>
        <p:spPr>
          <a:xfrm flipV="1">
            <a:off x="8869680" y="2496312"/>
            <a:ext cx="182880" cy="128016"/>
          </a:xfrm>
          <a:prstGeom prst="triangle">
            <a:avLst/>
          </a:prstGeom>
          <a:solidFill>
            <a:srgbClr val="4F7492"/>
          </a:solidFill>
          <a:ln/>
        </p:spPr>
      </p:sp>
      <p:sp>
        <p:nvSpPr>
          <p:cNvPr id="51" name="Shape 45"/>
          <p:cNvSpPr/>
          <p:nvPr/>
        </p:nvSpPr>
        <p:spPr>
          <a:xfrm>
            <a:off x="6876288" y="2660904"/>
            <a:ext cx="4160520" cy="658368"/>
          </a:xfrm>
          <a:prstGeom prst="roundRect">
            <a:avLst>
              <a:gd name="adj" fmla="val 12500"/>
            </a:avLst>
          </a:prstGeom>
          <a:solidFill>
            <a:srgbClr val="FFFFFF"/>
          </a:solidFill>
          <a:ln w="12700">
            <a:solidFill>
              <a:srgbClr val="C9D6E2"/>
            </a:solidFill>
            <a:prstDash val="solid"/>
          </a:ln>
        </p:spPr>
      </p:sp>
      <p:sp>
        <p:nvSpPr>
          <p:cNvPr id="52" name="Text 46"/>
          <p:cNvSpPr/>
          <p:nvPr/>
        </p:nvSpPr>
        <p:spPr>
          <a:xfrm>
            <a:off x="7040880" y="2660904"/>
            <a:ext cx="3886200" cy="658368"/>
          </a:xfrm>
          <a:prstGeom prst="rect">
            <a:avLst/>
          </a:prstGeom>
          <a:noFill/>
          <a:ln/>
        </p:spPr>
        <p:txBody>
          <a:bodyPr wrap="square" lIns="0" tIns="0" rIns="0" bIns="0" rtlCol="0" anchor="ctr"/>
          <a:lstStyle/>
          <a:p>
            <a:pPr indent="0" marL="0">
              <a:buNone/>
            </a:pPr>
            <a:r>
              <a:rPr lang="en-US" sz="1150" b="1" dirty="0">
                <a:solidFill>
                  <a:srgbClr val="0C2442"/>
                </a:solidFill>
                <a:latin typeface="Calibri" pitchFamily="34" charset="0"/>
                <a:ea typeface="Calibri" pitchFamily="34" charset="-122"/>
                <a:cs typeface="Calibri" pitchFamily="34" charset="-120"/>
              </a:rPr>
              <a:t>A person decides  </a:t>
            </a:r>
            <a:pPr indent="0" marL="0">
              <a:buNone/>
            </a:pPr>
            <a:r>
              <a:rPr lang="en-US" sz="1050" dirty="0">
                <a:solidFill>
                  <a:srgbClr val="5E6B7A"/>
                </a:solidFill>
                <a:latin typeface="Calibri" pitchFamily="34" charset="0"/>
                <a:ea typeface="Calibri" pitchFamily="34" charset="-122"/>
                <a:cs typeface="Calibri" pitchFamily="34" charset="-120"/>
              </a:rPr>
              <a:t>— acts on the site — and clicks one button</a:t>
            </a:r>
            <a:endParaRPr lang="en-US" sz="1150" dirty="0"/>
          </a:p>
        </p:txBody>
      </p:sp>
      <p:sp>
        <p:nvSpPr>
          <p:cNvPr id="53" name="Shape 47"/>
          <p:cNvSpPr/>
          <p:nvPr/>
        </p:nvSpPr>
        <p:spPr>
          <a:xfrm flipV="1">
            <a:off x="8869680" y="3346704"/>
            <a:ext cx="182880" cy="128016"/>
          </a:xfrm>
          <a:prstGeom prst="triangle">
            <a:avLst/>
          </a:prstGeom>
          <a:solidFill>
            <a:srgbClr val="4F7492"/>
          </a:solidFill>
          <a:ln/>
        </p:spPr>
      </p:sp>
      <p:sp>
        <p:nvSpPr>
          <p:cNvPr id="54" name="Shape 48"/>
          <p:cNvSpPr/>
          <p:nvPr/>
        </p:nvSpPr>
        <p:spPr>
          <a:xfrm>
            <a:off x="6876288" y="3511296"/>
            <a:ext cx="4160520" cy="658368"/>
          </a:xfrm>
          <a:prstGeom prst="roundRect">
            <a:avLst>
              <a:gd name="adj" fmla="val 12500"/>
            </a:avLst>
          </a:prstGeom>
          <a:solidFill>
            <a:srgbClr val="FFFFFF"/>
          </a:solidFill>
          <a:ln w="12700">
            <a:solidFill>
              <a:srgbClr val="C9D6E2"/>
            </a:solidFill>
            <a:prstDash val="solid"/>
          </a:ln>
        </p:spPr>
      </p:sp>
      <p:sp>
        <p:nvSpPr>
          <p:cNvPr id="55" name="Text 49"/>
          <p:cNvSpPr/>
          <p:nvPr/>
        </p:nvSpPr>
        <p:spPr>
          <a:xfrm>
            <a:off x="7040880" y="3511296"/>
            <a:ext cx="3886200" cy="658368"/>
          </a:xfrm>
          <a:prstGeom prst="rect">
            <a:avLst/>
          </a:prstGeom>
          <a:noFill/>
          <a:ln/>
        </p:spPr>
        <p:txBody>
          <a:bodyPr wrap="square" lIns="0" tIns="0" rIns="0" bIns="0" rtlCol="0" anchor="ctr"/>
          <a:lstStyle/>
          <a:p>
            <a:pPr indent="0" marL="0">
              <a:buNone/>
            </a:pPr>
            <a:r>
              <a:rPr lang="en-US" sz="1150" b="1" dirty="0">
                <a:solidFill>
                  <a:srgbClr val="0C2442"/>
                </a:solidFill>
                <a:latin typeface="Calibri" pitchFamily="34" charset="0"/>
                <a:ea typeface="Calibri" pitchFamily="34" charset="-122"/>
                <a:cs typeface="Calibri" pitchFamily="34" charset="-120"/>
              </a:rPr>
              <a:t>Replies filed automatically  </a:t>
            </a:r>
            <a:pPr indent="0" marL="0">
              <a:buNone/>
            </a:pPr>
            <a:r>
              <a:rPr lang="en-US" sz="1050" dirty="0">
                <a:solidFill>
                  <a:srgbClr val="5E6B7A"/>
                </a:solidFill>
                <a:latin typeface="Calibri" pitchFamily="34" charset="0"/>
                <a:ea typeface="Calibri" pitchFamily="34" charset="-122"/>
                <a:cs typeface="Calibri" pitchFamily="34" charset="-120"/>
              </a:rPr>
              <a:t>— a scheduled job reads the mailbox into structured records</a:t>
            </a:r>
            <a:endParaRPr lang="en-US" sz="1150" dirty="0"/>
          </a:p>
        </p:txBody>
      </p:sp>
      <p:sp>
        <p:nvSpPr>
          <p:cNvPr id="56" name="Shape 50"/>
          <p:cNvSpPr/>
          <p:nvPr/>
        </p:nvSpPr>
        <p:spPr>
          <a:xfrm flipV="1">
            <a:off x="8869680" y="4197096"/>
            <a:ext cx="182880" cy="128016"/>
          </a:xfrm>
          <a:prstGeom prst="triangle">
            <a:avLst/>
          </a:prstGeom>
          <a:solidFill>
            <a:srgbClr val="4F7492"/>
          </a:solidFill>
          <a:ln/>
        </p:spPr>
      </p:sp>
      <p:sp>
        <p:nvSpPr>
          <p:cNvPr id="57" name="Shape 51"/>
          <p:cNvSpPr/>
          <p:nvPr/>
        </p:nvSpPr>
        <p:spPr>
          <a:xfrm>
            <a:off x="6876288" y="4361688"/>
            <a:ext cx="4160520" cy="658368"/>
          </a:xfrm>
          <a:prstGeom prst="roundRect">
            <a:avLst>
              <a:gd name="adj" fmla="val 12500"/>
            </a:avLst>
          </a:prstGeom>
          <a:solidFill>
            <a:srgbClr val="FFFFFF"/>
          </a:solidFill>
          <a:ln w="12700">
            <a:solidFill>
              <a:srgbClr val="C9D6E2"/>
            </a:solidFill>
            <a:prstDash val="solid"/>
          </a:ln>
        </p:spPr>
      </p:sp>
      <p:sp>
        <p:nvSpPr>
          <p:cNvPr id="58" name="Text 52"/>
          <p:cNvSpPr/>
          <p:nvPr/>
        </p:nvSpPr>
        <p:spPr>
          <a:xfrm>
            <a:off x="7040880" y="4361688"/>
            <a:ext cx="3886200" cy="658368"/>
          </a:xfrm>
          <a:prstGeom prst="rect">
            <a:avLst/>
          </a:prstGeom>
          <a:noFill/>
          <a:ln/>
        </p:spPr>
        <p:txBody>
          <a:bodyPr wrap="square" lIns="0" tIns="0" rIns="0" bIns="0" rtlCol="0" anchor="ctr"/>
          <a:lstStyle/>
          <a:p>
            <a:pPr indent="0" marL="0">
              <a:buNone/>
            </a:pPr>
            <a:r>
              <a:rPr lang="en-US" sz="1150" b="1" dirty="0">
                <a:solidFill>
                  <a:srgbClr val="0C2442"/>
                </a:solidFill>
                <a:latin typeface="Calibri" pitchFamily="34" charset="0"/>
                <a:ea typeface="Calibri" pitchFamily="34" charset="-122"/>
                <a:cs typeface="Calibri" pitchFamily="34" charset="-120"/>
              </a:rPr>
              <a:t>Thresholds tuned on evidence  </a:t>
            </a:r>
            <a:pPr indent="0" marL="0">
              <a:buNone/>
            </a:pPr>
            <a:r>
              <a:rPr lang="en-US" sz="1050" dirty="0">
                <a:solidFill>
                  <a:srgbClr val="5E6B7A"/>
                </a:solidFill>
                <a:latin typeface="Calibri" pitchFamily="34" charset="0"/>
                <a:ea typeface="Calibri" pitchFamily="34" charset="-122"/>
                <a:cs typeface="Calibri" pitchFamily="34" charset="-120"/>
              </a:rPr>
              <a:t>— each button points at a different gate to adjust</a:t>
            </a:r>
            <a:endParaRPr lang="en-US" sz="1150" dirty="0"/>
          </a:p>
        </p:txBody>
      </p:sp>
      <p:sp>
        <p:nvSpPr>
          <p:cNvPr id="59" name="Shape 53"/>
          <p:cNvSpPr/>
          <p:nvPr/>
        </p:nvSpPr>
        <p:spPr>
          <a:xfrm>
            <a:off x="11201400" y="2139696"/>
            <a:ext cx="0" cy="2743200"/>
          </a:xfrm>
          <a:prstGeom prst="line">
            <a:avLst/>
          </a:prstGeom>
          <a:noFill/>
          <a:ln w="22225">
            <a:solidFill>
              <a:srgbClr val="4F7492"/>
            </a:solidFill>
            <a:prstDash val="dash"/>
            <a:tailEnd type="triangle"/>
          </a:ln>
        </p:spPr>
      </p:sp>
      <p:sp>
        <p:nvSpPr>
          <p:cNvPr id="60" name="Text 54"/>
          <p:cNvSpPr/>
          <p:nvPr/>
        </p:nvSpPr>
        <p:spPr>
          <a:xfrm>
            <a:off x="6876288" y="5349240"/>
            <a:ext cx="4809744" cy="777240"/>
          </a:xfrm>
          <a:prstGeom prst="rect">
            <a:avLst/>
          </a:prstGeom>
          <a:noFill/>
          <a:ln/>
        </p:spPr>
        <p:txBody>
          <a:bodyPr wrap="square" lIns="0" tIns="0" rIns="0" bIns="0" rtlCol="0" anchor="ctr"/>
          <a:lstStyle/>
          <a:p>
            <a:pPr indent="0" marL="0">
              <a:buNone/>
            </a:pPr>
            <a:r>
              <a:rPr lang="en-US" sz="1150" i="1" dirty="0">
                <a:solidFill>
                  <a:srgbClr val="5E6B7A"/>
                </a:solidFill>
                <a:latin typeface="Calibri" pitchFamily="34" charset="0"/>
                <a:ea typeface="Calibri" pitchFamily="34" charset="-122"/>
                <a:cs typeface="Calibri" pitchFamily="34" charset="-120"/>
              </a:rPr>
              <a:t>“Wrong page” tunes the search gates; “wrong amendment” tunes the exam. Feedback lands on the gate that erred.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FOR THE SCEPTICS</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Designed the way a cautious public servant thinks</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502920" y="1325880"/>
            <a:ext cx="3602736" cy="2084832"/>
          </a:xfrm>
          <a:prstGeom prst="roundRect">
            <a:avLst>
              <a:gd name="adj" fmla="val 3947"/>
            </a:avLst>
          </a:prstGeom>
          <a:solidFill>
            <a:srgbClr val="EEF2F7"/>
          </a:solidFill>
          <a:ln/>
        </p:spPr>
      </p:sp>
      <p:sp>
        <p:nvSpPr>
          <p:cNvPr id="6" name="Shape 4"/>
          <p:cNvSpPr/>
          <p:nvPr/>
        </p:nvSpPr>
        <p:spPr>
          <a:xfrm>
            <a:off x="704088" y="1527048"/>
            <a:ext cx="457200" cy="457200"/>
          </a:xfrm>
          <a:prstGeom prst="ellipse">
            <a:avLst/>
          </a:prstGeom>
          <a:solidFill>
            <a:srgbClr val="0C2442"/>
          </a:solidFill>
          <a:ln/>
        </p:spPr>
      </p:sp>
      <p:pic>
        <p:nvPicPr>
          <p:cNvPr id="7" name="Image 0" descr="preencoded.png">    </p:cNvPr>
          <p:cNvPicPr>
            <a:picLocks noChangeAspect="1"/>
          </p:cNvPicPr>
          <p:nvPr/>
        </p:nvPicPr>
        <p:blipFill>
          <a:blip r:embed="rId1"/>
          <a:stretch>
            <a:fillRect/>
          </a:stretch>
        </p:blipFill>
        <p:spPr>
          <a:xfrm>
            <a:off x="822960" y="1645920"/>
            <a:ext cx="219456" cy="219456"/>
          </a:xfrm>
          <a:prstGeom prst="rect">
            <a:avLst/>
          </a:prstGeom>
        </p:spPr>
      </p:pic>
      <p:sp>
        <p:nvSpPr>
          <p:cNvPr id="8" name="Text 5"/>
          <p:cNvSpPr/>
          <p:nvPr/>
        </p:nvSpPr>
        <p:spPr>
          <a:xfrm>
            <a:off x="1307592" y="1581912"/>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Watched itself first</a:t>
            </a:r>
            <a:endParaRPr lang="en-US" sz="1450" dirty="0"/>
          </a:p>
        </p:txBody>
      </p:sp>
      <p:sp>
        <p:nvSpPr>
          <p:cNvPr id="9" name="Text 6"/>
          <p:cNvSpPr/>
          <p:nvPr/>
        </p:nvSpPr>
        <p:spPr>
          <a:xfrm>
            <a:off x="722376" y="2103120"/>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weeks in observation mode — scoring everything, alerting no one — until thresholds were set on real evidence</a:t>
            </a:r>
            <a:endParaRPr lang="en-US" sz="1150" dirty="0"/>
          </a:p>
        </p:txBody>
      </p:sp>
      <p:sp>
        <p:nvSpPr>
          <p:cNvPr id="10" name="Shape 7"/>
          <p:cNvSpPr/>
          <p:nvPr/>
        </p:nvSpPr>
        <p:spPr>
          <a:xfrm>
            <a:off x="4293108" y="1325880"/>
            <a:ext cx="3602736" cy="2084832"/>
          </a:xfrm>
          <a:prstGeom prst="roundRect">
            <a:avLst>
              <a:gd name="adj" fmla="val 3947"/>
            </a:avLst>
          </a:prstGeom>
          <a:solidFill>
            <a:srgbClr val="EEF2F7"/>
          </a:solidFill>
          <a:ln/>
        </p:spPr>
      </p:sp>
      <p:sp>
        <p:nvSpPr>
          <p:cNvPr id="11" name="Shape 8"/>
          <p:cNvSpPr/>
          <p:nvPr/>
        </p:nvSpPr>
        <p:spPr>
          <a:xfrm>
            <a:off x="4494276" y="1527048"/>
            <a:ext cx="457200" cy="457200"/>
          </a:xfrm>
          <a:prstGeom prst="ellipse">
            <a:avLst/>
          </a:prstGeom>
          <a:solidFill>
            <a:srgbClr val="0C2442"/>
          </a:solidFill>
          <a:ln/>
        </p:spPr>
      </p:sp>
      <p:pic>
        <p:nvPicPr>
          <p:cNvPr id="12" name="Image 1" descr="preencoded.png">    </p:cNvPr>
          <p:cNvPicPr>
            <a:picLocks noChangeAspect="1"/>
          </p:cNvPicPr>
          <p:nvPr/>
        </p:nvPicPr>
        <p:blipFill>
          <a:blip r:embed="rId2"/>
          <a:stretch>
            <a:fillRect/>
          </a:stretch>
        </p:blipFill>
        <p:spPr>
          <a:xfrm>
            <a:off x="4613148" y="1645920"/>
            <a:ext cx="219456" cy="219456"/>
          </a:xfrm>
          <a:prstGeom prst="rect">
            <a:avLst/>
          </a:prstGeom>
        </p:spPr>
      </p:pic>
      <p:sp>
        <p:nvSpPr>
          <p:cNvPr id="13" name="Text 9"/>
          <p:cNvSpPr/>
          <p:nvPr/>
        </p:nvSpPr>
        <p:spPr>
          <a:xfrm>
            <a:off x="5097780" y="1581912"/>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Fails closed</a:t>
            </a:r>
            <a:endParaRPr lang="en-US" sz="1450" dirty="0"/>
          </a:p>
        </p:txBody>
      </p:sp>
      <p:sp>
        <p:nvSpPr>
          <p:cNvPr id="14" name="Text 10"/>
          <p:cNvSpPr/>
          <p:nvPr/>
        </p:nvSpPr>
        <p:spPr>
          <a:xfrm>
            <a:off x="4512564" y="2103120"/>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when uncertain, escalate to a human; a signal is never silently dropped anywhere in the funnel</a:t>
            </a:r>
            <a:endParaRPr lang="en-US" sz="1150" dirty="0"/>
          </a:p>
        </p:txBody>
      </p:sp>
      <p:sp>
        <p:nvSpPr>
          <p:cNvPr id="15" name="Shape 11"/>
          <p:cNvSpPr/>
          <p:nvPr/>
        </p:nvSpPr>
        <p:spPr>
          <a:xfrm>
            <a:off x="8083296" y="1325880"/>
            <a:ext cx="3602736" cy="2084832"/>
          </a:xfrm>
          <a:prstGeom prst="roundRect">
            <a:avLst>
              <a:gd name="adj" fmla="val 3947"/>
            </a:avLst>
          </a:prstGeom>
          <a:solidFill>
            <a:srgbClr val="EEF2F7"/>
          </a:solidFill>
          <a:ln/>
        </p:spPr>
      </p:sp>
      <p:sp>
        <p:nvSpPr>
          <p:cNvPr id="16" name="Shape 12"/>
          <p:cNvSpPr/>
          <p:nvPr/>
        </p:nvSpPr>
        <p:spPr>
          <a:xfrm>
            <a:off x="8284464" y="1527048"/>
            <a:ext cx="457200" cy="457200"/>
          </a:xfrm>
          <a:prstGeom prst="ellipse">
            <a:avLst/>
          </a:prstGeom>
          <a:solidFill>
            <a:srgbClr val="0C2442"/>
          </a:solidFill>
          <a:ln/>
        </p:spPr>
      </p:sp>
      <p:pic>
        <p:nvPicPr>
          <p:cNvPr id="17" name="Image 2" descr="preencoded.png">    </p:cNvPr>
          <p:cNvPicPr>
            <a:picLocks noChangeAspect="1"/>
          </p:cNvPicPr>
          <p:nvPr/>
        </p:nvPicPr>
        <p:blipFill>
          <a:blip r:embed="rId3"/>
          <a:stretch>
            <a:fillRect/>
          </a:stretch>
        </p:blipFill>
        <p:spPr>
          <a:xfrm>
            <a:off x="8403336" y="1645920"/>
            <a:ext cx="219456" cy="219456"/>
          </a:xfrm>
          <a:prstGeom prst="rect">
            <a:avLst/>
          </a:prstGeom>
        </p:spPr>
      </p:pic>
      <p:sp>
        <p:nvSpPr>
          <p:cNvPr id="18" name="Text 13"/>
          <p:cNvSpPr/>
          <p:nvPr/>
        </p:nvSpPr>
        <p:spPr>
          <a:xfrm>
            <a:off x="8887968" y="1581912"/>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Loses nothing</a:t>
            </a:r>
            <a:endParaRPr lang="en-US" sz="1450" dirty="0"/>
          </a:p>
        </p:txBody>
      </p:sp>
      <p:sp>
        <p:nvSpPr>
          <p:cNvPr id="19" name="Text 14"/>
          <p:cNvSpPr/>
          <p:nvPr/>
        </p:nvSpPr>
        <p:spPr>
          <a:xfrm>
            <a:off x="8302752" y="2103120"/>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AI service down? The briefing is parked and retried next run — before any new work is touched</a:t>
            </a:r>
            <a:endParaRPr lang="en-US" sz="1150" dirty="0"/>
          </a:p>
        </p:txBody>
      </p:sp>
      <p:sp>
        <p:nvSpPr>
          <p:cNvPr id="20" name="Shape 15"/>
          <p:cNvSpPr/>
          <p:nvPr/>
        </p:nvSpPr>
        <p:spPr>
          <a:xfrm>
            <a:off x="502920" y="3639312"/>
            <a:ext cx="3602736" cy="2084832"/>
          </a:xfrm>
          <a:prstGeom prst="roundRect">
            <a:avLst>
              <a:gd name="adj" fmla="val 3947"/>
            </a:avLst>
          </a:prstGeom>
          <a:solidFill>
            <a:srgbClr val="EEF2F7"/>
          </a:solidFill>
          <a:ln/>
        </p:spPr>
      </p:sp>
      <p:sp>
        <p:nvSpPr>
          <p:cNvPr id="21" name="Shape 16"/>
          <p:cNvSpPr/>
          <p:nvPr/>
        </p:nvSpPr>
        <p:spPr>
          <a:xfrm>
            <a:off x="704088" y="3840480"/>
            <a:ext cx="457200" cy="457200"/>
          </a:xfrm>
          <a:prstGeom prst="ellipse">
            <a:avLst/>
          </a:prstGeom>
          <a:solidFill>
            <a:srgbClr val="0C2442"/>
          </a:solidFill>
          <a:ln/>
        </p:spPr>
      </p:sp>
      <p:pic>
        <p:nvPicPr>
          <p:cNvPr id="22" name="Image 3" descr="preencoded.png">    </p:cNvPr>
          <p:cNvPicPr>
            <a:picLocks noChangeAspect="1"/>
          </p:cNvPicPr>
          <p:nvPr/>
        </p:nvPicPr>
        <p:blipFill>
          <a:blip r:embed="rId4"/>
          <a:stretch>
            <a:fillRect/>
          </a:stretch>
        </p:blipFill>
        <p:spPr>
          <a:xfrm>
            <a:off x="822960" y="3959352"/>
            <a:ext cx="219456" cy="219456"/>
          </a:xfrm>
          <a:prstGeom prst="rect">
            <a:avLst/>
          </a:prstGeom>
        </p:spPr>
      </p:pic>
      <p:sp>
        <p:nvSpPr>
          <p:cNvPr id="23" name="Text 17"/>
          <p:cNvSpPr/>
          <p:nvPr/>
        </p:nvSpPr>
        <p:spPr>
          <a:xfrm>
            <a:off x="1307592" y="3895344"/>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Logs everything</a:t>
            </a:r>
            <a:endParaRPr lang="en-US" sz="1450" dirty="0"/>
          </a:p>
        </p:txBody>
      </p:sp>
      <p:sp>
        <p:nvSpPr>
          <p:cNvPr id="24" name="Text 18"/>
          <p:cNvSpPr/>
          <p:nvPr/>
        </p:nvSpPr>
        <p:spPr>
          <a:xfrm>
            <a:off x="722376" y="4416552"/>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every gate's decision recorded — 12,000+ run records so far — plus a weekly report on score drift</a:t>
            </a:r>
            <a:endParaRPr lang="en-US" sz="1150" dirty="0"/>
          </a:p>
        </p:txBody>
      </p:sp>
      <p:sp>
        <p:nvSpPr>
          <p:cNvPr id="25" name="Shape 19"/>
          <p:cNvSpPr/>
          <p:nvPr/>
        </p:nvSpPr>
        <p:spPr>
          <a:xfrm>
            <a:off x="4293108" y="3639312"/>
            <a:ext cx="3602736" cy="2084832"/>
          </a:xfrm>
          <a:prstGeom prst="roundRect">
            <a:avLst>
              <a:gd name="adj" fmla="val 3947"/>
            </a:avLst>
          </a:prstGeom>
          <a:solidFill>
            <a:srgbClr val="EEF2F7"/>
          </a:solidFill>
          <a:ln/>
        </p:spPr>
      </p:sp>
      <p:sp>
        <p:nvSpPr>
          <p:cNvPr id="26" name="Shape 20"/>
          <p:cNvSpPr/>
          <p:nvPr/>
        </p:nvSpPr>
        <p:spPr>
          <a:xfrm>
            <a:off x="4494276" y="3840480"/>
            <a:ext cx="457200" cy="457200"/>
          </a:xfrm>
          <a:prstGeom prst="ellipse">
            <a:avLst/>
          </a:prstGeom>
          <a:solidFill>
            <a:srgbClr val="0C2442"/>
          </a:solidFill>
          <a:ln/>
        </p:spPr>
      </p:sp>
      <p:pic>
        <p:nvPicPr>
          <p:cNvPr id="27" name="Image 4" descr="preencoded.png">    </p:cNvPr>
          <p:cNvPicPr>
            <a:picLocks noChangeAspect="1"/>
          </p:cNvPicPr>
          <p:nvPr/>
        </p:nvPicPr>
        <p:blipFill>
          <a:blip r:embed="rId5"/>
          <a:stretch>
            <a:fillRect/>
          </a:stretch>
        </p:blipFill>
        <p:spPr>
          <a:xfrm>
            <a:off x="4613148" y="3959352"/>
            <a:ext cx="219456" cy="219456"/>
          </a:xfrm>
          <a:prstGeom prst="rect">
            <a:avLst/>
          </a:prstGeom>
        </p:spPr>
      </p:pic>
      <p:sp>
        <p:nvSpPr>
          <p:cNvPr id="28" name="Text 21"/>
          <p:cNvSpPr/>
          <p:nvPr/>
        </p:nvSpPr>
        <p:spPr>
          <a:xfrm>
            <a:off x="5097780" y="3895344"/>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Audited by design</a:t>
            </a:r>
            <a:endParaRPr lang="en-US" sz="1450" dirty="0"/>
          </a:p>
        </p:txBody>
      </p:sp>
      <p:sp>
        <p:nvSpPr>
          <p:cNvPr id="29" name="Text 22"/>
          <p:cNvSpPr/>
          <p:nvPr/>
        </p:nvSpPr>
        <p:spPr>
          <a:xfrm>
            <a:off x="4512564" y="4416552"/>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code, thresholds and content snapshots live in version control: every change is a tracked, attributable commit</a:t>
            </a:r>
            <a:endParaRPr lang="en-US" sz="1150" dirty="0"/>
          </a:p>
        </p:txBody>
      </p:sp>
      <p:sp>
        <p:nvSpPr>
          <p:cNvPr id="30" name="Shape 23"/>
          <p:cNvSpPr/>
          <p:nvPr/>
        </p:nvSpPr>
        <p:spPr>
          <a:xfrm>
            <a:off x="8083296" y="3639312"/>
            <a:ext cx="3602736" cy="2084832"/>
          </a:xfrm>
          <a:prstGeom prst="roundRect">
            <a:avLst>
              <a:gd name="adj" fmla="val 3947"/>
            </a:avLst>
          </a:prstGeom>
          <a:solidFill>
            <a:srgbClr val="EEF2F7"/>
          </a:solidFill>
          <a:ln/>
        </p:spPr>
      </p:sp>
      <p:sp>
        <p:nvSpPr>
          <p:cNvPr id="31" name="Shape 24"/>
          <p:cNvSpPr/>
          <p:nvPr/>
        </p:nvSpPr>
        <p:spPr>
          <a:xfrm>
            <a:off x="8284464" y="3840480"/>
            <a:ext cx="457200" cy="457200"/>
          </a:xfrm>
          <a:prstGeom prst="ellipse">
            <a:avLst/>
          </a:prstGeom>
          <a:solidFill>
            <a:srgbClr val="0C2442"/>
          </a:solidFill>
          <a:ln/>
        </p:spPr>
      </p:sp>
      <p:pic>
        <p:nvPicPr>
          <p:cNvPr id="32" name="Image 5" descr="preencoded.png">    </p:cNvPr>
          <p:cNvPicPr>
            <a:picLocks noChangeAspect="1"/>
          </p:cNvPicPr>
          <p:nvPr/>
        </p:nvPicPr>
        <p:blipFill>
          <a:blip r:embed="rId6"/>
          <a:stretch>
            <a:fillRect/>
          </a:stretch>
        </p:blipFill>
        <p:spPr>
          <a:xfrm>
            <a:off x="8403336" y="3959352"/>
            <a:ext cx="219456" cy="219456"/>
          </a:xfrm>
          <a:prstGeom prst="rect">
            <a:avLst/>
          </a:prstGeom>
        </p:spPr>
      </p:pic>
      <p:sp>
        <p:nvSpPr>
          <p:cNvPr id="33" name="Text 25"/>
          <p:cNvSpPr/>
          <p:nvPr/>
        </p:nvSpPr>
        <p:spPr>
          <a:xfrm>
            <a:off x="8887968" y="3895344"/>
            <a:ext cx="2642616" cy="347472"/>
          </a:xfrm>
          <a:prstGeom prst="rect">
            <a:avLst/>
          </a:prstGeom>
          <a:noFill/>
          <a:ln/>
        </p:spPr>
        <p:txBody>
          <a:bodyPr wrap="square" lIns="0" tIns="0" rIns="0" bIns="0" rtlCol="0" anchor="ctr"/>
          <a:lstStyle/>
          <a:p>
            <a:pPr indent="0" marL="0">
              <a:buNone/>
            </a:pPr>
            <a:r>
              <a:rPr lang="en-US" sz="1450" b="1" dirty="0">
                <a:solidFill>
                  <a:srgbClr val="0C2442"/>
                </a:solidFill>
                <a:latin typeface="Arial" pitchFamily="34" charset="0"/>
                <a:ea typeface="Arial" pitchFamily="34" charset="-122"/>
                <a:cs typeface="Arial" pitchFamily="34" charset="-120"/>
              </a:rPr>
              <a:t>Knows when it's sick</a:t>
            </a:r>
            <a:endParaRPr lang="en-US" sz="1450" dirty="0"/>
          </a:p>
        </p:txBody>
      </p:sp>
      <p:sp>
        <p:nvSpPr>
          <p:cNvPr id="34" name="Text 26"/>
          <p:cNvSpPr/>
          <p:nvPr/>
        </p:nvSpPr>
        <p:spPr>
          <a:xfrm>
            <a:off x="8302752" y="4416552"/>
            <a:ext cx="3163824" cy="1188720"/>
          </a:xfrm>
          <a:prstGeom prst="rect">
            <a:avLst/>
          </a:prstGeom>
          <a:noFill/>
          <a:ln/>
        </p:spPr>
        <p:txBody>
          <a:bodyPr wrap="square" lIns="0" tIns="0" rIns="0" bIns="0" rtlCol="0" anchor="ctr"/>
          <a:lstStyle/>
          <a:p>
            <a:pPr indent="0" marL="0">
              <a:buNone/>
            </a:pPr>
            <a:r>
              <a:rPr lang="en-US" sz="1150" dirty="0">
                <a:solidFill>
                  <a:srgbClr val="1F2A3A"/>
                </a:solidFill>
                <a:latin typeface="Calibri" pitchFamily="34" charset="0"/>
                <a:ea typeface="Calibri" pitchFamily="34" charset="-122"/>
                <a:cs typeface="Calibri" pitchFamily="34" charset="-120"/>
              </a:rPr>
              <a:t>repeated failures, error spikes or overruns trigger an alert about the pipeline itself — to the admin, not the content owner</a:t>
            </a:r>
            <a:endParaRPr lang="en-US" sz="1150" dirty="0"/>
          </a:p>
        </p:txBody>
      </p:sp>
      <p:sp>
        <p:nvSpPr>
          <p:cNvPr id="35" name="Text 27"/>
          <p:cNvSpPr/>
          <p:nvPr/>
        </p:nvSpPr>
        <p:spPr>
          <a:xfrm>
            <a:off x="502920" y="6035040"/>
            <a:ext cx="11183112" cy="411480"/>
          </a:xfrm>
          <a:prstGeom prst="rect">
            <a:avLst/>
          </a:prstGeom>
          <a:noFill/>
          <a:ln/>
        </p:spPr>
        <p:txBody>
          <a:bodyPr wrap="square" lIns="0" tIns="0" rIns="0" bIns="0" rtlCol="0" anchor="ctr"/>
          <a:lstStyle/>
          <a:p>
            <a:pPr algn="ctr" indent="0" marL="0">
              <a:buNone/>
            </a:pPr>
            <a:r>
              <a:rPr lang="en-US" sz="1450" b="1" dirty="0">
                <a:solidFill>
                  <a:srgbClr val="0C2442"/>
                </a:solidFill>
                <a:latin typeface="Arial" pitchFamily="34" charset="0"/>
                <a:ea typeface="Arial" pitchFamily="34" charset="-122"/>
                <a:cs typeface="Arial" pitchFamily="34" charset="-120"/>
              </a:rPr>
              <a:t>None of this is exotic. It's ordinary public-service caution, applied to an AI system from day one.</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ELEPHANT IN THE ROOM</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“Isn't this just Copilot?” — different species, actually</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18</a:t>
            </a:r>
            <a:endParaRPr lang="en-US" sz="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11183112" cy="914400"/>
        </p:xfrm>
        <a:graphic>
          <a:graphicData uri="http://schemas.openxmlformats.org/drawingml/2006/table">
            <a:tbl>
              <a:tblPr/>
              <a:tblGrid>
                <a:gridCol w="5591556"/>
                <a:gridCol w="5591556"/>
              </a:tblGrid>
              <a:tr h="457200">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A CHAT ASSISTANT  (Copilot &amp; friends)</a:t>
                      </a:r>
                      <a:endParaRPr lang="en-US" sz="1250" dirty="0">
                        <a:latin typeface="Arial" charset="0"/>
                        <a:ea typeface="Arial" charset="0"/>
                        <a:cs typeface="Arial"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4F7492"/>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AN ENGINEERED SYSTEM  (Tripwire)</a:t>
                      </a:r>
                      <a:endParaRPr lang="en-US" sz="1250" dirty="0">
                        <a:latin typeface="Arial" charset="0"/>
                        <a:ea typeface="Arial" charset="0"/>
                        <a:cs typeface="Arial"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C2442"/>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Waits for a person to ask it something</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Wakes itself up every morning and gets to work</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General-purpose: anything, adequately</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Single-purpose: one job, deeply</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Answers can vary each time you ask</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8 of 9 stages give identical output on identical input</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Reasoning happens out of sight</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Every step leaves a score in an auditable log</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You check its work, every time</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It checks its own work; humans review the evidence</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r>
              <a:tr h="512064">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Per-seat subscription</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c>
                  <a:txBody>
                    <a:bodyPr/>
                    <a:lstStyle/>
                    <a:p>
                      <a:pPr algn="l" indent="0" marL="0">
                        <a:buNone/>
                      </a:pPr>
                      <a:r>
                        <a:rPr lang="en-US" sz="1250" dirty="0">
                          <a:solidFill>
                            <a:srgbClr val="1F2A3A"/>
                          </a:solidFill>
                          <a:latin typeface="Calibri" pitchFamily="34" charset="0"/>
                          <a:ea typeface="Calibri" pitchFamily="34" charset="-122"/>
                          <a:cs typeface="Calibri" pitchFamily="34" charset="-120"/>
                        </a:rPr>
                        <a:t>Free scheduled compute + open models + cents of AI a day</a:t>
                      </a:r>
                      <a:endParaRPr lang="en-US" sz="1250" dirty="0">
                        <a:latin typeface="Calibri" charset="0"/>
                        <a:ea typeface="Calibri" charset="0"/>
                        <a:cs typeface="Calibri" charset="0"/>
                      </a:endParaRPr>
                    </a:p>
                  </a:txBody>
                  <a:tcPr marL="82296" marR="82296" marT="82296" marB="82296"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EF2F7"/>
                    </a:solidFill>
                  </a:tcPr>
                </a:tc>
              </a:tr>
            </a:tbl>
          </a:graphicData>
        </a:graphic>
      </p:graphicFrame>
      <p:sp>
        <p:nvSpPr>
          <p:cNvPr id="6" name="Shape 3"/>
          <p:cNvSpPr/>
          <p:nvPr/>
        </p:nvSpPr>
        <p:spPr>
          <a:xfrm>
            <a:off x="502920" y="5257800"/>
            <a:ext cx="11183112" cy="1005840"/>
          </a:xfrm>
          <a:prstGeom prst="roundRect">
            <a:avLst>
              <a:gd name="adj" fmla="val 8182"/>
            </a:avLst>
          </a:prstGeom>
          <a:solidFill>
            <a:srgbClr val="0C2442"/>
          </a:solidFill>
          <a:ln/>
        </p:spPr>
      </p:sp>
      <p:sp>
        <p:nvSpPr>
          <p:cNvPr id="7" name="Text 4"/>
          <p:cNvSpPr/>
          <p:nvPr/>
        </p:nvSpPr>
        <p:spPr>
          <a:xfrm>
            <a:off x="868680" y="5257800"/>
            <a:ext cx="10424160"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Both are useful — they're different species.  </a:t>
            </a:r>
            <a:pPr algn="ctr" indent="0" marL="0">
              <a:buNone/>
            </a:pPr>
            <a:r>
              <a:rPr lang="en-US" sz="1500" dirty="0">
                <a:solidFill>
                  <a:srgbClr val="FFFFFF"/>
                </a:solidFill>
                <a:latin typeface="Calibri" pitchFamily="34" charset="0"/>
                <a:ea typeface="Calibri" pitchFamily="34" charset="-122"/>
                <a:cs typeface="Calibri" pitchFamily="34" charset="-120"/>
              </a:rPr>
              <a:t>A chat assistant is a tool you drive. This is a process you audit. </a:t>
            </a:r>
            <a:pPr algn="ctr" indent="0" marL="0">
              <a:buNone/>
            </a:pPr>
            <a:r>
              <a:rPr lang="en-US" sz="1500" b="1" dirty="0">
                <a:solidFill>
                  <a:srgbClr val="E8A33D"/>
                </a:solidFill>
                <a:latin typeface="Calibri" pitchFamily="34" charset="0"/>
                <a:ea typeface="Calibri" pitchFamily="34" charset="-122"/>
                <a:cs typeface="Calibri" pitchFamily="34" charset="-120"/>
              </a:rPr>
              <a:t>The AI isn't the product — the system is.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lIns="0" tIns="0" rIns="0" bIns="0" rtlCol="0" anchor="ctr"/>
          <a:lstStyle/>
          <a:p>
            <a:pPr indent="0" marL="0">
              <a:buNone/>
            </a:pPr>
            <a:r>
              <a:rPr lang="en-US" sz="1100" b="1" spc="200" kern="0" dirty="0">
                <a:solidFill>
                  <a:srgbClr val="4F7492"/>
                </a:solidFill>
                <a:latin typeface="Arial" pitchFamily="34" charset="0"/>
                <a:ea typeface="Arial" pitchFamily="34" charset="-122"/>
                <a:cs typeface="Arial" pitchFamily="34" charset="-120"/>
              </a:rPr>
              <a:t>THE SPEED OF CURIOSITY</a:t>
            </a:r>
            <a:endParaRPr lang="en-US" sz="1100" dirty="0"/>
          </a:p>
        </p:txBody>
      </p:sp>
      <p:sp>
        <p:nvSpPr>
          <p:cNvPr id="3" name="Text 1"/>
          <p:cNvSpPr/>
          <p:nvPr/>
        </p:nvSpPr>
        <p:spPr>
          <a:xfrm>
            <a:off x="502920" y="512064"/>
            <a:ext cx="11183112" cy="566928"/>
          </a:xfrm>
          <a:prstGeom prst="rect">
            <a:avLst/>
          </a:prstGeom>
          <a:noFill/>
          <a:ln/>
        </p:spPr>
        <p:txBody>
          <a:bodyPr wrap="square" lIns="0" tIns="0" rIns="0" bIns="0" rtlCol="0" anchor="ctr"/>
          <a:lstStyle/>
          <a:p>
            <a:pPr indent="0" marL="0">
              <a:buNone/>
            </a:pPr>
            <a:r>
              <a:rPr lang="en-US" sz="2600" b="1" dirty="0">
                <a:solidFill>
                  <a:srgbClr val="0C2442"/>
                </a:solidFill>
                <a:latin typeface="Arial" pitchFamily="34" charset="0"/>
                <a:ea typeface="Arial" pitchFamily="34" charset="-122"/>
                <a:cs typeface="Arial" pitchFamily="34" charset="-120"/>
              </a:rPr>
              <a:t>What it actually took</a:t>
            </a:r>
            <a:endParaRPr lang="en-US" sz="2600" dirty="0"/>
          </a:p>
        </p:txBody>
      </p:sp>
      <p:sp>
        <p:nvSpPr>
          <p:cNvPr id="4" name="Text 2"/>
          <p:cNvSpPr/>
          <p:nvPr/>
        </p:nvSpPr>
        <p:spPr>
          <a:xfrm>
            <a:off x="11414455" y="6510528"/>
            <a:ext cx="365760" cy="256032"/>
          </a:xfrm>
          <a:prstGeom prst="rect">
            <a:avLst/>
          </a:prstGeom>
          <a:noFill/>
          <a:ln/>
        </p:spPr>
        <p:txBody>
          <a:bodyPr wrap="square" lIns="0" tIns="0" rIns="0" bIns="0" rtlCol="0" anchor="ctr"/>
          <a:lstStyle/>
          <a:p>
            <a:pPr algn="r" indent="0" marL="0">
              <a:buNone/>
            </a:pPr>
            <a:r>
              <a:rPr lang="en-US" sz="900" dirty="0">
                <a:solidFill>
                  <a:srgbClr val="5E6B7A"/>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502920" y="1325880"/>
            <a:ext cx="3602736" cy="2103120"/>
          </a:xfrm>
          <a:prstGeom prst="roundRect">
            <a:avLst>
              <a:gd name="adj" fmla="val 3913"/>
            </a:avLst>
          </a:prstGeom>
          <a:solidFill>
            <a:srgbClr val="EEF2F7"/>
          </a:solidFill>
          <a:ln/>
        </p:spPr>
      </p:sp>
      <p:sp>
        <p:nvSpPr>
          <p:cNvPr id="6" name="Text 4"/>
          <p:cNvSpPr/>
          <p:nvPr/>
        </p:nvSpPr>
        <p:spPr>
          <a:xfrm>
            <a:off x="685800" y="1463040"/>
            <a:ext cx="3236976" cy="868680"/>
          </a:xfrm>
          <a:prstGeom prst="rect">
            <a:avLst/>
          </a:prstGeom>
          <a:noFill/>
          <a:ln/>
        </p:spPr>
        <p:txBody>
          <a:bodyPr wrap="square" lIns="0" tIns="0" rIns="0" bIns="0" rtlCol="0" anchor="ctr"/>
          <a:lstStyle/>
          <a:p>
            <a:pPr algn="ctr" indent="0" marL="0">
              <a:buNone/>
            </a:pPr>
            <a:r>
              <a:rPr lang="en-US" sz="4600" b="1" dirty="0">
                <a:solidFill>
                  <a:srgbClr val="0C2442"/>
                </a:solidFill>
                <a:latin typeface="Arial" pitchFamily="34" charset="0"/>
                <a:ea typeface="Arial" pitchFamily="34" charset="-122"/>
                <a:cs typeface="Arial" pitchFamily="34" charset="-120"/>
              </a:rPr>
              <a:t>1</a:t>
            </a:r>
            <a:endParaRPr lang="en-US" sz="4600" dirty="0"/>
          </a:p>
        </p:txBody>
      </p:sp>
      <p:sp>
        <p:nvSpPr>
          <p:cNvPr id="7" name="Text 5"/>
          <p:cNvSpPr/>
          <p:nvPr/>
        </p:nvSpPr>
        <p:spPr>
          <a:xfrm>
            <a:off x="777240" y="2377440"/>
            <a:ext cx="3054096" cy="960120"/>
          </a:xfrm>
          <a:prstGeom prst="rect">
            <a:avLst/>
          </a:prstGeom>
          <a:noFill/>
          <a:ln/>
        </p:spPr>
        <p:txBody>
          <a:bodyPr wrap="square" lIns="0" tIns="0" rIns="0" bIns="0" rtlCol="0" anchor="ctr"/>
          <a:lstStyle/>
          <a:p>
            <a:pPr algn="ctr" indent="0" marL="0">
              <a:buNone/>
            </a:pPr>
            <a:r>
              <a:rPr lang="en-US" sz="1150" dirty="0">
                <a:solidFill>
                  <a:srgbClr val="1F2A3A"/>
                </a:solidFill>
                <a:latin typeface="Calibri" pitchFamily="34" charset="0"/>
                <a:ea typeface="Calibri" pitchFamily="34" charset="-122"/>
                <a:cs typeface="Calibri" pitchFamily="34" charset="-120"/>
              </a:rPr>
              <a:t>curious public servant — no formal computing background — pair-programming with Claude Code</a:t>
            </a:r>
            <a:endParaRPr lang="en-US" sz="1150" dirty="0"/>
          </a:p>
        </p:txBody>
      </p:sp>
      <p:sp>
        <p:nvSpPr>
          <p:cNvPr id="8" name="Shape 6"/>
          <p:cNvSpPr/>
          <p:nvPr/>
        </p:nvSpPr>
        <p:spPr>
          <a:xfrm>
            <a:off x="4293108" y="1325880"/>
            <a:ext cx="3602736" cy="2103120"/>
          </a:xfrm>
          <a:prstGeom prst="roundRect">
            <a:avLst>
              <a:gd name="adj" fmla="val 3913"/>
            </a:avLst>
          </a:prstGeom>
          <a:solidFill>
            <a:srgbClr val="EEF2F7"/>
          </a:solidFill>
          <a:ln/>
        </p:spPr>
      </p:sp>
      <p:sp>
        <p:nvSpPr>
          <p:cNvPr id="9" name="Text 7"/>
          <p:cNvSpPr/>
          <p:nvPr/>
        </p:nvSpPr>
        <p:spPr>
          <a:xfrm>
            <a:off x="4475988" y="1463040"/>
            <a:ext cx="3236976" cy="868680"/>
          </a:xfrm>
          <a:prstGeom prst="rect">
            <a:avLst/>
          </a:prstGeom>
          <a:noFill/>
          <a:ln/>
        </p:spPr>
        <p:txBody>
          <a:bodyPr wrap="square" lIns="0" tIns="0" rIns="0" bIns="0" rtlCol="0" anchor="ctr"/>
          <a:lstStyle/>
          <a:p>
            <a:pPr algn="ctr" indent="0" marL="0">
              <a:buNone/>
            </a:pPr>
            <a:r>
              <a:rPr lang="en-US" sz="4600" b="1" dirty="0">
                <a:solidFill>
                  <a:srgbClr val="0C2442"/>
                </a:solidFill>
                <a:latin typeface="Arial" pitchFamily="34" charset="0"/>
                <a:ea typeface="Arial" pitchFamily="34" charset="-122"/>
                <a:cs typeface="Arial" pitchFamily="34" charset="-120"/>
              </a:rPr>
              <a:t>9+1</a:t>
            </a:r>
            <a:endParaRPr lang="en-US" sz="4600" dirty="0"/>
          </a:p>
        </p:txBody>
      </p:sp>
      <p:sp>
        <p:nvSpPr>
          <p:cNvPr id="10" name="Text 8"/>
          <p:cNvSpPr/>
          <p:nvPr/>
        </p:nvSpPr>
        <p:spPr>
          <a:xfrm>
            <a:off x="4567428" y="2377440"/>
            <a:ext cx="3054096" cy="960120"/>
          </a:xfrm>
          <a:prstGeom prst="rect">
            <a:avLst/>
          </a:prstGeom>
          <a:noFill/>
          <a:ln/>
        </p:spPr>
        <p:txBody>
          <a:bodyPr wrap="square" lIns="0" tIns="0" rIns="0" bIns="0" rtlCol="0" anchor="ctr"/>
          <a:lstStyle/>
          <a:p>
            <a:pPr algn="ctr" indent="0" marL="0">
              <a:buNone/>
            </a:pPr>
            <a:r>
              <a:rPr lang="en-US" sz="1150" dirty="0">
                <a:solidFill>
                  <a:srgbClr val="1F2A3A"/>
                </a:solidFill>
                <a:latin typeface="Calibri" pitchFamily="34" charset="0"/>
                <a:ea typeface="Calibri" pitchFamily="34" charset="-122"/>
                <a:cs typeface="Calibri" pitchFamily="34" charset="-120"/>
              </a:rPr>
              <a:t>pipeline stages, plus the nightly corpus study — with tests, runbooks and health alerts around them</a:t>
            </a:r>
            <a:endParaRPr lang="en-US" sz="1150" dirty="0"/>
          </a:p>
        </p:txBody>
      </p:sp>
      <p:sp>
        <p:nvSpPr>
          <p:cNvPr id="11" name="Shape 9"/>
          <p:cNvSpPr/>
          <p:nvPr/>
        </p:nvSpPr>
        <p:spPr>
          <a:xfrm>
            <a:off x="8083296" y="1325880"/>
            <a:ext cx="3602736" cy="2103120"/>
          </a:xfrm>
          <a:prstGeom prst="roundRect">
            <a:avLst>
              <a:gd name="adj" fmla="val 3913"/>
            </a:avLst>
          </a:prstGeom>
          <a:solidFill>
            <a:srgbClr val="EEF2F7"/>
          </a:solidFill>
          <a:ln/>
        </p:spPr>
      </p:sp>
      <p:sp>
        <p:nvSpPr>
          <p:cNvPr id="12" name="Text 10"/>
          <p:cNvSpPr/>
          <p:nvPr/>
        </p:nvSpPr>
        <p:spPr>
          <a:xfrm>
            <a:off x="8266176" y="1463040"/>
            <a:ext cx="3236976" cy="868680"/>
          </a:xfrm>
          <a:prstGeom prst="rect">
            <a:avLst/>
          </a:prstGeom>
          <a:noFill/>
          <a:ln/>
        </p:spPr>
        <p:txBody>
          <a:bodyPr wrap="square" lIns="0" tIns="0" rIns="0" bIns="0" rtlCol="0" anchor="ctr"/>
          <a:lstStyle/>
          <a:p>
            <a:pPr algn="ctr" indent="0" marL="0">
              <a:buNone/>
            </a:pPr>
            <a:r>
              <a:rPr lang="en-US" sz="4600" b="1" dirty="0">
                <a:solidFill>
                  <a:srgbClr val="0C2442"/>
                </a:solidFill>
                <a:latin typeface="Arial" pitchFamily="34" charset="0"/>
                <a:ea typeface="Arial" pitchFamily="34" charset="-122"/>
                <a:cs typeface="Arial" pitchFamily="34" charset="-120"/>
              </a:rPr>
              <a:t>$0</a:t>
            </a:r>
            <a:endParaRPr lang="en-US" sz="4600" dirty="0"/>
          </a:p>
        </p:txBody>
      </p:sp>
      <p:sp>
        <p:nvSpPr>
          <p:cNvPr id="13" name="Text 11"/>
          <p:cNvSpPr/>
          <p:nvPr/>
        </p:nvSpPr>
        <p:spPr>
          <a:xfrm>
            <a:off x="8357616" y="2377440"/>
            <a:ext cx="3054096" cy="960120"/>
          </a:xfrm>
          <a:prstGeom prst="rect">
            <a:avLst/>
          </a:prstGeom>
          <a:noFill/>
          <a:ln/>
        </p:spPr>
        <p:txBody>
          <a:bodyPr wrap="square" lIns="0" tIns="0" rIns="0" bIns="0" rtlCol="0" anchor="ctr"/>
          <a:lstStyle/>
          <a:p>
            <a:pPr algn="ctr" indent="0" marL="0">
              <a:buNone/>
            </a:pPr>
            <a:r>
              <a:rPr lang="en-US" sz="1150" dirty="0">
                <a:solidFill>
                  <a:srgbClr val="1F2A3A"/>
                </a:solidFill>
                <a:latin typeface="Calibri" pitchFamily="34" charset="0"/>
                <a:ea typeface="Calibri" pitchFamily="34" charset="-122"/>
                <a:cs typeface="Calibri" pitchFamily="34" charset="-120"/>
              </a:rPr>
              <a:t>infrastructure — free scheduled compute and open-source models; the AI bill is cents a day</a:t>
            </a:r>
            <a:endParaRPr lang="en-US" sz="1150" dirty="0"/>
          </a:p>
        </p:txBody>
      </p:sp>
      <p:sp>
        <p:nvSpPr>
          <p:cNvPr id="14" name="Shape 12"/>
          <p:cNvSpPr/>
          <p:nvPr/>
        </p:nvSpPr>
        <p:spPr>
          <a:xfrm>
            <a:off x="502920" y="3657600"/>
            <a:ext cx="5486400" cy="1417320"/>
          </a:xfrm>
          <a:prstGeom prst="roundRect">
            <a:avLst>
              <a:gd name="adj" fmla="val 5806"/>
            </a:avLst>
          </a:prstGeom>
          <a:solidFill>
            <a:srgbClr val="FFFFFF"/>
          </a:solidFill>
          <a:ln w="12700">
            <a:solidFill>
              <a:srgbClr val="C9D6E2"/>
            </a:solidFill>
            <a:prstDash val="solid"/>
          </a:ln>
        </p:spPr>
      </p:sp>
      <p:sp>
        <p:nvSpPr>
          <p:cNvPr id="15" name="Text 13"/>
          <p:cNvSpPr/>
          <p:nvPr/>
        </p:nvSpPr>
        <p:spPr>
          <a:xfrm>
            <a:off x="777240" y="3822192"/>
            <a:ext cx="4937760" cy="320040"/>
          </a:xfrm>
          <a:prstGeom prst="rect">
            <a:avLst/>
          </a:prstGeom>
          <a:noFill/>
          <a:ln/>
        </p:spPr>
        <p:txBody>
          <a:bodyPr wrap="square" lIns="0" tIns="0" rIns="0" bIns="0" rtlCol="0" anchor="ctr"/>
          <a:lstStyle/>
          <a:p>
            <a:pPr indent="0" marL="0">
              <a:buNone/>
            </a:pPr>
            <a:r>
              <a:rPr lang="en-US" sz="1550" b="1" dirty="0">
                <a:solidFill>
                  <a:srgbClr val="0C2442"/>
                </a:solidFill>
                <a:latin typeface="Arial" pitchFamily="34" charset="0"/>
                <a:ea typeface="Arial" pitchFamily="34" charset="-122"/>
                <a:cs typeface="Arial" pitchFamily="34" charset="-120"/>
              </a:rPr>
              <a:t>Weeks of part-time building</a:t>
            </a:r>
            <a:endParaRPr lang="en-US" sz="1550" dirty="0"/>
          </a:p>
        </p:txBody>
      </p:sp>
      <p:sp>
        <p:nvSpPr>
          <p:cNvPr id="16" name="Text 14"/>
          <p:cNvSpPr/>
          <p:nvPr/>
        </p:nvSpPr>
        <p:spPr>
          <a:xfrm>
            <a:off x="777240" y="4206240"/>
            <a:ext cx="4937760" cy="73152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spare hours and stubborn questions — not a business case, a vendor and an 18-month roadmap</a:t>
            </a:r>
            <a:endParaRPr lang="en-US" sz="1250" dirty="0"/>
          </a:p>
        </p:txBody>
      </p:sp>
      <p:sp>
        <p:nvSpPr>
          <p:cNvPr id="17" name="Shape 15"/>
          <p:cNvSpPr/>
          <p:nvPr/>
        </p:nvSpPr>
        <p:spPr>
          <a:xfrm>
            <a:off x="6199632" y="3657600"/>
            <a:ext cx="5486400" cy="1417320"/>
          </a:xfrm>
          <a:prstGeom prst="roundRect">
            <a:avLst>
              <a:gd name="adj" fmla="val 5806"/>
            </a:avLst>
          </a:prstGeom>
          <a:solidFill>
            <a:srgbClr val="FFFFFF"/>
          </a:solidFill>
          <a:ln w="12700">
            <a:solidFill>
              <a:srgbClr val="C9D6E2"/>
            </a:solidFill>
            <a:prstDash val="solid"/>
          </a:ln>
        </p:spPr>
      </p:sp>
      <p:sp>
        <p:nvSpPr>
          <p:cNvPr id="18" name="Text 16"/>
          <p:cNvSpPr/>
          <p:nvPr/>
        </p:nvSpPr>
        <p:spPr>
          <a:xfrm>
            <a:off x="6473952" y="3822192"/>
            <a:ext cx="4937760" cy="320040"/>
          </a:xfrm>
          <a:prstGeom prst="rect">
            <a:avLst/>
          </a:prstGeom>
          <a:noFill/>
          <a:ln/>
        </p:spPr>
        <p:txBody>
          <a:bodyPr wrap="square" lIns="0" tIns="0" rIns="0" bIns="0" rtlCol="0" anchor="ctr"/>
          <a:lstStyle/>
          <a:p>
            <a:pPr indent="0" marL="0">
              <a:buNone/>
            </a:pPr>
            <a:r>
              <a:rPr lang="en-US" sz="1550" b="1" dirty="0">
                <a:solidFill>
                  <a:srgbClr val="0C2442"/>
                </a:solidFill>
                <a:latin typeface="Arial" pitchFamily="34" charset="0"/>
                <a:ea typeface="Arial" pitchFamily="34" charset="-122"/>
                <a:cs typeface="Arial" pitchFamily="34" charset="-120"/>
              </a:rPr>
              <a:t>Design first, code second</a:t>
            </a:r>
            <a:endParaRPr lang="en-US" sz="1550" dirty="0"/>
          </a:p>
        </p:txBody>
      </p:sp>
      <p:sp>
        <p:nvSpPr>
          <p:cNvPr id="19" name="Text 17"/>
          <p:cNvSpPr/>
          <p:nvPr/>
        </p:nvSpPr>
        <p:spPr>
          <a:xfrm>
            <a:off x="6473952" y="4206240"/>
            <a:ext cx="4937760" cy="731520"/>
          </a:xfrm>
          <a:prstGeom prst="rect">
            <a:avLst/>
          </a:prstGeom>
          <a:noFill/>
          <a:ln/>
        </p:spPr>
        <p:txBody>
          <a:bodyPr wrap="square" lIns="0" tIns="0" rIns="0" bIns="0" rtlCol="0" anchor="ctr"/>
          <a:lstStyle/>
          <a:p>
            <a:pPr indent="0" marL="0">
              <a:buNone/>
            </a:pPr>
            <a:r>
              <a:rPr lang="en-US" sz="1250" dirty="0">
                <a:solidFill>
                  <a:srgbClr val="1F2A3A"/>
                </a:solidFill>
                <a:latin typeface="Calibri" pitchFamily="34" charset="0"/>
                <a:ea typeface="Calibri" pitchFamily="34" charset="-122"/>
                <a:cs typeface="Calibri" pitchFamily="34" charset="-120"/>
              </a:rPr>
              <a:t>the system plan was written before the code; every stage was specified, then built, then tested</a:t>
            </a:r>
            <a:endParaRPr lang="en-US" sz="1250" dirty="0"/>
          </a:p>
        </p:txBody>
      </p:sp>
      <p:sp>
        <p:nvSpPr>
          <p:cNvPr id="20" name="Text 18"/>
          <p:cNvSpPr/>
          <p:nvPr/>
        </p:nvSpPr>
        <p:spPr>
          <a:xfrm>
            <a:off x="502920" y="5440680"/>
            <a:ext cx="11183112" cy="914400"/>
          </a:xfrm>
          <a:prstGeom prst="rect">
            <a:avLst/>
          </a:prstGeom>
          <a:noFill/>
          <a:ln/>
        </p:spPr>
        <p:txBody>
          <a:bodyPr wrap="square" lIns="0" tIns="0" rIns="0" bIns="0" rtlCol="0" anchor="ctr"/>
          <a:lstStyle/>
          <a:p>
            <a:pPr algn="ctr" indent="0" marL="0">
              <a:buNone/>
            </a:pPr>
            <a:r>
              <a:rPr lang="en-US" sz="1900" b="1" dirty="0">
                <a:solidFill>
                  <a:srgbClr val="0C2442"/>
                </a:solidFill>
                <a:latin typeface="Arial" pitchFamily="34" charset="0"/>
                <a:ea typeface="Arial" pitchFamily="34" charset="-122"/>
                <a:cs typeface="Arial" pitchFamily="34" charset="-120"/>
              </a:rPr>
              <a:t>The scarce ingredients weren't budget or a delivery team.</a:t>
            </a:r>
            <a:endParaRPr lang="en-US" sz="1900" dirty="0"/>
          </a:p>
          <a:p>
            <a:pPr algn="ctr" indent="0" marL="0">
              <a:buNone/>
            </a:pPr>
            <a:r>
              <a:rPr lang="en-US" sz="1900" b="1" dirty="0">
                <a:solidFill>
                  <a:srgbClr val="0C2442"/>
                </a:solidFill>
                <a:latin typeface="Arial" pitchFamily="34" charset="0"/>
                <a:ea typeface="Arial" pitchFamily="34" charset="-122"/>
                <a:cs typeface="Arial" pitchFamily="34" charset="-120"/>
              </a:rPr>
              <a:t>They were curiosity — and permission to try.</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442"/>
        </a:solidFill>
      </p:bgPr>
    </p:bg>
    <p:spTree>
      <p:nvGrpSpPr>
        <p:cNvPr id="1" name=""/>
        <p:cNvGrpSpPr/>
        <p:nvPr/>
      </p:nvGrpSpPr>
      <p:grpSpPr>
        <a:xfrm>
          <a:off x="0" y="0"/>
          <a:ext cx="0" cy="0"/>
          <a:chOff x="0" y="0"/>
          <a:chExt cx="0" cy="0"/>
        </a:xfrm>
      </p:grpSpPr>
      <p:sp>
        <p:nvSpPr>
          <p:cNvPr id="2" name="Text 0"/>
          <p:cNvSpPr/>
          <p:nvPr/>
        </p:nvSpPr>
        <p:spPr>
          <a:xfrm>
            <a:off x="1097280" y="1554480"/>
            <a:ext cx="9994392" cy="2377440"/>
          </a:xfrm>
          <a:prstGeom prst="rect">
            <a:avLst/>
          </a:prstGeom>
          <a:noFill/>
          <a:ln/>
        </p:spPr>
        <p:txBody>
          <a:bodyPr wrap="square" lIns="0" tIns="0" rIns="0" bIns="0" rtlCol="0" anchor="ctr"/>
          <a:lstStyle/>
          <a:p>
            <a:pPr algn="ctr" indent="0" marL="0">
              <a:lnSpc>
                <a:spcPts val="4600"/>
              </a:lnSpc>
              <a:buNone/>
            </a:pPr>
            <a:r>
              <a:rPr lang="en-US" sz="3000" b="1" dirty="0">
                <a:solidFill>
                  <a:srgbClr val="FFFFFF"/>
                </a:solidFill>
                <a:latin typeface="Arial" pitchFamily="34" charset="0"/>
                <a:ea typeface="Arial" pitchFamily="34" charset="-122"/>
                <a:cs typeface="Arial" pitchFamily="34" charset="-120"/>
              </a:rPr>
              <a:t>Cheap, auditable machinery for the facts.</a:t>
            </a:r>
            <a:endParaRPr lang="en-US" sz="3000" dirty="0"/>
          </a:p>
          <a:p>
            <a:pPr algn="ctr" indent="0" marL="0">
              <a:lnSpc>
                <a:spcPts val="4600"/>
              </a:lnSpc>
              <a:buNone/>
            </a:pPr>
            <a:r>
              <a:rPr lang="en-US" sz="3000" b="1" dirty="0">
                <a:solidFill>
                  <a:srgbClr val="E8A33D"/>
                </a:solidFill>
                <a:latin typeface="Arial" pitchFamily="34" charset="0"/>
                <a:ea typeface="Arial" pitchFamily="34" charset="-122"/>
                <a:cs typeface="Arial" pitchFamily="34" charset="-120"/>
              </a:rPr>
              <a:t>One caged act of judgement.</a:t>
            </a:r>
            <a:endParaRPr lang="en-US" sz="3000" dirty="0"/>
          </a:p>
          <a:p>
            <a:pPr algn="ctr" indent="0" marL="0">
              <a:lnSpc>
                <a:spcPts val="4600"/>
              </a:lnSpc>
              <a:buNone/>
            </a:pPr>
            <a:r>
              <a:rPr lang="en-US" sz="3000" b="1" dirty="0">
                <a:solidFill>
                  <a:srgbClr val="FFFFFF"/>
                </a:solidFill>
                <a:latin typeface="Arial" pitchFamily="34" charset="0"/>
                <a:ea typeface="Arial" pitchFamily="34" charset="-122"/>
                <a:cs typeface="Arial" pitchFamily="34" charset="-120"/>
              </a:rPr>
              <a:t>A human with the final say.</a:t>
            </a:r>
            <a:endParaRPr lang="en-US" sz="3000" dirty="0"/>
          </a:p>
        </p:txBody>
      </p:sp>
      <p:sp>
        <p:nvSpPr>
          <p:cNvPr id="3" name="Text 1"/>
          <p:cNvSpPr/>
          <p:nvPr/>
        </p:nvSpPr>
        <p:spPr>
          <a:xfrm>
            <a:off x="2011680" y="4114800"/>
            <a:ext cx="8165592" cy="822960"/>
          </a:xfrm>
          <a:prstGeom prst="rect">
            <a:avLst/>
          </a:prstGeom>
          <a:noFill/>
          <a:ln/>
        </p:spPr>
        <p:txBody>
          <a:bodyPr wrap="square" lIns="0" tIns="0" rIns="0" bIns="0" rtlCol="0" anchor="ctr"/>
          <a:lstStyle/>
          <a:p>
            <a:pPr algn="ctr" indent="0" marL="0">
              <a:buNone/>
            </a:pPr>
            <a:r>
              <a:rPr lang="en-US" sz="1450" i="1" dirty="0">
                <a:solidFill>
                  <a:srgbClr val="7C99B4"/>
                </a:solidFill>
                <a:latin typeface="Calibri" pitchFamily="34" charset="0"/>
                <a:ea typeface="Calibri" pitchFamily="34" charset="-122"/>
                <a:cs typeface="Calibri" pitchFamily="34" charset="-120"/>
              </a:rPr>
              <a:t>The pattern isn't about IP law. Swap the watch-list and the website, and the same machine guards any content that must keep up with a changing world.</a:t>
            </a:r>
            <a:endParaRPr lang="en-US" sz="1450" dirty="0"/>
          </a:p>
        </p:txBody>
      </p:sp>
      <p:sp>
        <p:nvSpPr>
          <p:cNvPr id="4" name="Shape 2"/>
          <p:cNvSpPr/>
          <p:nvPr/>
        </p:nvSpPr>
        <p:spPr>
          <a:xfrm>
            <a:off x="4626864" y="5257800"/>
            <a:ext cx="2926080" cy="960120"/>
          </a:xfrm>
          <a:prstGeom prst="roundRect">
            <a:avLst>
              <a:gd name="adj" fmla="val 11429"/>
            </a:avLst>
          </a:prstGeom>
          <a:solidFill>
            <a:srgbClr val="FFFFFF"/>
          </a:solidFill>
          <a:ln/>
        </p:spPr>
      </p:sp>
      <p:pic>
        <p:nvPicPr>
          <p:cNvPr id="5" name="Image 0" descr="/home/user/pptx-work/image23.png">    </p:cNvPr>
          <p:cNvPicPr>
            <a:picLocks noChangeAspect="1"/>
          </p:cNvPicPr>
          <p:nvPr/>
        </p:nvPicPr>
        <p:blipFill>
          <a:blip r:embed="rId1"/>
          <a:stretch>
            <a:fillRect/>
          </a:stretch>
        </p:blipFill>
        <p:spPr>
          <a:xfrm>
            <a:off x="4901184" y="5513832"/>
            <a:ext cx="2377440" cy="649224"/>
          </a:xfrm>
          <a:prstGeom prst="rect">
            <a:avLst/>
          </a:prstGeom>
        </p:spPr>
      </p:pic>
      <p:sp>
        <p:nvSpPr>
          <p:cNvPr id="6" name="Text 3"/>
          <p:cNvSpPr/>
          <p:nvPr/>
        </p:nvSpPr>
        <p:spPr>
          <a:xfrm>
            <a:off x="1097280" y="6382512"/>
            <a:ext cx="9994392" cy="292608"/>
          </a:xfrm>
          <a:prstGeom prst="rect">
            <a:avLst/>
          </a:prstGeom>
          <a:noFill/>
          <a:ln/>
        </p:spPr>
        <p:txBody>
          <a:bodyPr wrap="square" lIns="0" tIns="0" rIns="0" bIns="0" rtlCol="0" anchor="ctr"/>
          <a:lstStyle/>
          <a:p>
            <a:pPr algn="ctr" indent="0" marL="0">
              <a:buNone/>
            </a:pPr>
            <a:r>
              <a:rPr lang="en-US" sz="1100" dirty="0">
                <a:solidFill>
                  <a:srgbClr val="B9C8D8"/>
                </a:solidFill>
                <a:latin typeface="Calibri" pitchFamily="34" charset="0"/>
                <a:ea typeface="Calibri" pitchFamily="34" charset="-122"/>
                <a:cs typeface="Calibri" pitchFamily="34" charset="-120"/>
              </a:rPr>
              <a:t>IPAVentures · IP Australia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Tripwire works</dc:title>
  <dc:subject>PptxGenJS Presentation</dc:subject>
  <dc:creator>IPAVentures · IP Australia</dc:creator>
  <cp:lastModifiedBy>IPAVentures · IP Australia</cp:lastModifiedBy>
  <cp:revision>1</cp:revision>
  <dcterms:created xsi:type="dcterms:W3CDTF">2026-07-20T15:20:53Z</dcterms:created>
  <dcterms:modified xsi:type="dcterms:W3CDTF">2026-07-20T15:20:53Z</dcterms:modified>
</cp:coreProperties>
</file>