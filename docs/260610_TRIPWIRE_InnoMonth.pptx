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0" r:id="rId6"/>
  </p:sldMasterIdLst>
  <p:notesMasterIdLst>
    <p:notesMasterId r:id="rId4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3" r:id="rId13"/>
    <p:sldId id="262" r:id="rId14"/>
    <p:sldId id="264" r:id="rId15"/>
    <p:sldId id="2147483573" r:id="rId16"/>
    <p:sldId id="2147483572" r:id="rId17"/>
    <p:sldId id="2147483538" r:id="rId18"/>
    <p:sldId id="265" r:id="rId19"/>
    <p:sldId id="267" r:id="rId20"/>
    <p:sldId id="2147483545" r:id="rId21"/>
    <p:sldId id="2147483547" r:id="rId22"/>
    <p:sldId id="2147483548" r:id="rId23"/>
    <p:sldId id="2147483549" r:id="rId24"/>
    <p:sldId id="2147483550" r:id="rId25"/>
    <p:sldId id="2147483570" r:id="rId26"/>
    <p:sldId id="2147483567" r:id="rId27"/>
    <p:sldId id="2147483342" r:id="rId28"/>
    <p:sldId id="2147483557" r:id="rId29"/>
    <p:sldId id="2147483565" r:id="rId30"/>
    <p:sldId id="266" r:id="rId31"/>
    <p:sldId id="2147483556" r:id="rId32"/>
    <p:sldId id="2147483562" r:id="rId33"/>
    <p:sldId id="2147483563" r:id="rId34"/>
    <p:sldId id="2147483554" r:id="rId35"/>
    <p:sldId id="2147483564" r:id="rId36"/>
    <p:sldId id="2147483555" r:id="rId37"/>
    <p:sldId id="2147483551" r:id="rId38"/>
    <p:sldId id="2147483552" r:id="rId39"/>
    <p:sldId id="2147483566" r:id="rId40"/>
    <p:sldId id="2147483553" r:id="rId41"/>
    <p:sldId id="2147483559" r:id="rId42"/>
    <p:sldId id="2147483560" r:id="rId43"/>
    <p:sldId id="2147483569" r:id="rId44"/>
    <p:sldId id="2147483568" r:id="rId45"/>
    <p:sldId id="2147483561" r:id="rId46"/>
    <p:sldId id="214748357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2DCE8E-4BE7-4B6D-9B3E-D55FFC3B6F08}" v="72" dt="2026-06-10T04:55:48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8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289944802775609E-3"/>
          <c:y val="3.1238602532676279E-2"/>
          <c:w val="0.49092711187347948"/>
          <c:h val="0.96876099446475961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AB34-4D8C-86F0-2EEB3E69232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3-AB34-4D8C-86F0-2EEB3E69232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5-AB34-4D8C-86F0-2EEB3E69232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7-AB34-4D8C-86F0-2EEB3E69232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9-AB34-4D8C-86F0-2EEB3E692326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</c:spPr>
            <c:extLst>
              <c:ext xmlns:c16="http://schemas.microsoft.com/office/drawing/2014/chart" uri="{C3380CC4-5D6E-409C-BE32-E72D297353CC}">
                <c16:uniqueId val="{0000000B-AB34-4D8C-86F0-2EEB3E692326}"/>
              </c:ext>
            </c:extLst>
          </c:dPt>
          <c:cat>
            <c:strRef>
              <c:f>Sheet1!$A$2:$A$7</c:f>
              <c:strCache>
                <c:ptCount val="6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B34-4D8C-86F0-2EEB3E6923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7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289944802775609E-3"/>
          <c:y val="3.1238602532676279E-2"/>
          <c:w val="0.93267100727179286"/>
          <c:h val="0.9687609944647596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C8C9-4287-B76E-D7A9044FE4C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3-C8C9-4287-B76E-D7A9044FE4C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5-C8C9-4287-B76E-D7A9044FE4C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7-C8C9-4287-B76E-D7A9044FE4C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9-C8C9-4287-B76E-D7A9044FE4C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</c:spPr>
            <c:extLst>
              <c:ext xmlns:c16="http://schemas.microsoft.com/office/drawing/2014/chart" uri="{C3380CC4-5D6E-409C-BE32-E72D297353CC}">
                <c16:uniqueId val="{0000000B-C8C9-4287-B76E-D7A9044FE4C3}"/>
              </c:ext>
            </c:extLst>
          </c:dPt>
          <c:cat>
            <c:strRef>
              <c:f>Sheet1!$A$2:$A$7</c:f>
              <c:strCache>
                <c:ptCount val="6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9</c:v>
                </c:pt>
                <c:pt idx="3">
                  <c:v>6</c:v>
                </c:pt>
                <c:pt idx="4">
                  <c:v>7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8C9-4287-B76E-D7A9044FE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"/>
        <c:overlap val="-8"/>
        <c:axId val="183057792"/>
        <c:axId val="183067776"/>
      </c:barChart>
      <c:catAx>
        <c:axId val="1830577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3175">
            <a:solidFill>
              <a:schemeClr val="tx2"/>
            </a:solidFill>
          </a:ln>
        </c:spPr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en-US"/>
          </a:p>
        </c:txPr>
        <c:crossAx val="183067776"/>
        <c:crosses val="autoZero"/>
        <c:auto val="1"/>
        <c:lblAlgn val="ctr"/>
        <c:lblOffset val="20"/>
        <c:noMultiLvlLbl val="0"/>
      </c:catAx>
      <c:valAx>
        <c:axId val="1830677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830577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500">
          <a:solidFill>
            <a:srgbClr val="000000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289944802775609E-3"/>
          <c:y val="3.1238602532676279E-2"/>
          <c:w val="0.99463976425908807"/>
          <c:h val="0.96876099446475961"/>
        </c:manualLayout>
      </c:layout>
      <c:barChart>
        <c:barDir val="col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88-40FD-88E0-AE2A25768D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8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88-40FD-88E0-AE2A25768D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88-40FD-88E0-AE2A25768DE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88-40FD-88E0-AE2A25768DE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Column4</c:v>
                </c:pt>
              </c:strCache>
            </c:strRef>
          </c:tx>
          <c:spPr>
            <a:solidFill>
              <a:schemeClr val="accent5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7</c:v>
                </c:pt>
                <c:pt idx="1">
                  <c:v>4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88-40FD-88E0-AE2A25768DE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Column5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7</c:v>
                </c:pt>
                <c:pt idx="1">
                  <c:v>7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588-40FD-88E0-AE2A25768D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100"/>
        <c:axId val="235286912"/>
        <c:axId val="235288448"/>
      </c:barChart>
      <c:catAx>
        <c:axId val="2352869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3175">
            <a:solidFill>
              <a:schemeClr val="tx2"/>
            </a:solidFill>
          </a:ln>
        </c:spPr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en-US"/>
          </a:p>
        </c:txPr>
        <c:crossAx val="235288448"/>
        <c:crosses val="autoZero"/>
        <c:auto val="1"/>
        <c:lblAlgn val="ctr"/>
        <c:lblOffset val="20"/>
        <c:noMultiLvlLbl val="0"/>
      </c:catAx>
      <c:valAx>
        <c:axId val="235288448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2352869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500">
          <a:solidFill>
            <a:srgbClr val="000000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62ED7-879E-4258-9B0C-6DE7C3C97472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9D5D7-4E88-43AE-AA7F-BF4DE7F30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927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/>
              <a:t>We proved a long time ago that AI can help with content writing. We wanted to see how much further we could push. Using AI to create a rules-based system (more conducive to scale).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/>
              <a:t>The content we create needs to adhere to a lot of rules. An LLM can’t manage all of that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21769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A593CC-2149-4E6C-BC3C-0044C280EC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21769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446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noProof="0"/>
              <a:t>Create the entire rulebook</a:t>
            </a:r>
          </a:p>
          <a:p>
            <a:r>
              <a:rPr lang="en-AU" noProof="0"/>
              <a:t>Implement the entire rulebook</a:t>
            </a:r>
          </a:p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21769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A593CC-2149-4E6C-BC3C-0044C280EC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21769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001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21769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A593CC-2149-4E6C-BC3C-0044C280EC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21769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0125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chart" Target="../charts/chart1.xml"/><Relationship Id="rId7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1292-AA8C-B107-6728-5A8AA9D2B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3F2CA-D7A8-98F9-33A6-DBC421F5A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AD26F-595B-E374-B899-CAC012B1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555C8-8444-D398-19A4-0F7265C7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AA732-94E8-0EEE-A9C0-2FCFBB67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82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0EF9-4F01-247E-01D7-40C4EA29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03881-A9CE-0B2D-26E5-9F94E524F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59AD-F0B1-6346-F151-EDB3C108F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C867A-A8E8-FA18-00A3-F496B09F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74EDB-3019-75F2-8A87-7D78DB03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9653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8FA5-B03F-EE9B-C65D-27F76920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4C0CC-3521-30B7-AA63-2742DB4E3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16BA3-21D0-62D9-FDF0-99F7999E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E65A7-DEC4-B75C-1134-B6477663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2E933-67F1-3049-2F82-80D39CA8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110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A649-C504-B3C8-887A-24B196AB5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19B74-26A1-18CE-4123-172E0BE53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FAB85-4138-62CF-17B0-0EF06222B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A5905-4761-74C2-4248-9E61C7E6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70CDB-3553-27D2-1E3F-E05F8D7C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AB5EA-B5C6-4A54-B14A-55BB042D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1373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70F88-FDA4-CAED-CF6A-2BB3D3DD1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71E2E-AF09-F98F-5904-68A815173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B57F9-B47C-94DD-2889-9AD0D25DB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5C52C-6D4C-249A-66A6-86E9AC9EE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CE57D-1E72-2F90-4B1E-7A0C8DD39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7E67E0-C95B-CF5C-6AF8-3939A168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536B64-F692-1797-249A-0CA8DC5F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020F8-E473-9418-B488-CA2AE366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199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5951E-4771-D6C5-4DA4-FE0293A5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712C9-74BB-7318-86FD-FAB2CED1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FD130-4FAE-3EB6-F627-D2DDB85EA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627E1-9821-A11D-F5F9-20006171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623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86BF8-9A82-BABA-8858-3946079F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5E49F-17C1-E427-638D-9082E422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58797-620B-2895-3479-70939558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879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3B8A-8995-C677-266E-77915A6BF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95697-2AE6-9E56-721A-03C81A7AC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21AB7-62C3-8B12-60C9-B91E56F7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C8936-CACD-8DE4-9210-0163502C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DCE4E-87F8-74A7-76D8-09FC8D14F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FA97B-C3BD-2E66-6269-1D944278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688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4B0B-C45D-A22F-82C4-03B612F12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9EA44-1517-AC54-4103-C4B1AA8B3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1D5F4-D7BF-754D-6646-5E4B9EB03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2D937-41B1-BD27-1902-D546E29E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252AA-82EA-E3DE-5976-49B779D9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A1DBE-111E-5754-0A5C-8E7AB0CD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92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C3C-A4D2-4B8F-7678-EE17EFA1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D6762-9268-8EF7-5778-FA84810E3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CDABF-2450-6A33-86C3-4643904A2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8E570-4842-21A5-55C7-9C4CDF7E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8A858-4B83-E01C-99B1-1D8C7DC3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275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FDC2FA-4B5F-2A51-04D7-99B8282B8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860F4-27B8-AD12-D341-92DFD8233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626A7-7B64-3BFD-F398-63108D63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2BB7C-B5C5-1113-B08C-4AC8956DE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A7A5B-FA8F-0F29-3F98-B04C962E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307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BF6454-4FEB-4F2F-ADFF-5863E6075E04}"/>
              </a:ext>
            </a:extLst>
          </p:cNvPr>
          <p:cNvSpPr txBox="1"/>
          <p:nvPr userDrawn="1"/>
        </p:nvSpPr>
        <p:spPr>
          <a:xfrm>
            <a:off x="1009800" y="484283"/>
            <a:ext cx="8829679" cy="530647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80000"/>
              </a:lnSpc>
              <a:spcBef>
                <a:spcPct val="0"/>
              </a:spcBef>
              <a:buNone/>
              <a:defRPr sz="2600" b="1">
                <a:latin typeface="+mj-lt"/>
                <a:ea typeface="+mj-ea"/>
                <a:cs typeface="Arial" pitchFamily="34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AU" sz="3500">
                <a:solidFill>
                  <a:schemeClr val="accent1"/>
                </a:solidFill>
                <a:latin typeface="+mn-lt"/>
              </a:rPr>
              <a:t>Template Instructions</a:t>
            </a:r>
          </a:p>
          <a:p>
            <a:r>
              <a:rPr lang="en-AU" sz="3500" b="0">
                <a:solidFill>
                  <a:schemeClr val="accent1"/>
                </a:solidFill>
              </a:rPr>
              <a:t>Microsoft PowerPoint</a:t>
            </a:r>
          </a:p>
          <a:p>
            <a:endParaRPr lang="en-AU" sz="3000" b="0">
              <a:solidFill>
                <a:schemeClr val="accent1"/>
              </a:solidFill>
            </a:endParaRPr>
          </a:p>
          <a:p>
            <a:endParaRPr lang="en-AU" sz="3000" b="0">
              <a:solidFill>
                <a:schemeClr val="accent1"/>
              </a:solidFill>
            </a:endParaRPr>
          </a:p>
          <a:p>
            <a:r>
              <a:rPr lang="en-AU" sz="1400" b="0">
                <a:solidFill>
                  <a:schemeClr val="accent1"/>
                </a:solidFill>
              </a:rPr>
              <a:t>Delete Instruction Section slides once not needed.</a:t>
            </a:r>
            <a:endParaRPr lang="en-AU" sz="3000" b="0">
              <a:solidFill>
                <a:schemeClr val="accent1"/>
              </a:solidFill>
            </a:endParaRPr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4C3FDCF8-AA65-B04A-85D3-CA05B2BBD4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454" y="481172"/>
            <a:ext cx="1235967" cy="81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09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6">
            <a:extLst>
              <a:ext uri="{FF2B5EF4-FFF2-40B4-BE49-F238E27FC236}">
                <a16:creationId xmlns:a16="http://schemas.microsoft.com/office/drawing/2014/main" id="{1BC36A6D-15B6-44EA-A9BD-A26BA3891323}"/>
              </a:ext>
            </a:extLst>
          </p:cNvPr>
          <p:cNvSpPr txBox="1"/>
          <p:nvPr userDrawn="1"/>
        </p:nvSpPr>
        <p:spPr>
          <a:xfrm>
            <a:off x="9215439" y="3825044"/>
            <a:ext cx="2159705" cy="7982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954" b="1">
                <a:solidFill>
                  <a:schemeClr val="accent1"/>
                </a:solidFill>
                <a:cs typeface="Arial" pitchFamily="34" charset="0"/>
              </a:rPr>
              <a:t>Editing Footer &amp; Date details:</a:t>
            </a:r>
          </a:p>
          <a:p>
            <a:pPr marL="114506" indent="-114506">
              <a:spcAft>
                <a:spcPts val="477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Click on the </a:t>
            </a: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Header &amp; Footer </a:t>
            </a: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button.</a:t>
            </a:r>
          </a:p>
          <a:p>
            <a:pPr marL="114506" indent="-114506">
              <a:spcAft>
                <a:spcPts val="477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Tick</a:t>
            </a: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 Slide number &gt; </a:t>
            </a: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Apply to All </a:t>
            </a: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button to apply changes to all slides. OR </a:t>
            </a: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Apply</a:t>
            </a: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 to only apply to the slide you are on.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678CE8-DF2E-4AB2-AF87-A82494C06C60}"/>
              </a:ext>
            </a:extLst>
          </p:cNvPr>
          <p:cNvSpPr txBox="1">
            <a:spLocks/>
          </p:cNvSpPr>
          <p:nvPr userDrawn="1"/>
        </p:nvSpPr>
        <p:spPr>
          <a:xfrm>
            <a:off x="1009800" y="909250"/>
            <a:ext cx="8189931" cy="51896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07950" indent="-10795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324000" indent="-108000" algn="l" defTabSz="914400" rtl="0" eaLnBrk="1" latinLnBrk="0" hangingPunct="1">
              <a:spcBef>
                <a:spcPts val="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324000" indent="-108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432000" indent="-108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6pPr>
            <a:lvl7pPr marL="648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7pPr>
            <a:lvl8pPr marL="756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8pPr>
            <a:lvl9pPr marL="864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9pPr>
          </a:lstStyle>
          <a:p>
            <a:pPr lvl="1"/>
            <a:r>
              <a:rPr lang="en-AU" sz="1114">
                <a:solidFill>
                  <a:schemeClr val="tx2"/>
                </a:solidFill>
              </a:rPr>
              <a:t>A customised ribbon is available at the top left of the PowerPoint application. It is the second tab. This tab contains commonly used tools.</a:t>
            </a:r>
            <a:br>
              <a:rPr lang="en-AU" sz="1114">
                <a:solidFill>
                  <a:schemeClr val="tx2"/>
                </a:solidFill>
              </a:rPr>
            </a:br>
            <a:r>
              <a:rPr lang="en-AU" sz="1114">
                <a:solidFill>
                  <a:schemeClr val="tx2"/>
                </a:solidFill>
              </a:rPr>
              <a:t>This is in addition to the normal location of the tools within the software. </a:t>
            </a: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8D926EF2-393D-403D-8426-4B29FCA7CF65}"/>
              </a:ext>
            </a:extLst>
          </p:cNvPr>
          <p:cNvSpPr txBox="1"/>
          <p:nvPr userDrawn="1"/>
        </p:nvSpPr>
        <p:spPr>
          <a:xfrm>
            <a:off x="4439302" y="3838933"/>
            <a:ext cx="1421551" cy="734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954" b="1">
                <a:solidFill>
                  <a:schemeClr val="accent1"/>
                </a:solidFill>
                <a:cs typeface="Arial" pitchFamily="34" charset="0"/>
              </a:rPr>
              <a:t>Using the bullet structure:</a:t>
            </a:r>
          </a:p>
          <a:p>
            <a:pPr marL="114506" indent="-114506">
              <a:spcAft>
                <a:spcPts val="477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Use the </a:t>
            </a: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Decrease</a:t>
            </a: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 and </a:t>
            </a:r>
            <a:br>
              <a:rPr lang="en-AU" sz="954">
                <a:solidFill>
                  <a:schemeClr val="tx2"/>
                </a:solidFill>
                <a:cs typeface="Arial" pitchFamily="34" charset="0"/>
              </a:rPr>
            </a:b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Increase List Level</a:t>
            </a: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 buttons to access the </a:t>
            </a:r>
            <a:br>
              <a:rPr lang="en-AU" sz="954">
                <a:solidFill>
                  <a:schemeClr val="tx2"/>
                </a:solidFill>
                <a:cs typeface="Arial" pitchFamily="34" charset="0"/>
              </a:rPr>
            </a:b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in-built bullet levels</a:t>
            </a:r>
          </a:p>
        </p:txBody>
      </p:sp>
      <p:sp>
        <p:nvSpPr>
          <p:cNvPr id="9" name="TextBox 26">
            <a:extLst>
              <a:ext uri="{FF2B5EF4-FFF2-40B4-BE49-F238E27FC236}">
                <a16:creationId xmlns:a16="http://schemas.microsoft.com/office/drawing/2014/main" id="{7AE2BA0F-6B02-43C8-9640-C40CE366DE3E}"/>
              </a:ext>
            </a:extLst>
          </p:cNvPr>
          <p:cNvSpPr txBox="1"/>
          <p:nvPr userDrawn="1"/>
        </p:nvSpPr>
        <p:spPr>
          <a:xfrm>
            <a:off x="6275506" y="3825044"/>
            <a:ext cx="1248335" cy="881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954" b="1">
                <a:solidFill>
                  <a:schemeClr val="accent1"/>
                </a:solidFill>
                <a:cs typeface="Arial" pitchFamily="34" charset="0"/>
              </a:rPr>
              <a:t>Cropping Images:</a:t>
            </a:r>
          </a:p>
          <a:p>
            <a:pPr marL="114506" indent="-114506">
              <a:spcAft>
                <a:spcPts val="477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Use the </a:t>
            </a: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Fit </a:t>
            </a: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button under </a:t>
            </a: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Crop Tools </a:t>
            </a: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to resize a picture proportionally </a:t>
            </a:r>
            <a:br>
              <a:rPr lang="en-AU" sz="954">
                <a:solidFill>
                  <a:schemeClr val="tx2"/>
                </a:solidFill>
                <a:cs typeface="Arial" pitchFamily="34" charset="0"/>
              </a:rPr>
            </a:b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to the placeholder</a:t>
            </a:r>
            <a:endParaRPr lang="en-AU" sz="954" b="1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660BD9-DE71-40C0-84D0-BE14C001C483}"/>
              </a:ext>
            </a:extLst>
          </p:cNvPr>
          <p:cNvSpPr txBox="1"/>
          <p:nvPr userDrawn="1"/>
        </p:nvSpPr>
        <p:spPr>
          <a:xfrm>
            <a:off x="1009800" y="481173"/>
            <a:ext cx="8189931" cy="3343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0000"/>
              </a:lnSpc>
              <a:spcBef>
                <a:spcPct val="0"/>
              </a:spcBef>
              <a:buNone/>
              <a:defRPr sz="2600" b="1"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AU" sz="1909">
                <a:solidFill>
                  <a:schemeClr val="accent1"/>
                </a:solidFill>
                <a:latin typeface="+mn-lt"/>
              </a:rPr>
              <a:t>The IP Australia Customised Ribbon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4B95B244-95AA-45E7-BF07-390DCC1DBBA1}"/>
              </a:ext>
            </a:extLst>
          </p:cNvPr>
          <p:cNvSpPr txBox="1"/>
          <p:nvPr userDrawn="1"/>
        </p:nvSpPr>
        <p:spPr>
          <a:xfrm>
            <a:off x="7727470" y="3825044"/>
            <a:ext cx="1248336" cy="12388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954" b="1">
                <a:solidFill>
                  <a:schemeClr val="accent1"/>
                </a:solidFill>
                <a:cs typeface="Arial" pitchFamily="34" charset="0"/>
              </a:rPr>
              <a:t>Send to back:</a:t>
            </a:r>
          </a:p>
          <a:p>
            <a:pPr marL="114506" indent="-114506">
              <a:spcAft>
                <a:spcPts val="477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Use the </a:t>
            </a: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Send to back </a:t>
            </a: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or </a:t>
            </a: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Bring to front </a:t>
            </a: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buttons to change the layering of objects</a:t>
            </a:r>
          </a:p>
          <a:p>
            <a:pPr marL="114506" indent="-114506">
              <a:spcAft>
                <a:spcPts val="477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Open the </a:t>
            </a: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Selection Pane </a:t>
            </a: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to view the current layers 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5DCD8002-3BDD-477A-AF16-613C93013330}"/>
              </a:ext>
            </a:extLst>
          </p:cNvPr>
          <p:cNvSpPr txBox="1"/>
          <p:nvPr userDrawn="1"/>
        </p:nvSpPr>
        <p:spPr>
          <a:xfrm>
            <a:off x="2466658" y="3838934"/>
            <a:ext cx="1421551" cy="945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954" b="1">
                <a:solidFill>
                  <a:schemeClr val="accent1"/>
                </a:solidFill>
                <a:cs typeface="Arial" pitchFamily="34" charset="0"/>
              </a:rPr>
              <a:t>Sections:</a:t>
            </a:r>
          </a:p>
          <a:p>
            <a:pPr marL="114506" indent="-114506">
              <a:spcAft>
                <a:spcPts val="477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Use this feature to organise the presentation </a:t>
            </a:r>
            <a:br>
              <a:rPr lang="en-AU" sz="954">
                <a:solidFill>
                  <a:schemeClr val="tx2"/>
                </a:solidFill>
                <a:cs typeface="Arial" pitchFamily="34" charset="0"/>
              </a:rPr>
            </a:b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into sections. </a:t>
            </a:r>
          </a:p>
          <a:p>
            <a:pPr marL="114506" indent="-114506">
              <a:spcAft>
                <a:spcPts val="477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Select, hide, present, print specific sections.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543AF15-5A99-4003-B05C-5060A44351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05491" y="4733071"/>
            <a:ext cx="2327113" cy="148965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5EE903C-4C8C-49EF-BA63-5A1F1E652266}"/>
              </a:ext>
            </a:extLst>
          </p:cNvPr>
          <p:cNvGrpSpPr/>
          <p:nvPr userDrawn="1"/>
        </p:nvGrpSpPr>
        <p:grpSpPr>
          <a:xfrm>
            <a:off x="4439302" y="4640449"/>
            <a:ext cx="1477889" cy="1161185"/>
            <a:chOff x="4287019" y="1850645"/>
            <a:chExt cx="1619172" cy="1459896"/>
          </a:xfrm>
        </p:grpSpPr>
        <p:sp>
          <p:nvSpPr>
            <p:cNvPr id="21" name="TextBox 18">
              <a:extLst>
                <a:ext uri="{FF2B5EF4-FFF2-40B4-BE49-F238E27FC236}">
                  <a16:creationId xmlns:a16="http://schemas.microsoft.com/office/drawing/2014/main" id="{EC2FE9A0-314B-4002-B1C1-4E93E24213F4}"/>
                </a:ext>
              </a:extLst>
            </p:cNvPr>
            <p:cNvSpPr txBox="1"/>
            <p:nvPr/>
          </p:nvSpPr>
          <p:spPr>
            <a:xfrm>
              <a:off x="4396039" y="1945460"/>
              <a:ext cx="1510152" cy="2155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sz="1114" b="1">
                  <a:solidFill>
                    <a:schemeClr val="accent1"/>
                  </a:solidFill>
                  <a:cs typeface="Calibri" pitchFamily="34" charset="0"/>
                </a:rPr>
                <a:t>Example of text levels: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486D3C8-7AED-4AD4-B66A-5573782C0D3E}"/>
                </a:ext>
              </a:extLst>
            </p:cNvPr>
            <p:cNvSpPr/>
            <p:nvPr/>
          </p:nvSpPr>
          <p:spPr>
            <a:xfrm>
              <a:off x="4287019" y="1850645"/>
              <a:ext cx="1619171" cy="1459896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sz="1114">
                <a:solidFill>
                  <a:schemeClr val="tx2"/>
                </a:solidFill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C5785FFF-51EA-4A7E-8640-84412C691C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19562" y="4966362"/>
            <a:ext cx="1343025" cy="7048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8D30519-0371-4C93-B30C-E94CB293E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36" r="5598"/>
          <a:stretch/>
        </p:blipFill>
        <p:spPr>
          <a:xfrm>
            <a:off x="2423077" y="4890778"/>
            <a:ext cx="1645014" cy="15985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485AFB4-FD46-4F92-A644-4C5BE34D71E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40914" y="1520788"/>
            <a:ext cx="7885207" cy="1700596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26" name="TextBox 24">
            <a:extLst>
              <a:ext uri="{FF2B5EF4-FFF2-40B4-BE49-F238E27FC236}">
                <a16:creationId xmlns:a16="http://schemas.microsoft.com/office/drawing/2014/main" id="{BF10B0AE-C6FB-4796-8D4C-52D57CC9F481}"/>
              </a:ext>
            </a:extLst>
          </p:cNvPr>
          <p:cNvSpPr txBox="1"/>
          <p:nvPr userDrawn="1"/>
        </p:nvSpPr>
        <p:spPr>
          <a:xfrm>
            <a:off x="860059" y="3030020"/>
            <a:ext cx="1260140" cy="10092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954" b="1">
                <a:solidFill>
                  <a:schemeClr val="accent1"/>
                </a:solidFill>
                <a:cs typeface="Arial" pitchFamily="34" charset="0"/>
              </a:rPr>
              <a:t>Insert a new slide:</a:t>
            </a:r>
          </a:p>
          <a:p>
            <a:pPr marL="114506" indent="-114506">
              <a:spcAft>
                <a:spcPts val="477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Click </a:t>
            </a:r>
            <a:r>
              <a:rPr lang="en-AU" sz="954" b="1">
                <a:solidFill>
                  <a:schemeClr val="tx2"/>
                </a:solidFill>
                <a:cs typeface="Arial" pitchFamily="34" charset="0"/>
              </a:rPr>
              <a:t>New Slide </a:t>
            </a:r>
          </a:p>
          <a:p>
            <a:pPr marL="114506" indent="-114506">
              <a:spcAft>
                <a:spcPts val="477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Slide layouts will be previewed.</a:t>
            </a:r>
          </a:p>
          <a:p>
            <a:pPr marL="114506" indent="-114506">
              <a:spcAft>
                <a:spcPts val="477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Select a layout by clicking the thumbnail.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A66DDD-ABFF-4A60-8007-79A6FEA3AC52}"/>
              </a:ext>
            </a:extLst>
          </p:cNvPr>
          <p:cNvCxnSpPr>
            <a:cxnSpLocks/>
          </p:cNvCxnSpPr>
          <p:nvPr userDrawn="1"/>
        </p:nvCxnSpPr>
        <p:spPr>
          <a:xfrm flipV="1">
            <a:off x="3635402" y="2948341"/>
            <a:ext cx="0" cy="777099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w="sm" len="sm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ED5FE0E-9D02-48F9-93F3-269D9075CAD5}"/>
              </a:ext>
            </a:extLst>
          </p:cNvPr>
          <p:cNvCxnSpPr>
            <a:cxnSpLocks/>
          </p:cNvCxnSpPr>
          <p:nvPr userDrawn="1"/>
        </p:nvCxnSpPr>
        <p:spPr>
          <a:xfrm flipV="1">
            <a:off x="7779143" y="2965795"/>
            <a:ext cx="0" cy="759645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w="sm" len="sm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0">
            <a:extLst>
              <a:ext uri="{FF2B5EF4-FFF2-40B4-BE49-F238E27FC236}">
                <a16:creationId xmlns:a16="http://schemas.microsoft.com/office/drawing/2014/main" id="{2355578A-FDCE-4220-9EFD-C089558ACFC7}"/>
              </a:ext>
            </a:extLst>
          </p:cNvPr>
          <p:cNvCxnSpPr>
            <a:cxnSpLocks/>
          </p:cNvCxnSpPr>
          <p:nvPr userDrawn="1"/>
        </p:nvCxnSpPr>
        <p:spPr>
          <a:xfrm flipV="1">
            <a:off x="9202238" y="2951257"/>
            <a:ext cx="0" cy="774183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w="sm" len="sm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0">
            <a:extLst>
              <a:ext uri="{FF2B5EF4-FFF2-40B4-BE49-F238E27FC236}">
                <a16:creationId xmlns:a16="http://schemas.microsoft.com/office/drawing/2014/main" id="{873B7AB3-C543-41AB-A5D7-5F97AD097EFA}"/>
              </a:ext>
            </a:extLst>
          </p:cNvPr>
          <p:cNvCxnSpPr>
            <a:cxnSpLocks/>
          </p:cNvCxnSpPr>
          <p:nvPr userDrawn="1"/>
        </p:nvCxnSpPr>
        <p:spPr>
          <a:xfrm flipV="1">
            <a:off x="6303163" y="2965795"/>
            <a:ext cx="0" cy="759645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w="sm" len="sm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C4D6DFE-1539-4057-9D11-B9D127A16270}"/>
              </a:ext>
            </a:extLst>
          </p:cNvPr>
          <p:cNvCxnSpPr>
            <a:cxnSpLocks/>
          </p:cNvCxnSpPr>
          <p:nvPr userDrawn="1"/>
        </p:nvCxnSpPr>
        <p:spPr>
          <a:xfrm flipV="1">
            <a:off x="4907354" y="3221384"/>
            <a:ext cx="0" cy="504056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w="sm" len="sm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16DE7E2-0AC6-4B1D-8FBC-CB6187EF3105}"/>
              </a:ext>
            </a:extLst>
          </p:cNvPr>
          <p:cNvCxnSpPr>
            <a:cxnSpLocks/>
          </p:cNvCxnSpPr>
          <p:nvPr userDrawn="1"/>
        </p:nvCxnSpPr>
        <p:spPr>
          <a:xfrm>
            <a:off x="860059" y="2996952"/>
            <a:ext cx="1671031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w="sm" len="sm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553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C328B2-D88F-457D-90A5-2E297E96B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0401" y="4581825"/>
            <a:ext cx="1536416" cy="1241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B10725-8C1F-44A8-BE23-E8654A7E41F9}"/>
              </a:ext>
            </a:extLst>
          </p:cNvPr>
          <p:cNvSpPr txBox="1"/>
          <p:nvPr userDrawn="1"/>
        </p:nvSpPr>
        <p:spPr>
          <a:xfrm>
            <a:off x="1009800" y="480600"/>
            <a:ext cx="8189931" cy="3343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0000"/>
              </a:lnSpc>
              <a:spcBef>
                <a:spcPct val="0"/>
              </a:spcBef>
              <a:buNone/>
              <a:defRPr sz="2600" b="1"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AU" sz="1909">
                <a:solidFill>
                  <a:schemeClr val="accent1"/>
                </a:solidFill>
                <a:latin typeface="+mn-lt"/>
              </a:rPr>
              <a:t>Colours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48E7A7-AB75-4CCE-BDC6-FB177B956A54}"/>
              </a:ext>
            </a:extLst>
          </p:cNvPr>
          <p:cNvGrpSpPr/>
          <p:nvPr userDrawn="1"/>
        </p:nvGrpSpPr>
        <p:grpSpPr>
          <a:xfrm>
            <a:off x="7496556" y="2404208"/>
            <a:ext cx="3080033" cy="484301"/>
            <a:chOff x="2462360" y="1253094"/>
            <a:chExt cx="3279770" cy="608886"/>
          </a:xfrm>
        </p:grpSpPr>
        <p:sp>
          <p:nvSpPr>
            <p:cNvPr id="8" name="Rectangle 149">
              <a:extLst>
                <a:ext uri="{FF2B5EF4-FFF2-40B4-BE49-F238E27FC236}">
                  <a16:creationId xmlns:a16="http://schemas.microsoft.com/office/drawing/2014/main" id="{111C9F0A-13D9-4197-8925-ADD3B61F2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843" y="1367815"/>
              <a:ext cx="396000" cy="396000"/>
            </a:xfrm>
            <a:prstGeom prst="rect">
              <a:avLst/>
            </a:prstGeom>
            <a:solidFill>
              <a:schemeClr val="accent1"/>
            </a:solidFill>
            <a:ln w="127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AU" sz="1591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9" name="Rectangle 149">
              <a:extLst>
                <a:ext uri="{FF2B5EF4-FFF2-40B4-BE49-F238E27FC236}">
                  <a16:creationId xmlns:a16="http://schemas.microsoft.com/office/drawing/2014/main" id="{950FC8EB-6FBF-48EE-9AB1-A2FEBCD3F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7498" y="1367815"/>
              <a:ext cx="396000" cy="396000"/>
            </a:xfrm>
            <a:prstGeom prst="rect">
              <a:avLst/>
            </a:prstGeom>
            <a:solidFill>
              <a:schemeClr val="accent2"/>
            </a:solidFill>
            <a:ln w="127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AU" sz="1591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0" name="Rectangle 149">
              <a:extLst>
                <a:ext uri="{FF2B5EF4-FFF2-40B4-BE49-F238E27FC236}">
                  <a16:creationId xmlns:a16="http://schemas.microsoft.com/office/drawing/2014/main" id="{2B8C8847-AD05-41F0-B576-1A2393E01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153" y="1367815"/>
              <a:ext cx="396000" cy="396000"/>
            </a:xfrm>
            <a:prstGeom prst="rect">
              <a:avLst/>
            </a:prstGeom>
            <a:solidFill>
              <a:schemeClr val="accent3"/>
            </a:solidFill>
            <a:ln w="127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AU" sz="1591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1" name="Rectangle 149">
              <a:extLst>
                <a:ext uri="{FF2B5EF4-FFF2-40B4-BE49-F238E27FC236}">
                  <a16:creationId xmlns:a16="http://schemas.microsoft.com/office/drawing/2014/main" id="{C131A075-0109-4E27-8E11-FF1BB33D1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808" y="1367815"/>
              <a:ext cx="396000" cy="396000"/>
            </a:xfrm>
            <a:prstGeom prst="rect">
              <a:avLst/>
            </a:prstGeom>
            <a:solidFill>
              <a:schemeClr val="accent4"/>
            </a:solidFill>
            <a:ln w="127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AU" sz="1591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2" name="Rectangle 149">
              <a:extLst>
                <a:ext uri="{FF2B5EF4-FFF2-40B4-BE49-F238E27FC236}">
                  <a16:creationId xmlns:a16="http://schemas.microsoft.com/office/drawing/2014/main" id="{1DAF2D18-E603-4997-B0C0-46F9D1408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463" y="1367815"/>
              <a:ext cx="396000" cy="396000"/>
            </a:xfrm>
            <a:prstGeom prst="rect">
              <a:avLst/>
            </a:prstGeom>
            <a:solidFill>
              <a:schemeClr val="accent5"/>
            </a:solidFill>
            <a:ln w="127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AU" sz="1591">
                  <a:solidFill>
                    <a:schemeClr val="bg2"/>
                  </a:solidFill>
                  <a:latin typeface="+mj-lt"/>
                </a:rPr>
                <a:t>5</a:t>
              </a:r>
            </a:p>
          </p:txBody>
        </p:sp>
        <p:sp>
          <p:nvSpPr>
            <p:cNvPr id="13" name="Rectangle 149">
              <a:extLst>
                <a:ext uri="{FF2B5EF4-FFF2-40B4-BE49-F238E27FC236}">
                  <a16:creationId xmlns:a16="http://schemas.microsoft.com/office/drawing/2014/main" id="{04CCD80E-0024-44DA-8A71-6D1BC689A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6120" y="1367815"/>
              <a:ext cx="396000" cy="396000"/>
            </a:xfrm>
            <a:prstGeom prst="rect">
              <a:avLst/>
            </a:prstGeom>
            <a:solidFill>
              <a:schemeClr val="accent6"/>
            </a:solidFill>
            <a:ln w="127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AU" sz="1591">
                  <a:solidFill>
                    <a:schemeClr val="bg2"/>
                  </a:solidFill>
                  <a:latin typeface="+mj-lt"/>
                </a:rPr>
                <a:t>6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31DE46-A2A8-4F56-9CFE-FF1CE81E3C48}"/>
                </a:ext>
              </a:extLst>
            </p:cNvPr>
            <p:cNvSpPr/>
            <p:nvPr/>
          </p:nvSpPr>
          <p:spPr>
            <a:xfrm>
              <a:off x="2462360" y="1253094"/>
              <a:ext cx="3279770" cy="608886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sz="1114">
                <a:solidFill>
                  <a:schemeClr val="tx2"/>
                </a:solidFill>
                <a:latin typeface="+mj-l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CB3C5ED-E566-4937-B30B-9428AD865214}"/>
              </a:ext>
            </a:extLst>
          </p:cNvPr>
          <p:cNvGrpSpPr/>
          <p:nvPr userDrawn="1"/>
        </p:nvGrpSpPr>
        <p:grpSpPr>
          <a:xfrm>
            <a:off x="4911685" y="2404208"/>
            <a:ext cx="1956619" cy="484301"/>
            <a:chOff x="257638" y="1253094"/>
            <a:chExt cx="2248632" cy="608886"/>
          </a:xfrm>
        </p:grpSpPr>
        <p:sp>
          <p:nvSpPr>
            <p:cNvPr id="16" name="Rectangle 149">
              <a:extLst>
                <a:ext uri="{FF2B5EF4-FFF2-40B4-BE49-F238E27FC236}">
                  <a16:creationId xmlns:a16="http://schemas.microsoft.com/office/drawing/2014/main" id="{2D36542A-EC0E-4D22-AE07-BBF92D98F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35" y="1367815"/>
              <a:ext cx="396000" cy="395999"/>
            </a:xfrm>
            <a:prstGeom prst="rect">
              <a:avLst/>
            </a:prstGeom>
            <a:solidFill>
              <a:schemeClr val="bg1"/>
            </a:solidFill>
            <a:ln w="127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AU" sz="1591">
                <a:solidFill>
                  <a:schemeClr val="tx2"/>
                </a:solidFill>
                <a:latin typeface="+mj-lt"/>
              </a:endParaRPr>
            </a:p>
          </p:txBody>
        </p:sp>
        <p:sp>
          <p:nvSpPr>
            <p:cNvPr id="17" name="Rectangle 149">
              <a:extLst>
                <a:ext uri="{FF2B5EF4-FFF2-40B4-BE49-F238E27FC236}">
                  <a16:creationId xmlns:a16="http://schemas.microsoft.com/office/drawing/2014/main" id="{226A34AB-943C-4917-B788-F95768974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790" y="1367815"/>
              <a:ext cx="396000" cy="395999"/>
            </a:xfrm>
            <a:prstGeom prst="rect">
              <a:avLst/>
            </a:prstGeom>
            <a:solidFill>
              <a:schemeClr val="tx1"/>
            </a:solidFill>
            <a:ln w="127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AU" sz="1591">
                <a:solidFill>
                  <a:schemeClr val="tx2"/>
                </a:solidFill>
                <a:latin typeface="+mj-lt"/>
              </a:endParaRPr>
            </a:p>
          </p:txBody>
        </p:sp>
        <p:sp>
          <p:nvSpPr>
            <p:cNvPr id="18" name="Rectangle 149">
              <a:extLst>
                <a:ext uri="{FF2B5EF4-FFF2-40B4-BE49-F238E27FC236}">
                  <a16:creationId xmlns:a16="http://schemas.microsoft.com/office/drawing/2014/main" id="{AC60E1C2-04B0-4CE7-A4E3-8E0183A8F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445" y="1367815"/>
              <a:ext cx="396000" cy="395999"/>
            </a:xfrm>
            <a:prstGeom prst="rect">
              <a:avLst/>
            </a:prstGeom>
            <a:solidFill>
              <a:schemeClr val="bg2"/>
            </a:solidFill>
            <a:ln w="127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AU" sz="1591">
                <a:solidFill>
                  <a:schemeClr val="tx2"/>
                </a:solidFill>
                <a:latin typeface="+mj-lt"/>
              </a:endParaRPr>
            </a:p>
          </p:txBody>
        </p:sp>
        <p:sp>
          <p:nvSpPr>
            <p:cNvPr id="19" name="Rectangle 149">
              <a:extLst>
                <a:ext uri="{FF2B5EF4-FFF2-40B4-BE49-F238E27FC236}">
                  <a16:creationId xmlns:a16="http://schemas.microsoft.com/office/drawing/2014/main" id="{FD160983-3D73-4491-BD2B-B92FB49FD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100" y="1367815"/>
              <a:ext cx="396000" cy="395999"/>
            </a:xfrm>
            <a:prstGeom prst="rect">
              <a:avLst/>
            </a:prstGeom>
            <a:solidFill>
              <a:schemeClr val="tx2"/>
            </a:solidFill>
            <a:ln w="127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AU" sz="1591">
                <a:solidFill>
                  <a:schemeClr val="tx2"/>
                </a:solidFill>
                <a:latin typeface="+mj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A4DC5CF-69F8-40EF-B89E-1D72A234431A}"/>
                </a:ext>
              </a:extLst>
            </p:cNvPr>
            <p:cNvSpPr/>
            <p:nvPr/>
          </p:nvSpPr>
          <p:spPr>
            <a:xfrm>
              <a:off x="257638" y="1253094"/>
              <a:ext cx="2248632" cy="608886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sz="1114">
                <a:solidFill>
                  <a:schemeClr val="tx2"/>
                </a:solidFill>
                <a:latin typeface="+mj-lt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22CFAA4-F307-47DA-9F4B-911BCF26A6CC}"/>
              </a:ext>
            </a:extLst>
          </p:cNvPr>
          <p:cNvSpPr txBox="1"/>
          <p:nvPr userDrawn="1"/>
        </p:nvSpPr>
        <p:spPr>
          <a:xfrm>
            <a:off x="4911685" y="2216921"/>
            <a:ext cx="1721296" cy="1714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114" b="1">
                <a:solidFill>
                  <a:schemeClr val="accent1"/>
                </a:solidFill>
                <a:cs typeface="Arial" pitchFamily="34" charset="0"/>
              </a:rPr>
              <a:t>Text, headings or fills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36C780-E9FD-4B39-9071-93262EC0A990}"/>
              </a:ext>
            </a:extLst>
          </p:cNvPr>
          <p:cNvSpPr txBox="1"/>
          <p:nvPr userDrawn="1"/>
        </p:nvSpPr>
        <p:spPr>
          <a:xfrm>
            <a:off x="7496555" y="2216921"/>
            <a:ext cx="1721296" cy="1714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114" b="1">
                <a:solidFill>
                  <a:schemeClr val="accent1"/>
                </a:solidFill>
                <a:cs typeface="Arial" pitchFamily="34" charset="0"/>
              </a:rPr>
              <a:t>Accent Colours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15949D-B661-4A35-97AB-9546604EEF53}"/>
              </a:ext>
            </a:extLst>
          </p:cNvPr>
          <p:cNvSpPr/>
          <p:nvPr userDrawn="1"/>
        </p:nvSpPr>
        <p:spPr>
          <a:xfrm>
            <a:off x="4911685" y="2968823"/>
            <a:ext cx="2264435" cy="6032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506" indent="-114506">
              <a:spcAft>
                <a:spcPts val="477"/>
              </a:spcAft>
              <a:buFont typeface="Arial" pitchFamily="34" charset="0"/>
              <a:buChar char="•"/>
            </a:pPr>
            <a:r>
              <a:rPr lang="en-AU" sz="876">
                <a:solidFill>
                  <a:srgbClr val="000000"/>
                </a:solidFill>
                <a:cs typeface="Arial" pitchFamily="34" charset="0"/>
              </a:rPr>
              <a:t>The swatches above are mainly used for headings, body text tables, or other elements.</a:t>
            </a:r>
          </a:p>
          <a:p>
            <a:pPr marL="114506" indent="-114506">
              <a:spcAft>
                <a:spcPts val="477"/>
              </a:spcAft>
              <a:buFont typeface="Arial" pitchFamily="34" charset="0"/>
              <a:buChar char="•"/>
            </a:pPr>
            <a:r>
              <a:rPr lang="en-AU" sz="876">
                <a:solidFill>
                  <a:srgbClr val="000000"/>
                </a:solidFill>
                <a:cs typeface="Arial" pitchFamily="34" charset="0"/>
              </a:rPr>
              <a:t>The colours will not be used automatically when populating charts.</a:t>
            </a:r>
            <a:endParaRPr lang="en-AU" sz="876" b="1">
              <a:solidFill>
                <a:srgbClr val="000000"/>
              </a:solidFill>
              <a:cs typeface="Arial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737A8D8-3129-47AF-9CBB-1F2EFF2638BB}"/>
              </a:ext>
            </a:extLst>
          </p:cNvPr>
          <p:cNvGrpSpPr/>
          <p:nvPr userDrawn="1"/>
        </p:nvGrpSpPr>
        <p:grpSpPr>
          <a:xfrm>
            <a:off x="1010400" y="4861594"/>
            <a:ext cx="1508303" cy="141996"/>
            <a:chOff x="398463" y="1935479"/>
            <a:chExt cx="1428708" cy="17852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8781DF-2188-468A-87C5-A36BAEFA20FB}"/>
                </a:ext>
              </a:extLst>
            </p:cNvPr>
            <p:cNvSpPr/>
            <p:nvPr/>
          </p:nvSpPr>
          <p:spPr>
            <a:xfrm>
              <a:off x="980731" y="1935479"/>
              <a:ext cx="846440" cy="177387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sz="1114">
                <a:solidFill>
                  <a:schemeClr val="tx2"/>
                </a:solidFill>
                <a:latin typeface="+mj-lt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0A34035-CE0F-4A6A-9C45-A8E82D722A1E}"/>
                </a:ext>
              </a:extLst>
            </p:cNvPr>
            <p:cNvSpPr/>
            <p:nvPr/>
          </p:nvSpPr>
          <p:spPr>
            <a:xfrm>
              <a:off x="398463" y="1935479"/>
              <a:ext cx="582268" cy="178523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sz="1114">
                <a:solidFill>
                  <a:schemeClr val="tx2"/>
                </a:solidFill>
                <a:latin typeface="+mj-lt"/>
              </a:endParaRPr>
            </a:p>
          </p:txBody>
        </p:sp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9F16EA8-A5C9-4D3E-B018-498240141789}"/>
              </a:ext>
            </a:extLst>
          </p:cNvPr>
          <p:cNvSpPr txBox="1">
            <a:spLocks/>
          </p:cNvSpPr>
          <p:nvPr userDrawn="1"/>
        </p:nvSpPr>
        <p:spPr>
          <a:xfrm>
            <a:off x="1009800" y="982884"/>
            <a:ext cx="9143563" cy="130559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07950" indent="-10795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324000" indent="-108000" algn="l" defTabSz="914400" rtl="0" eaLnBrk="1" latinLnBrk="0" hangingPunct="1">
              <a:spcBef>
                <a:spcPts val="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324000" indent="-108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432000" indent="-108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6pPr>
            <a:lvl7pPr marL="648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7pPr>
            <a:lvl8pPr marL="756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8pPr>
            <a:lvl9pPr marL="864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9pPr>
          </a:lstStyle>
          <a:p>
            <a:r>
              <a:rPr lang="en-AU" sz="1432">
                <a:solidFill>
                  <a:schemeClr val="accent1"/>
                </a:solidFill>
              </a:rPr>
              <a:t>Colour swatches</a:t>
            </a:r>
          </a:p>
          <a:p>
            <a:pPr lvl="1"/>
            <a:r>
              <a:rPr lang="en-AU" sz="1114">
                <a:solidFill>
                  <a:schemeClr val="tx2"/>
                </a:solidFill>
              </a:rPr>
              <a:t>Understanding colour swatches can make all the difference to the efficiency of creating a presentation and the readability for the viewer.</a:t>
            </a:r>
          </a:p>
          <a:p>
            <a:pPr lvl="1"/>
            <a:endParaRPr lang="en-AU" sz="1114">
              <a:solidFill>
                <a:schemeClr val="tx2"/>
              </a:solidFill>
            </a:endParaRPr>
          </a:p>
          <a:p>
            <a:pPr lvl="1"/>
            <a:r>
              <a:rPr lang="en-AU" sz="1114">
                <a:solidFill>
                  <a:schemeClr val="tx2"/>
                </a:solidFill>
              </a:rPr>
              <a:t>The IP Australia corporate colours are available through ‘Theme Colours’. </a:t>
            </a:r>
          </a:p>
          <a:p>
            <a:pPr lvl="1"/>
            <a:r>
              <a:rPr lang="en-AU" sz="1114">
                <a:solidFill>
                  <a:schemeClr val="tx2"/>
                </a:solidFill>
              </a:rPr>
              <a:t>To access these type ‘</a:t>
            </a:r>
            <a:r>
              <a:rPr lang="en-AU" sz="1114" i="1">
                <a:solidFill>
                  <a:schemeClr val="tx2"/>
                </a:solidFill>
              </a:rPr>
              <a:t>Theme</a:t>
            </a:r>
            <a:r>
              <a:rPr lang="en-AU" sz="1114">
                <a:solidFill>
                  <a:schemeClr val="tx2"/>
                </a:solidFill>
              </a:rPr>
              <a:t>’ in the search bar at the top of the application, </a:t>
            </a:r>
            <a:br>
              <a:rPr lang="en-AU" sz="1114">
                <a:solidFill>
                  <a:schemeClr val="tx2"/>
                </a:solidFill>
              </a:rPr>
            </a:br>
            <a:r>
              <a:rPr lang="en-AU" sz="1114">
                <a:solidFill>
                  <a:schemeClr val="tx2"/>
                </a:solidFill>
              </a:rPr>
              <a:t>select ‘</a:t>
            </a:r>
            <a:r>
              <a:rPr lang="en-AU" sz="1114" i="1">
                <a:solidFill>
                  <a:schemeClr val="tx2"/>
                </a:solidFill>
              </a:rPr>
              <a:t>Theme Colours</a:t>
            </a:r>
            <a:r>
              <a:rPr lang="en-AU" sz="1114">
                <a:solidFill>
                  <a:schemeClr val="tx2"/>
                </a:solidFill>
              </a:rPr>
              <a:t>’, select ‘</a:t>
            </a:r>
            <a:r>
              <a:rPr lang="en-AU" sz="1114" i="1" err="1">
                <a:solidFill>
                  <a:schemeClr val="tx2"/>
                </a:solidFill>
              </a:rPr>
              <a:t>IPAustraliaColourTheme</a:t>
            </a:r>
            <a:r>
              <a:rPr lang="en-AU" sz="1114">
                <a:solidFill>
                  <a:schemeClr val="tx2"/>
                </a:solidFill>
              </a:rPr>
              <a:t>’.  </a:t>
            </a: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5830899C-DE60-4440-A50B-7A807EAFF96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017014233"/>
              </p:ext>
            </p:extLst>
          </p:nvPr>
        </p:nvGraphicFramePr>
        <p:xfrm>
          <a:off x="7447859" y="4611779"/>
          <a:ext cx="1588714" cy="49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0E2A4474-44C7-4AFD-96B3-62316312E89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390895885"/>
              </p:ext>
            </p:extLst>
          </p:nvPr>
        </p:nvGraphicFramePr>
        <p:xfrm>
          <a:off x="8338011" y="4664041"/>
          <a:ext cx="1588714" cy="49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039ED58A-8181-482C-823A-171678E9293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16181747"/>
              </p:ext>
            </p:extLst>
          </p:nvPr>
        </p:nvGraphicFramePr>
        <p:xfrm>
          <a:off x="7447859" y="5433943"/>
          <a:ext cx="1588714" cy="1157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1778BAE9-5575-475F-80B6-7D125CC15790}"/>
              </a:ext>
            </a:extLst>
          </p:cNvPr>
          <p:cNvSpPr/>
          <p:nvPr userDrawn="1"/>
        </p:nvSpPr>
        <p:spPr>
          <a:xfrm>
            <a:off x="4911685" y="4055774"/>
            <a:ext cx="1956619" cy="1259086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wrap="square" lIns="114502" tIns="114502" rIns="114502" bIns="114502" rtlCol="0">
            <a:spAutoFit/>
          </a:bodyPr>
          <a:lstStyle/>
          <a:p>
            <a:r>
              <a:rPr lang="en-AU" sz="954" b="1">
                <a:solidFill>
                  <a:schemeClr val="accent1"/>
                </a:solidFill>
                <a:cs typeface="Arial" pitchFamily="34" charset="0"/>
              </a:rPr>
              <a:t>Important Note: </a:t>
            </a:r>
            <a:br>
              <a:rPr lang="en-AU" sz="954" b="1">
                <a:solidFill>
                  <a:schemeClr val="tx2"/>
                </a:solidFill>
                <a:cs typeface="Arial" pitchFamily="34" charset="0"/>
              </a:rPr>
            </a:br>
            <a:r>
              <a:rPr lang="en-AU" sz="954">
                <a:solidFill>
                  <a:schemeClr val="tx2"/>
                </a:solidFill>
                <a:cs typeface="Arial" pitchFamily="34" charset="0"/>
              </a:rPr>
              <a:t>If copying charts from existing excel workbooks please be aware that the whole spread sheet will be embedded in the presentation. Therefore you may prefer to paste as a picture.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B399A5-8FBC-424A-A80D-46A9C56745F0}"/>
              </a:ext>
            </a:extLst>
          </p:cNvPr>
          <p:cNvSpPr/>
          <p:nvPr userDrawn="1"/>
        </p:nvSpPr>
        <p:spPr>
          <a:xfrm>
            <a:off x="7485563" y="2968823"/>
            <a:ext cx="3155006" cy="13603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506" indent="-114506">
              <a:spcAft>
                <a:spcPts val="477"/>
              </a:spcAft>
              <a:buFont typeface="Arial" pitchFamily="34" charset="0"/>
              <a:buChar char="•"/>
            </a:pPr>
            <a:r>
              <a:rPr lang="en-AU" sz="876">
                <a:solidFill>
                  <a:schemeClr val="tx2"/>
                </a:solidFill>
                <a:cs typeface="Arial" pitchFamily="34" charset="0"/>
              </a:rPr>
              <a:t>Charts will automatically be coloured in the order shown above unless they have been changed manually.</a:t>
            </a:r>
          </a:p>
          <a:p>
            <a:pPr marL="114506" indent="-114506">
              <a:spcBef>
                <a:spcPts val="637"/>
              </a:spcBef>
              <a:spcAft>
                <a:spcPts val="477"/>
              </a:spcAft>
              <a:buFont typeface="Arial" pitchFamily="34" charset="0"/>
              <a:buChar char="•"/>
            </a:pPr>
            <a:r>
              <a:rPr lang="en-AU" sz="876">
                <a:solidFill>
                  <a:schemeClr val="tx2"/>
                </a:solidFill>
                <a:cs typeface="Arial" pitchFamily="34" charset="0"/>
              </a:rPr>
              <a:t>If the colours are not being picked up correctly in this order ensure the data points </a:t>
            </a:r>
            <a:r>
              <a:rPr lang="en-AU" sz="876" b="1">
                <a:solidFill>
                  <a:schemeClr val="tx2"/>
                </a:solidFill>
                <a:cs typeface="Arial" pitchFamily="34" charset="0"/>
              </a:rPr>
              <a:t>Fill </a:t>
            </a:r>
            <a:r>
              <a:rPr lang="en-AU" sz="876">
                <a:solidFill>
                  <a:schemeClr val="tx2"/>
                </a:solidFill>
                <a:cs typeface="Arial" pitchFamily="34" charset="0"/>
              </a:rPr>
              <a:t>colour</a:t>
            </a:r>
            <a:r>
              <a:rPr lang="en-AU" sz="876" b="1">
                <a:solidFill>
                  <a:schemeClr val="tx2"/>
                </a:solidFill>
                <a:cs typeface="Arial" pitchFamily="34" charset="0"/>
              </a:rPr>
              <a:t> </a:t>
            </a:r>
            <a:r>
              <a:rPr lang="en-AU" sz="876">
                <a:solidFill>
                  <a:schemeClr val="tx2"/>
                </a:solidFill>
                <a:cs typeface="Arial" pitchFamily="34" charset="0"/>
              </a:rPr>
              <a:t>is set to </a:t>
            </a:r>
            <a:r>
              <a:rPr lang="en-AU" sz="876" b="1">
                <a:solidFill>
                  <a:schemeClr val="tx2"/>
                </a:solidFill>
                <a:cs typeface="Arial" pitchFamily="34" charset="0"/>
              </a:rPr>
              <a:t>Automatic. </a:t>
            </a:r>
            <a:endParaRPr lang="en-AU" sz="876">
              <a:solidFill>
                <a:schemeClr val="tx2"/>
              </a:solidFill>
              <a:cs typeface="Arial" pitchFamily="34" charset="0"/>
            </a:endParaRPr>
          </a:p>
          <a:p>
            <a:pPr marL="114506" indent="-114506">
              <a:spcBef>
                <a:spcPts val="637"/>
              </a:spcBef>
              <a:spcAft>
                <a:spcPts val="477"/>
              </a:spcAft>
              <a:buFont typeface="Arial" pitchFamily="34" charset="0"/>
              <a:buChar char="•"/>
            </a:pPr>
            <a:r>
              <a:rPr lang="en-AU" sz="876">
                <a:solidFill>
                  <a:schemeClr val="tx2"/>
                </a:solidFill>
                <a:cs typeface="Arial" pitchFamily="34" charset="0"/>
              </a:rPr>
              <a:t>In some circumstances it may be necessary to select the graph, Right Click and “</a:t>
            </a:r>
            <a:r>
              <a:rPr lang="en-AU" sz="876" b="1">
                <a:solidFill>
                  <a:schemeClr val="tx2"/>
                </a:solidFill>
                <a:cs typeface="Arial" pitchFamily="34" charset="0"/>
              </a:rPr>
              <a:t>Reset to match style</a:t>
            </a:r>
            <a:r>
              <a:rPr lang="en-AU" sz="876">
                <a:solidFill>
                  <a:schemeClr val="tx2"/>
                </a:solidFill>
                <a:cs typeface="Arial" pitchFamily="34" charset="0"/>
              </a:rPr>
              <a:t>”</a:t>
            </a:r>
            <a:br>
              <a:rPr lang="en-AU" sz="876">
                <a:solidFill>
                  <a:schemeClr val="tx2"/>
                </a:solidFill>
                <a:cs typeface="Arial" pitchFamily="34" charset="0"/>
              </a:rPr>
            </a:br>
            <a:r>
              <a:rPr lang="en-AU" sz="876" b="1">
                <a:solidFill>
                  <a:schemeClr val="tx2"/>
                </a:solidFill>
                <a:cs typeface="Arial" pitchFamily="34" charset="0"/>
              </a:rPr>
              <a:t>NOTE:</a:t>
            </a:r>
            <a:r>
              <a:rPr lang="en-AU" sz="876">
                <a:solidFill>
                  <a:schemeClr val="tx2"/>
                </a:solidFill>
                <a:cs typeface="Arial" pitchFamily="34" charset="0"/>
              </a:rPr>
              <a:t> Make sure you make a duplicate copy of your slide or  chart as this will remove manual formatting to the graph.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CDD23B1-C931-4EF1-8D9F-E7BE7B715E4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848528" y="3356992"/>
            <a:ext cx="1240021" cy="1726994"/>
          </a:xfrm>
          <a:prstGeom prst="rect">
            <a:avLst/>
          </a:prstGeom>
        </p:spPr>
      </p:pic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34D7483-58CB-4DB5-8872-200487C4C47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31" y="3026445"/>
            <a:ext cx="3074194" cy="122158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6F6976E-A0C3-4BCC-8A44-5E1692B86AD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35" y="2404208"/>
            <a:ext cx="1833563" cy="21907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93AF3FC-D769-49C6-84F1-51BECAA4A466}"/>
              </a:ext>
            </a:extLst>
          </p:cNvPr>
          <p:cNvSpPr txBox="1"/>
          <p:nvPr userDrawn="1"/>
        </p:nvSpPr>
        <p:spPr>
          <a:xfrm>
            <a:off x="1025135" y="2216921"/>
            <a:ext cx="17212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900" b="0">
                <a:solidFill>
                  <a:schemeClr val="accent1"/>
                </a:solidFill>
                <a:cs typeface="Arial" pitchFamily="34" charset="0"/>
              </a:rPr>
              <a:t>1. Search bar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6C8BC9-83B4-46CF-A22B-BF9F0D074912}"/>
              </a:ext>
            </a:extLst>
          </p:cNvPr>
          <p:cNvSpPr txBox="1"/>
          <p:nvPr userDrawn="1"/>
        </p:nvSpPr>
        <p:spPr>
          <a:xfrm>
            <a:off x="1025135" y="2839158"/>
            <a:ext cx="17212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900" b="0">
                <a:solidFill>
                  <a:schemeClr val="accent1"/>
                </a:solidFill>
                <a:cs typeface="Arial" pitchFamily="34" charset="0"/>
              </a:rPr>
              <a:t>2. Theme Colours</a:t>
            </a:r>
          </a:p>
        </p:txBody>
      </p:sp>
    </p:spTree>
    <p:extLst>
      <p:ext uri="{BB962C8B-B14F-4D97-AF65-F5344CB8AC3E}">
        <p14:creationId xmlns:p14="http://schemas.microsoft.com/office/powerpoint/2010/main" val="2692377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7ED183-CEC2-4347-AA01-BC10FF2E7FC0}"/>
              </a:ext>
            </a:extLst>
          </p:cNvPr>
          <p:cNvSpPr/>
          <p:nvPr/>
        </p:nvSpPr>
        <p:spPr>
          <a:xfrm>
            <a:off x="1009800" y="2127049"/>
            <a:ext cx="1076734" cy="605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9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370F34-734E-4BBB-99A7-9F6183A74CE8}"/>
              </a:ext>
            </a:extLst>
          </p:cNvPr>
          <p:cNvSpPr/>
          <p:nvPr/>
        </p:nvSpPr>
        <p:spPr>
          <a:xfrm>
            <a:off x="1009800" y="5267523"/>
            <a:ext cx="1076734" cy="1031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9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A12700-1304-4EC0-96A8-F55C849B1502}"/>
              </a:ext>
            </a:extLst>
          </p:cNvPr>
          <p:cNvSpPr/>
          <p:nvPr/>
        </p:nvSpPr>
        <p:spPr>
          <a:xfrm>
            <a:off x="1009800" y="2665416"/>
            <a:ext cx="179456" cy="2826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90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23D31-F0F0-46EC-8340-8C6077DDA4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34288" y="3658303"/>
            <a:ext cx="1318712" cy="9167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E2D5FD-B783-4503-94A1-4872C1A2584C}"/>
              </a:ext>
            </a:extLst>
          </p:cNvPr>
          <p:cNvSpPr txBox="1"/>
          <p:nvPr userDrawn="1"/>
        </p:nvSpPr>
        <p:spPr>
          <a:xfrm>
            <a:off x="1009800" y="480600"/>
            <a:ext cx="8189931" cy="3343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0000"/>
              </a:lnSpc>
              <a:spcBef>
                <a:spcPct val="0"/>
              </a:spcBef>
              <a:buNone/>
              <a:defRPr sz="2600" b="1"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AU" sz="1909">
                <a:solidFill>
                  <a:schemeClr val="accent1"/>
                </a:solidFill>
                <a:latin typeface="+mn-lt"/>
              </a:rPr>
              <a:t>Applying layouts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878BE9-CAE9-490F-9197-BA96DAD7DC80}"/>
              </a:ext>
            </a:extLst>
          </p:cNvPr>
          <p:cNvSpPr txBox="1">
            <a:spLocks/>
          </p:cNvSpPr>
          <p:nvPr userDrawn="1"/>
        </p:nvSpPr>
        <p:spPr>
          <a:xfrm>
            <a:off x="1009800" y="964278"/>
            <a:ext cx="8666425" cy="69817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07950" indent="-10795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324000" indent="-108000" algn="l" defTabSz="914400" rtl="0" eaLnBrk="1" latinLnBrk="0" hangingPunct="1">
              <a:spcBef>
                <a:spcPts val="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324000" indent="-108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432000" indent="-108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6pPr>
            <a:lvl7pPr marL="648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7pPr>
            <a:lvl8pPr marL="756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8pPr>
            <a:lvl9pPr marL="864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9pPr>
          </a:lstStyle>
          <a:p>
            <a:pPr lvl="1">
              <a:spcAft>
                <a:spcPts val="796"/>
              </a:spcAft>
            </a:pPr>
            <a:r>
              <a:rPr lang="en-AU" sz="1114">
                <a:solidFill>
                  <a:schemeClr val="tx2"/>
                </a:solidFill>
              </a:rPr>
              <a:t>Use the </a:t>
            </a:r>
            <a:r>
              <a:rPr lang="en-AU" sz="1114" b="1">
                <a:solidFill>
                  <a:schemeClr val="tx2"/>
                </a:solidFill>
              </a:rPr>
              <a:t>Layout</a:t>
            </a:r>
            <a:r>
              <a:rPr lang="en-AU" sz="1114">
                <a:solidFill>
                  <a:schemeClr val="tx2"/>
                </a:solidFill>
              </a:rPr>
              <a:t> button to change the selected slide to a different slide style. </a:t>
            </a:r>
          </a:p>
          <a:p>
            <a:pPr lvl="1">
              <a:spcAft>
                <a:spcPts val="796"/>
              </a:spcAft>
            </a:pPr>
            <a:r>
              <a:rPr lang="en-AU" sz="1114" i="1">
                <a:solidFill>
                  <a:schemeClr val="tx2"/>
                </a:solidFill>
              </a:rPr>
              <a:t>Note: To access select a slide in the presentation, click on the slide, then click the right mouse button. A pop up menu will appear. Scroll to ‘Layout’ and select style to apply by clicking on the thumbnail.</a:t>
            </a:r>
          </a:p>
          <a:p>
            <a:pPr lvl="1"/>
            <a:r>
              <a:rPr lang="en-AU" sz="1114">
                <a:solidFill>
                  <a:schemeClr val="tx2"/>
                </a:solidFill>
              </a:rPr>
              <a:t>Using the placeholders provided ensures consistent formatting.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9B2FFC-6CCA-4667-A294-BE62FD21F280}"/>
              </a:ext>
            </a:extLst>
          </p:cNvPr>
          <p:cNvSpPr/>
          <p:nvPr userDrawn="1"/>
        </p:nvSpPr>
        <p:spPr>
          <a:xfrm>
            <a:off x="6816080" y="5894635"/>
            <a:ext cx="3682119" cy="770042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wrap="square" lIns="114502" tIns="114502" rIns="114502" bIns="114502" rtlCol="0">
            <a:spAutoFit/>
          </a:bodyPr>
          <a:lstStyle/>
          <a:p>
            <a:r>
              <a:rPr lang="en-AU" sz="1167" b="1">
                <a:solidFill>
                  <a:schemeClr val="accent1"/>
                </a:solidFill>
                <a:cs typeface="Arial" pitchFamily="34" charset="0"/>
              </a:rPr>
              <a:t>Tip </a:t>
            </a:r>
            <a:br>
              <a:rPr lang="en-AU" sz="1167" b="1">
                <a:solidFill>
                  <a:schemeClr val="tx2"/>
                </a:solidFill>
                <a:cs typeface="Arial" pitchFamily="34" charset="0"/>
              </a:rPr>
            </a:br>
            <a:r>
              <a:rPr lang="en-AU" sz="1167">
                <a:solidFill>
                  <a:schemeClr val="tx2"/>
                </a:solidFill>
                <a:cs typeface="Arial" pitchFamily="34" charset="0"/>
              </a:rPr>
              <a:t>When selecting a different layout via the </a:t>
            </a:r>
            <a:r>
              <a:rPr lang="en-AU" sz="1167" b="1">
                <a:solidFill>
                  <a:schemeClr val="tx2"/>
                </a:solidFill>
                <a:cs typeface="Arial" pitchFamily="34" charset="0"/>
              </a:rPr>
              <a:t>Layout </a:t>
            </a:r>
            <a:r>
              <a:rPr lang="en-AU" sz="1167">
                <a:solidFill>
                  <a:schemeClr val="tx2"/>
                </a:solidFill>
                <a:cs typeface="Arial" pitchFamily="34" charset="0"/>
              </a:rPr>
              <a:t>button, click and drag from the corner to expand the window.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A0F53E-03D5-472B-8210-14EE3D7F0E8E}"/>
              </a:ext>
            </a:extLst>
          </p:cNvPr>
          <p:cNvCxnSpPr>
            <a:cxnSpLocks/>
            <a:stCxn id="8" idx="1"/>
            <a:endCxn id="9" idx="6"/>
          </p:cNvCxnSpPr>
          <p:nvPr userDrawn="1"/>
        </p:nvCxnSpPr>
        <p:spPr>
          <a:xfrm flipH="1">
            <a:off x="6587542" y="6279656"/>
            <a:ext cx="228538" cy="234185"/>
          </a:xfrm>
          <a:prstGeom prst="straightConnector1">
            <a:avLst/>
          </a:prstGeom>
          <a:ln w="6350">
            <a:solidFill>
              <a:schemeClr val="accent1"/>
            </a:solidFill>
            <a:miter lim="800000"/>
            <a:headEnd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3B1B822-84F2-4ED7-BCDF-17735F09B155}"/>
              </a:ext>
            </a:extLst>
          </p:cNvPr>
          <p:cNvSpPr txBox="1">
            <a:spLocks/>
          </p:cNvSpPr>
          <p:nvPr userDrawn="1"/>
        </p:nvSpPr>
        <p:spPr>
          <a:xfrm>
            <a:off x="6816080" y="2029824"/>
            <a:ext cx="2512544" cy="127118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07950" indent="-10795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324000" indent="-108000" algn="l" defTabSz="914400" rtl="0" eaLnBrk="1" latinLnBrk="0" hangingPunct="1">
              <a:spcBef>
                <a:spcPts val="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324000" indent="-108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432000" indent="-108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6pPr>
            <a:lvl7pPr marL="648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7pPr>
            <a:lvl8pPr marL="756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8pPr>
            <a:lvl9pPr marL="864000" indent="-21600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9pPr>
          </a:lstStyle>
          <a:p>
            <a:pPr lvl="1"/>
            <a:r>
              <a:rPr lang="en-AU" sz="1000">
                <a:solidFill>
                  <a:schemeClr val="tx2"/>
                </a:solidFill>
              </a:rPr>
              <a:t>The presentation has </a:t>
            </a:r>
            <a:r>
              <a:rPr lang="en-AU" sz="1000" b="1">
                <a:solidFill>
                  <a:schemeClr val="tx2"/>
                </a:solidFill>
              </a:rPr>
              <a:t>pre-built</a:t>
            </a:r>
            <a:r>
              <a:rPr lang="en-AU" sz="1000">
                <a:solidFill>
                  <a:schemeClr val="tx2"/>
                </a:solidFill>
              </a:rPr>
              <a:t> slides that are formatted to corporate brand guidelines. Use these slides for your presentation, if pages are not required delete them. However, if running the template again pre-built slides will repopulate. </a:t>
            </a:r>
          </a:p>
          <a:p>
            <a:pPr lvl="1"/>
            <a:endParaRPr lang="en-AU" sz="1000">
              <a:solidFill>
                <a:schemeClr val="tx2"/>
              </a:solidFill>
            </a:endParaRPr>
          </a:p>
          <a:p>
            <a:pPr lvl="1"/>
            <a:r>
              <a:rPr lang="en-AU" sz="1000" b="1">
                <a:solidFill>
                  <a:schemeClr val="tx2"/>
                </a:solidFill>
              </a:rPr>
              <a:t>Copy</a:t>
            </a:r>
            <a:r>
              <a:rPr lang="en-AU" sz="1000">
                <a:solidFill>
                  <a:schemeClr val="tx2"/>
                </a:solidFill>
              </a:rPr>
              <a:t> and </a:t>
            </a:r>
            <a:r>
              <a:rPr lang="en-AU" sz="1000" b="1">
                <a:solidFill>
                  <a:schemeClr val="tx2"/>
                </a:solidFill>
              </a:rPr>
              <a:t>paste</a:t>
            </a:r>
            <a:r>
              <a:rPr lang="en-AU" sz="1000">
                <a:solidFill>
                  <a:schemeClr val="tx2"/>
                </a:solidFill>
              </a:rPr>
              <a:t> any pre-built slides as required.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C199A6-0AC0-48C9-B990-613918F7A98B}"/>
              </a:ext>
            </a:extLst>
          </p:cNvPr>
          <p:cNvSpPr/>
          <p:nvPr userDrawn="1"/>
        </p:nvSpPr>
        <p:spPr>
          <a:xfrm>
            <a:off x="8483796" y="3658302"/>
            <a:ext cx="2014403" cy="1405793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wrap="square" lIns="114502" tIns="114502" rIns="114502" bIns="114502" rtlCol="0">
            <a:spAutoFit/>
          </a:bodyPr>
          <a:lstStyle/>
          <a:p>
            <a:r>
              <a:rPr lang="en-AU" sz="1272" b="1">
                <a:solidFill>
                  <a:schemeClr val="accent1"/>
                </a:solidFill>
                <a:cs typeface="Arial" pitchFamily="34" charset="0"/>
              </a:rPr>
              <a:t>Tip </a:t>
            </a:r>
            <a:br>
              <a:rPr lang="en-AU" sz="1272" b="1">
                <a:solidFill>
                  <a:schemeClr val="tx2"/>
                </a:solidFill>
                <a:cs typeface="Arial" pitchFamily="34" charset="0"/>
              </a:rPr>
            </a:br>
            <a:r>
              <a:rPr lang="en-AU" sz="1272">
                <a:solidFill>
                  <a:schemeClr val="tx2"/>
                </a:solidFill>
                <a:cs typeface="Arial" pitchFamily="34" charset="0"/>
              </a:rPr>
              <a:t>If you have used the placeholders provided, you can click the </a:t>
            </a:r>
            <a:r>
              <a:rPr lang="en-AU" sz="1272" b="1">
                <a:solidFill>
                  <a:schemeClr val="tx2"/>
                </a:solidFill>
                <a:cs typeface="Arial" pitchFamily="34" charset="0"/>
              </a:rPr>
              <a:t>Reset </a:t>
            </a:r>
            <a:r>
              <a:rPr lang="en-AU" sz="1272">
                <a:solidFill>
                  <a:schemeClr val="tx2"/>
                </a:solidFill>
                <a:cs typeface="Arial" pitchFamily="34" charset="0"/>
              </a:rPr>
              <a:t>button to reformat the slide back to the correct formatting.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30B5835-D21A-4EBC-9484-A9FC1342C99D}"/>
              </a:ext>
            </a:extLst>
          </p:cNvPr>
          <p:cNvSpPr/>
          <p:nvPr userDrawn="1"/>
        </p:nvSpPr>
        <p:spPr>
          <a:xfrm>
            <a:off x="7493644" y="4060659"/>
            <a:ext cx="724464" cy="229846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544">
              <a:solidFill>
                <a:schemeClr val="tx2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08D993B-6A4E-4763-B221-D42D4EABBAD0}"/>
              </a:ext>
            </a:extLst>
          </p:cNvPr>
          <p:cNvCxnSpPr>
            <a:cxnSpLocks/>
            <a:stCxn id="12" idx="1"/>
            <a:endCxn id="13" idx="6"/>
          </p:cNvCxnSpPr>
          <p:nvPr userDrawn="1"/>
        </p:nvCxnSpPr>
        <p:spPr>
          <a:xfrm flipH="1" flipV="1">
            <a:off x="8218108" y="4175582"/>
            <a:ext cx="265688" cy="185617"/>
          </a:xfrm>
          <a:prstGeom prst="straightConnector1">
            <a:avLst/>
          </a:prstGeom>
          <a:ln w="6350">
            <a:solidFill>
              <a:schemeClr val="accent1"/>
            </a:solidFill>
            <a:miter lim="800000"/>
            <a:headEnd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357B0D4-151B-4041-DA25-2A11A92141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00" y="2024844"/>
            <a:ext cx="5494831" cy="457744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953F06E4-8723-423D-807D-9D488AF24B83}"/>
              </a:ext>
            </a:extLst>
          </p:cNvPr>
          <p:cNvSpPr/>
          <p:nvPr userDrawn="1"/>
        </p:nvSpPr>
        <p:spPr>
          <a:xfrm>
            <a:off x="6301258" y="6367145"/>
            <a:ext cx="286284" cy="293391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544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24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33F55C-B142-467D-B542-54CFF8CB55BF}"/>
              </a:ext>
            </a:extLst>
          </p:cNvPr>
          <p:cNvSpPr/>
          <p:nvPr userDrawn="1"/>
        </p:nvSpPr>
        <p:spPr>
          <a:xfrm>
            <a:off x="6096000" y="428"/>
            <a:ext cx="6096000" cy="6857572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5A9AD-8EC8-4201-AB71-2C938C931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548055"/>
            <a:ext cx="4781924" cy="807261"/>
          </a:xfrm>
        </p:spPr>
        <p:txBody>
          <a:bodyPr/>
          <a:lstStyle/>
          <a:p>
            <a:r>
              <a:rPr lang="en-US"/>
              <a:t>Single-column page</a:t>
            </a:r>
            <a:endParaRPr lang="en-A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B76266-5E58-49F5-8966-29630A02C59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0000" y="1693629"/>
            <a:ext cx="4781924" cy="40734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30" name="Picture Placeholder 10">
            <a:extLst>
              <a:ext uri="{FF2B5EF4-FFF2-40B4-BE49-F238E27FC236}">
                <a16:creationId xmlns:a16="http://schemas.microsoft.com/office/drawing/2014/main" id="{258A7F8D-41C2-4530-804B-6510325FA95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6299" y="-1343"/>
            <a:ext cx="6095702" cy="6836400"/>
          </a:xfrm>
        </p:spPr>
        <p:txBody>
          <a:bodyPr anchor="ctr" anchorCtr="0"/>
          <a:lstStyle>
            <a:lvl1pPr algn="ctr"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1468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D019D-E1A0-4DD6-A047-3CCA1A628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548055"/>
            <a:ext cx="10506560" cy="80726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Double-column page</a:t>
            </a:r>
            <a:endParaRPr lang="en-A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EFD8B2-D136-4F81-A5DD-3562D240B2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0000" y="1696244"/>
            <a:ext cx="10506560" cy="4073016"/>
          </a:xfrm>
        </p:spPr>
        <p:txBody>
          <a:bodyPr numCol="2" spcCol="360000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825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col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A801C29D-10AF-48DA-B289-439F9D8DA4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</p:spPr>
        <p:txBody>
          <a:bodyPr anchor="ctr" anchorCtr="0"/>
          <a:lstStyle>
            <a:lvl1pPr algn="ctr">
              <a:defRPr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BCD50B-D059-B0A7-910E-4FE330866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548055"/>
            <a:ext cx="4781924" cy="807261"/>
          </a:xfrm>
        </p:spPr>
        <p:txBody>
          <a:bodyPr/>
          <a:lstStyle/>
          <a:p>
            <a:r>
              <a:rPr lang="en-US"/>
              <a:t>Single-column page</a:t>
            </a:r>
            <a:endParaRPr lang="en-AU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E929272A-409E-768F-3139-9C8049547E0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0000" y="1693629"/>
            <a:ext cx="4781924" cy="40734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35400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col page 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A801C29D-10AF-48DA-B289-439F9D8DA4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3049200" cy="2286000"/>
          </a:xfrm>
        </p:spPr>
        <p:txBody>
          <a:bodyPr anchor="ctr" anchorCtr="0"/>
          <a:lstStyle>
            <a:lvl1pPr algn="ctr">
              <a:defRPr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C6620A7-9B9D-447E-9AC3-901298A16A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5200" y="0"/>
            <a:ext cx="3045288" cy="2286000"/>
          </a:xfrm>
        </p:spPr>
        <p:txBody>
          <a:bodyPr anchor="ctr" anchorCtr="0"/>
          <a:lstStyle>
            <a:lvl1pPr algn="ctr">
              <a:defRPr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6CE8703-B809-448A-9B13-A65A4871E8E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2286263"/>
            <a:ext cx="3049200" cy="2286000"/>
          </a:xfrm>
        </p:spPr>
        <p:txBody>
          <a:bodyPr anchor="ctr" anchorCtr="0"/>
          <a:lstStyle>
            <a:lvl1pPr algn="ctr">
              <a:defRPr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4C3AEED1-6387-40FD-8AAE-E56D0A3505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5200" y="2286263"/>
            <a:ext cx="3045288" cy="2286000"/>
          </a:xfrm>
        </p:spPr>
        <p:txBody>
          <a:bodyPr anchor="ctr" anchorCtr="0"/>
          <a:lstStyle>
            <a:lvl1pPr algn="ctr">
              <a:defRPr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5842F514-096D-43EC-A670-E5550DFB5F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572526"/>
            <a:ext cx="3049200" cy="2286000"/>
          </a:xfrm>
        </p:spPr>
        <p:txBody>
          <a:bodyPr anchor="ctr" anchorCtr="0"/>
          <a:lstStyle>
            <a:lvl1pPr algn="ctr">
              <a:defRPr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23D925E6-EBC8-40B7-94AC-5594629470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5200" y="4572526"/>
            <a:ext cx="3045288" cy="2286000"/>
          </a:xfrm>
        </p:spPr>
        <p:txBody>
          <a:bodyPr anchor="ctr" anchorCtr="0"/>
          <a:lstStyle>
            <a:lvl1pPr algn="ctr">
              <a:defRPr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379075-3AB0-EABF-8F79-3C2C4F87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548055"/>
            <a:ext cx="4781924" cy="807261"/>
          </a:xfrm>
        </p:spPr>
        <p:txBody>
          <a:bodyPr/>
          <a:lstStyle/>
          <a:p>
            <a:r>
              <a:rPr lang="en-US"/>
              <a:t>Single-column page</a:t>
            </a:r>
            <a:endParaRPr lang="en-AU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CEEBB0A4-A556-7146-3BD8-0B97CDDC68D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0000" y="1693629"/>
            <a:ext cx="4781924" cy="40734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790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page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D019D-E1A0-4DD6-A047-3CCA1A628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548055"/>
            <a:ext cx="10162840" cy="80726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Double-column page</a:t>
            </a:r>
            <a:endParaRPr lang="en-A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EFD8B2-D136-4F81-A5DD-3562D240B2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9850" y="1696244"/>
            <a:ext cx="4838823" cy="4073016"/>
          </a:xfrm>
        </p:spPr>
        <p:txBody>
          <a:bodyPr numCol="1" spcCol="360000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12FD1B6-0669-4463-A3C8-B9BAE0581E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54016" y="1696244"/>
            <a:ext cx="4838823" cy="4073016"/>
          </a:xfrm>
        </p:spPr>
        <p:txBody>
          <a:bodyPr numCol="1" spcCol="360000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99460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9853127F-96F5-4393-90F6-F4E5BE06F0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00" y="481172"/>
            <a:ext cx="1235967" cy="81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029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30000" y="548680"/>
            <a:ext cx="10866600" cy="5288088"/>
          </a:xfrm>
        </p:spPr>
        <p:txBody>
          <a:bodyPr anchor="ctr" anchorCtr="0"/>
          <a:lstStyle>
            <a:lvl1pPr algn="l">
              <a:lnSpc>
                <a:spcPct val="100000"/>
              </a:lnSpc>
              <a:spcAft>
                <a:spcPts val="600"/>
              </a:spcAft>
              <a:defRPr sz="6300" b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noProof="0"/>
              <a:t>Click to edit text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91484A36-ADAE-45FE-B29D-28B55530F9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00" y="6344701"/>
            <a:ext cx="1342647" cy="26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012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>
            <a:spLocks noGrp="1"/>
          </p:cNvSpPr>
          <p:nvPr>
            <p:ph type="ftr" idx="11"/>
          </p:nvPr>
        </p:nvSpPr>
        <p:spPr>
          <a:xfrm>
            <a:off x="628800" y="6502818"/>
            <a:ext cx="109362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Arial"/>
              <a:buNone/>
              <a:defRPr sz="700" b="0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628800" y="537323"/>
            <a:ext cx="10972800" cy="4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9107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6F26-04D2-8A8F-AC7D-48AF55C1A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C2ABC-53B6-C491-1897-926F456EB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C2710-E3BF-F0FD-1591-BD50ADFA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F2B7-B0FE-4A9E-A2DD-8FEF12C68798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FF0B1-C117-0E42-0675-BDB2C1DE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CA2C8-5327-288A-E4A6-D85B9D650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BF4E-F818-4C62-9460-DFCF78D44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2922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ur colum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D019D-E1A0-4DD6-A047-3CCA1A628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548055"/>
            <a:ext cx="10194818" cy="80726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text</a:t>
            </a:r>
            <a:endParaRPr lang="en-A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EFD8B2-D136-4F81-A5DD-3562D240B2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9850" y="3166807"/>
            <a:ext cx="2161026" cy="2147656"/>
          </a:xfrm>
        </p:spPr>
        <p:txBody>
          <a:bodyPr numCol="1" spcCol="3600000"/>
          <a:lstStyle>
            <a:lvl1pPr>
              <a:lnSpc>
                <a:spcPct val="100000"/>
              </a:lnSpc>
              <a:spcAft>
                <a:spcPts val="600"/>
              </a:spcAft>
              <a:defRPr sz="1250">
                <a:latin typeface="+mn-lt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950"/>
            </a:lvl2pPr>
            <a:lvl3pPr>
              <a:lnSpc>
                <a:spcPct val="100000"/>
              </a:lnSpc>
              <a:spcAft>
                <a:spcPts val="600"/>
              </a:spcAft>
              <a:defRPr sz="950"/>
            </a:lvl3pPr>
            <a:lvl4pPr>
              <a:lnSpc>
                <a:spcPct val="100000"/>
              </a:lnSpc>
              <a:spcAft>
                <a:spcPts val="600"/>
              </a:spcAft>
              <a:defRPr sz="950"/>
            </a:lvl4pPr>
            <a:lvl5pPr>
              <a:lnSpc>
                <a:spcPct val="100000"/>
              </a:lnSpc>
              <a:spcAft>
                <a:spcPts val="600"/>
              </a:spcAft>
              <a:defRPr sz="950"/>
            </a:lvl5pPr>
            <a:lvl6pPr>
              <a:lnSpc>
                <a:spcPts val="1300"/>
              </a:lnSpc>
              <a:spcAft>
                <a:spcPts val="0"/>
              </a:spcAft>
              <a:defRPr sz="950"/>
            </a:lvl6pPr>
            <a:lvl7pPr>
              <a:lnSpc>
                <a:spcPts val="1300"/>
              </a:lnSpc>
              <a:spcAft>
                <a:spcPts val="0"/>
              </a:spcAft>
              <a:defRPr sz="950"/>
            </a:lvl7pPr>
            <a:lvl8pPr>
              <a:lnSpc>
                <a:spcPts val="1300"/>
              </a:lnSpc>
              <a:spcAft>
                <a:spcPts val="0"/>
              </a:spcAft>
              <a:defRPr sz="950"/>
            </a:lvl8pPr>
            <a:lvl9pPr>
              <a:lnSpc>
                <a:spcPts val="1300"/>
              </a:lnSpc>
              <a:spcAft>
                <a:spcPts val="0"/>
              </a:spcAft>
              <a:defRPr sz="95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19A72D37-FB6D-4434-803B-3F0D81B7FB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000" y="1902942"/>
            <a:ext cx="1342647" cy="985998"/>
          </a:xfrm>
        </p:spPr>
        <p:txBody>
          <a:bodyPr anchor="ctr" anchorCtr="0"/>
          <a:lstStyle>
            <a:lvl1pPr algn="ctr">
              <a:lnSpc>
                <a:spcPct val="100000"/>
              </a:lnSpc>
              <a:spcAft>
                <a:spcPts val="600"/>
              </a:spcAft>
              <a:defRPr sz="1200"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7E352CC-626C-41E6-83EC-4F5C3ADD8C1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09140" y="3166807"/>
            <a:ext cx="2161026" cy="2147656"/>
          </a:xfrm>
        </p:spPr>
        <p:txBody>
          <a:bodyPr numCol="1" spcCol="3600000"/>
          <a:lstStyle>
            <a:lvl1pPr>
              <a:lnSpc>
                <a:spcPct val="100000"/>
              </a:lnSpc>
              <a:spcAft>
                <a:spcPts val="600"/>
              </a:spcAft>
              <a:defRPr sz="1250">
                <a:latin typeface="+mn-lt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950"/>
            </a:lvl2pPr>
            <a:lvl3pPr>
              <a:lnSpc>
                <a:spcPct val="100000"/>
              </a:lnSpc>
              <a:spcAft>
                <a:spcPts val="600"/>
              </a:spcAft>
              <a:defRPr sz="950"/>
            </a:lvl3pPr>
            <a:lvl4pPr>
              <a:lnSpc>
                <a:spcPct val="100000"/>
              </a:lnSpc>
              <a:spcAft>
                <a:spcPts val="600"/>
              </a:spcAft>
              <a:defRPr sz="950"/>
            </a:lvl4pPr>
            <a:lvl5pPr>
              <a:lnSpc>
                <a:spcPct val="100000"/>
              </a:lnSpc>
              <a:spcAft>
                <a:spcPts val="600"/>
              </a:spcAft>
              <a:defRPr sz="950"/>
            </a:lvl5pPr>
            <a:lvl6pPr>
              <a:lnSpc>
                <a:spcPts val="1300"/>
              </a:lnSpc>
              <a:spcAft>
                <a:spcPts val="0"/>
              </a:spcAft>
              <a:defRPr sz="950"/>
            </a:lvl6pPr>
            <a:lvl7pPr>
              <a:lnSpc>
                <a:spcPts val="1300"/>
              </a:lnSpc>
              <a:spcAft>
                <a:spcPts val="0"/>
              </a:spcAft>
              <a:defRPr sz="950"/>
            </a:lvl7pPr>
            <a:lvl8pPr>
              <a:lnSpc>
                <a:spcPts val="1300"/>
              </a:lnSpc>
              <a:spcAft>
                <a:spcPts val="0"/>
              </a:spcAft>
              <a:defRPr sz="950"/>
            </a:lvl8pPr>
            <a:lvl9pPr>
              <a:lnSpc>
                <a:spcPts val="1300"/>
              </a:lnSpc>
              <a:spcAft>
                <a:spcPts val="0"/>
              </a:spcAft>
              <a:defRPr sz="95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2B1A4BB-E43B-4A04-8826-9DADB93591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09240" y="1902942"/>
            <a:ext cx="1342647" cy="985998"/>
          </a:xfrm>
        </p:spPr>
        <p:txBody>
          <a:bodyPr anchor="ctr" anchorCtr="0"/>
          <a:lstStyle>
            <a:lvl1pPr algn="ctr">
              <a:lnSpc>
                <a:spcPct val="100000"/>
              </a:lnSpc>
              <a:spcAft>
                <a:spcPts val="600"/>
              </a:spcAft>
              <a:defRPr sz="1200"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3970B2F-29CB-404A-9891-6B0911E8358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88431" y="3166807"/>
            <a:ext cx="2161026" cy="2147656"/>
          </a:xfrm>
        </p:spPr>
        <p:txBody>
          <a:bodyPr numCol="1" spcCol="3600000"/>
          <a:lstStyle>
            <a:lvl1pPr>
              <a:lnSpc>
                <a:spcPct val="100000"/>
              </a:lnSpc>
              <a:spcAft>
                <a:spcPts val="600"/>
              </a:spcAft>
              <a:defRPr sz="1250">
                <a:latin typeface="+mn-lt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950"/>
            </a:lvl2pPr>
            <a:lvl3pPr>
              <a:lnSpc>
                <a:spcPct val="100000"/>
              </a:lnSpc>
              <a:spcAft>
                <a:spcPts val="600"/>
              </a:spcAft>
              <a:defRPr sz="950"/>
            </a:lvl3pPr>
            <a:lvl4pPr>
              <a:lnSpc>
                <a:spcPct val="100000"/>
              </a:lnSpc>
              <a:spcAft>
                <a:spcPts val="600"/>
              </a:spcAft>
              <a:defRPr sz="950"/>
            </a:lvl4pPr>
            <a:lvl5pPr>
              <a:lnSpc>
                <a:spcPct val="100000"/>
              </a:lnSpc>
              <a:spcAft>
                <a:spcPts val="600"/>
              </a:spcAft>
              <a:defRPr sz="950"/>
            </a:lvl5pPr>
            <a:lvl6pPr>
              <a:lnSpc>
                <a:spcPts val="1300"/>
              </a:lnSpc>
              <a:spcAft>
                <a:spcPts val="0"/>
              </a:spcAft>
              <a:defRPr sz="950"/>
            </a:lvl6pPr>
            <a:lvl7pPr>
              <a:lnSpc>
                <a:spcPts val="1300"/>
              </a:lnSpc>
              <a:spcAft>
                <a:spcPts val="0"/>
              </a:spcAft>
              <a:defRPr sz="950"/>
            </a:lvl7pPr>
            <a:lvl8pPr>
              <a:lnSpc>
                <a:spcPts val="1300"/>
              </a:lnSpc>
              <a:spcAft>
                <a:spcPts val="0"/>
              </a:spcAft>
              <a:defRPr sz="950"/>
            </a:lvl8pPr>
            <a:lvl9pPr>
              <a:lnSpc>
                <a:spcPts val="1300"/>
              </a:lnSpc>
              <a:spcAft>
                <a:spcPts val="0"/>
              </a:spcAft>
              <a:defRPr sz="95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6C03BE3A-8DFC-42FB-98CF-8E3A432F70E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88480" y="1902942"/>
            <a:ext cx="1342647" cy="985998"/>
          </a:xfrm>
        </p:spPr>
        <p:txBody>
          <a:bodyPr anchor="ctr" anchorCtr="0"/>
          <a:lstStyle>
            <a:lvl1pPr algn="ctr">
              <a:lnSpc>
                <a:spcPct val="100000"/>
              </a:lnSpc>
              <a:spcAft>
                <a:spcPts val="600"/>
              </a:spcAft>
              <a:defRPr sz="1200"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70D91C31-B0BF-4FB4-86C9-4FE9AE3003F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667721" y="3166807"/>
            <a:ext cx="2161026" cy="2147656"/>
          </a:xfrm>
        </p:spPr>
        <p:txBody>
          <a:bodyPr numCol="1" spcCol="3600000"/>
          <a:lstStyle>
            <a:lvl1pPr>
              <a:lnSpc>
                <a:spcPct val="100000"/>
              </a:lnSpc>
              <a:spcAft>
                <a:spcPts val="600"/>
              </a:spcAft>
              <a:defRPr sz="1250">
                <a:latin typeface="+mn-lt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950"/>
            </a:lvl2pPr>
            <a:lvl3pPr>
              <a:lnSpc>
                <a:spcPct val="100000"/>
              </a:lnSpc>
              <a:spcAft>
                <a:spcPts val="600"/>
              </a:spcAft>
              <a:defRPr sz="950"/>
            </a:lvl3pPr>
            <a:lvl4pPr>
              <a:lnSpc>
                <a:spcPct val="100000"/>
              </a:lnSpc>
              <a:spcAft>
                <a:spcPts val="600"/>
              </a:spcAft>
              <a:defRPr sz="950"/>
            </a:lvl4pPr>
            <a:lvl5pPr>
              <a:lnSpc>
                <a:spcPct val="100000"/>
              </a:lnSpc>
              <a:spcAft>
                <a:spcPts val="600"/>
              </a:spcAft>
              <a:defRPr sz="950"/>
            </a:lvl5pPr>
            <a:lvl6pPr>
              <a:lnSpc>
                <a:spcPts val="1300"/>
              </a:lnSpc>
              <a:spcAft>
                <a:spcPts val="0"/>
              </a:spcAft>
              <a:defRPr sz="950"/>
            </a:lvl6pPr>
            <a:lvl7pPr>
              <a:lnSpc>
                <a:spcPts val="1300"/>
              </a:lnSpc>
              <a:spcAft>
                <a:spcPts val="0"/>
              </a:spcAft>
              <a:defRPr sz="950"/>
            </a:lvl7pPr>
            <a:lvl8pPr>
              <a:lnSpc>
                <a:spcPts val="1300"/>
              </a:lnSpc>
              <a:spcAft>
                <a:spcPts val="0"/>
              </a:spcAft>
              <a:defRPr sz="950"/>
            </a:lvl8pPr>
            <a:lvl9pPr>
              <a:lnSpc>
                <a:spcPts val="1300"/>
              </a:lnSpc>
              <a:spcAft>
                <a:spcPts val="0"/>
              </a:spcAft>
              <a:defRPr sz="95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0A8C560-9BD4-4357-AFF1-A5938040493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667721" y="1902942"/>
            <a:ext cx="1342647" cy="985998"/>
          </a:xfrm>
        </p:spPr>
        <p:txBody>
          <a:bodyPr anchor="ctr" anchorCtr="0"/>
          <a:lstStyle>
            <a:lvl1pPr algn="ctr">
              <a:lnSpc>
                <a:spcPct val="100000"/>
              </a:lnSpc>
              <a:spcAft>
                <a:spcPts val="600"/>
              </a:spcAft>
              <a:defRPr sz="1200">
                <a:latin typeface="+mn-lt"/>
              </a:defRPr>
            </a:lvl1pPr>
          </a:lstStyle>
          <a:p>
            <a:endParaRPr lang="en-US"/>
          </a:p>
          <a:p>
            <a:r>
              <a:rPr lang="en-US"/>
              <a:t>Click to insert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44802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col page - split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5060360-2F6C-439F-812C-4ADACADDA58A}"/>
              </a:ext>
            </a:extLst>
          </p:cNvPr>
          <p:cNvSpPr/>
          <p:nvPr userDrawn="1"/>
        </p:nvSpPr>
        <p:spPr>
          <a:xfrm>
            <a:off x="6096000" y="428"/>
            <a:ext cx="6096000" cy="68575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90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20D987-E371-4FD8-8801-F6EF790DABE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91055" y="931223"/>
            <a:ext cx="5265585" cy="5413478"/>
          </a:xfrm>
        </p:spPr>
        <p:txBody>
          <a:bodyPr/>
          <a:lstStyle>
            <a:lvl1pPr>
              <a:spcAft>
                <a:spcPts val="600"/>
              </a:spcAft>
              <a:defRPr>
                <a:solidFill>
                  <a:schemeClr val="bg2"/>
                </a:solidFill>
                <a:latin typeface="+mn-lt"/>
              </a:defRPr>
            </a:lvl1pPr>
            <a:lvl2pPr>
              <a:spcAft>
                <a:spcPts val="600"/>
              </a:spcAft>
              <a:defRPr>
                <a:solidFill>
                  <a:schemeClr val="bg2"/>
                </a:solidFill>
                <a:latin typeface="+mn-lt"/>
              </a:defRPr>
            </a:lvl2pPr>
            <a:lvl3pPr>
              <a:spcAft>
                <a:spcPts val="600"/>
              </a:spcAft>
              <a:defRPr>
                <a:solidFill>
                  <a:schemeClr val="bg2"/>
                </a:solidFill>
                <a:latin typeface="+mn-lt"/>
              </a:defRPr>
            </a:lvl3pPr>
            <a:lvl4pPr>
              <a:spcAft>
                <a:spcPts val="600"/>
              </a:spcAft>
              <a:defRPr>
                <a:solidFill>
                  <a:schemeClr val="bg2"/>
                </a:solidFill>
                <a:latin typeface="+mn-lt"/>
              </a:defRPr>
            </a:lvl4pPr>
            <a:lvl5pPr>
              <a:spcAft>
                <a:spcPts val="600"/>
              </a:spcAft>
              <a:defRPr>
                <a:solidFill>
                  <a:schemeClr val="bg2"/>
                </a:solidFill>
                <a:latin typeface="+mn-lt"/>
              </a:defRPr>
            </a:lvl5pPr>
            <a:lvl6pPr>
              <a:spcAft>
                <a:spcPts val="350"/>
              </a:spcAft>
              <a:defRPr>
                <a:solidFill>
                  <a:schemeClr val="bg2"/>
                </a:solidFill>
              </a:defRPr>
            </a:lvl6pPr>
            <a:lvl7pPr>
              <a:spcAft>
                <a:spcPts val="350"/>
              </a:spcAft>
              <a:defRPr>
                <a:solidFill>
                  <a:schemeClr val="bg2"/>
                </a:solidFill>
              </a:defRPr>
            </a:lvl7pPr>
            <a:lvl8pPr>
              <a:spcAft>
                <a:spcPts val="350"/>
              </a:spcAft>
              <a:defRPr>
                <a:solidFill>
                  <a:schemeClr val="bg2"/>
                </a:solidFill>
              </a:defRPr>
            </a:lvl8pPr>
            <a:lvl9pPr>
              <a:spcAft>
                <a:spcPts val="350"/>
              </a:spcAft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7AF681-7167-4F1A-8A37-003D6C5CDB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548055"/>
            <a:ext cx="4781924" cy="807261"/>
          </a:xfrm>
        </p:spPr>
        <p:txBody>
          <a:bodyPr/>
          <a:lstStyle/>
          <a:p>
            <a:r>
              <a:rPr lang="en-US"/>
              <a:t>Single-column page</a:t>
            </a:r>
            <a:endParaRPr lang="en-AU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797246A-0F5A-DB0C-29F6-2B6C1DAB709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0000" y="1693629"/>
            <a:ext cx="4781924" cy="40734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63347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91484A36-ADAE-45FE-B29D-28B55530F9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00" y="6344701"/>
            <a:ext cx="1342647" cy="260605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2C16797-CD24-4D7A-8FAE-F11A2AF433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00" y="481172"/>
            <a:ext cx="1235967" cy="816866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7674A77-9AC3-40B5-9B04-EA1930C91B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0000" y="3085194"/>
            <a:ext cx="7043918" cy="497112"/>
          </a:xfrm>
        </p:spPr>
        <p:txBody>
          <a:bodyPr/>
          <a:lstStyle>
            <a:lvl1pPr marL="0" algn="l">
              <a:lnSpc>
                <a:spcPts val="36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  <a:lvl2pPr marL="0" algn="l">
              <a:lnSpc>
                <a:spcPts val="36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ts val="36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ts val="36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ts val="36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ts val="36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ts val="36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ts val="36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ts val="36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8F7348-E56C-4CDA-A2D9-474D8773965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000" y="3721894"/>
            <a:ext cx="7042944" cy="2024856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125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100000"/>
              </a:lnSpc>
              <a:defRPr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bg2"/>
                </a:solidFill>
              </a:defRPr>
            </a:lvl5pPr>
            <a:lvl6pPr>
              <a:defRPr>
                <a:solidFill>
                  <a:schemeClr val="bg2"/>
                </a:solidFill>
              </a:defRPr>
            </a:lvl6pPr>
            <a:lvl7pPr>
              <a:defRPr>
                <a:solidFill>
                  <a:schemeClr val="bg2"/>
                </a:solidFill>
              </a:defRPr>
            </a:lvl7pPr>
            <a:lvl8pPr>
              <a:defRPr>
                <a:solidFill>
                  <a:schemeClr val="bg2"/>
                </a:solidFill>
              </a:defRPr>
            </a:lvl8pPr>
            <a:lvl9pPr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99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1F8DDD-8B7D-499D-8730-866FB8F8B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CC113-77E1-98C3-E193-19EFA0B9F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F8EA8-5C9A-E3D7-DDE2-96F1C81DC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53C3D-2AB6-4B40-9F46-26B578EE1075}" type="datetimeFigureOut">
              <a:rPr lang="en-AU" smtClean="0"/>
              <a:t>15/07/2026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D3C30-FCA3-F945-8D05-4B8BBFF68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A33D-F88F-9020-3A0A-D48135A12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88261-B562-4643-ADD1-D7302CE4B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933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801" y="808272"/>
            <a:ext cx="9334672" cy="54704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800" y="1715929"/>
            <a:ext cx="10794488" cy="4452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noProof="0"/>
              <a:t>Use the increase/decrease list level buttons to change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  <a:p>
            <a:pPr lvl="5"/>
            <a:r>
              <a:rPr lang="en-AU" noProof="0"/>
              <a:t>Sixth level</a:t>
            </a:r>
          </a:p>
          <a:p>
            <a:pPr lvl="6"/>
            <a:r>
              <a:rPr lang="en-AU" noProof="0"/>
              <a:t>Seventh level</a:t>
            </a:r>
          </a:p>
          <a:p>
            <a:pPr lvl="7"/>
            <a:r>
              <a:rPr lang="en-AU" noProof="0"/>
              <a:t>Eighth level</a:t>
            </a:r>
          </a:p>
          <a:p>
            <a:pPr lvl="8"/>
            <a:r>
              <a:rPr lang="en-AU" noProof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238215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l" defTabSz="946052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Arial" pitchFamily="34" charset="0"/>
        </a:defRPr>
      </a:lvl1pPr>
    </p:titleStyle>
    <p:bodyStyle>
      <a:lvl1pPr marL="0" indent="0" algn="l" defTabSz="94605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itchFamily="34" charset="0"/>
        <a:buNone/>
        <a:defRPr sz="1350" b="1" kern="1200" baseline="0">
          <a:solidFill>
            <a:schemeClr val="tx1"/>
          </a:solidFill>
          <a:latin typeface="+mj-lt"/>
          <a:ea typeface="+mn-ea"/>
          <a:cs typeface="Arial" pitchFamily="34" charset="0"/>
        </a:defRPr>
      </a:lvl1pPr>
      <a:lvl2pPr marL="0" indent="0" algn="l" defTabSz="94605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itchFamily="34" charset="0"/>
        <a:buNone/>
        <a:defRPr sz="115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98000" indent="-198000" algn="l" defTabSz="94605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396000" indent="-198000" algn="l" defTabSz="94605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594000" indent="-198000" algn="l" defTabSz="94605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•"/>
        <a:defRPr sz="1150" kern="1200" baseline="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792000" indent="-198000" algn="l" defTabSz="94605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Arial" pitchFamily="34" charset="0"/>
        </a:defRPr>
      </a:lvl6pPr>
      <a:lvl7pPr marL="990000" indent="-198000" algn="l" defTabSz="94605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Arial" pitchFamily="34" charset="0"/>
        </a:defRPr>
      </a:lvl7pPr>
      <a:lvl8pPr marL="1188000" indent="-198000" algn="l" defTabSz="94605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Arial" pitchFamily="34" charset="0"/>
        </a:defRPr>
      </a:lvl8pPr>
      <a:lvl9pPr marL="1386000" indent="-198000" algn="l" defTabSz="94605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Arial" pitchFamily="34" charset="0"/>
        </a:defRPr>
      </a:lvl9pPr>
    </p:bodyStyle>
    <p:otherStyle>
      <a:defPPr>
        <a:defRPr lang="en-US"/>
      </a:defPPr>
      <a:lvl1pPr marL="0" algn="l" defTabSz="94605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73026" algn="l" defTabSz="94605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46052" algn="l" defTabSz="94605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19078" algn="l" defTabSz="94605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892104" algn="l" defTabSz="94605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365130" algn="l" defTabSz="94605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838156" algn="l" defTabSz="94605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11182" algn="l" defTabSz="94605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784207" algn="l" defTabSz="94605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816">
          <p15:clr>
            <a:srgbClr val="F26B43"/>
          </p15:clr>
        </p15:guide>
        <p15:guide id="2" pos="440">
          <p15:clr>
            <a:srgbClr val="F26B43"/>
          </p15:clr>
        </p15:guide>
        <p15:guide id="3" pos="14856">
          <p15:clr>
            <a:srgbClr val="F26B43"/>
          </p15:clr>
        </p15:guide>
        <p15:guide id="4" orient="horz" pos="218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ABF85-7E3E-DF46-7942-C85249C80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9887"/>
            <a:ext cx="9144000" cy="2042255"/>
          </a:xfrm>
        </p:spPr>
        <p:txBody>
          <a:bodyPr/>
          <a:lstStyle/>
          <a:p>
            <a:r>
              <a:rPr lang="en-US" b="1" dirty="0"/>
              <a:t>Building at the speed of curiosity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03004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EFB3-AECA-D4A6-6808-AC2E6821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 hope you’ll take 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79C7C-0797-B7E4-65E4-933E15813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605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cost of building has collapsed. The bottleneck is no longer who can code, it's </a:t>
            </a:r>
            <a:r>
              <a:rPr lang="en-US" b="1" dirty="0"/>
              <a:t>understanding</a:t>
            </a:r>
            <a:r>
              <a:rPr lang="en-US" dirty="0"/>
              <a:t> and clearly describing what 'good' looks like and an ecosystem that's ready to accept it.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730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2449C-6D58-A9D2-AA74-1377D41A6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Acknowledgement of country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BF1DE-C58D-B5C9-5AE9-589F6ABE0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968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7071-9592-C091-4B62-FF963806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I’ll be covering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39DBA-14A3-F53C-4ED6-D1EEDEB09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5120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DBC2-9C36-0933-8D1C-BD3695B2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2933C-8581-78B2-E2F8-17313BCB6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98952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Career history</a:t>
            </a:r>
          </a:p>
          <a:p>
            <a:pPr marL="0" indent="0">
              <a:buNone/>
            </a:pPr>
            <a:r>
              <a:rPr lang="en-AU" dirty="0"/>
              <a:t>Include disclaimer about how I started as a p</a:t>
            </a:r>
            <a:r>
              <a:rPr lang="it-IT" b="0" i="0" dirty="0">
                <a:effectLst/>
              </a:rPr>
              <a:t>assionate amateur and don’t consider myself a Data/Computer scientist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4809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1802F-B0BD-C54F-A8A3-6F0A6D415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About IPAV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A16D8-1576-65CB-EBAE-75DCDEA46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5960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EE8D9-EDE1-3CD6-4D76-4A8DEBF36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About IP First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26965-8263-2CD2-5268-5702F86A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Provide context about the platform we’ve built, briefly touching on each of the 4 AI epics. Mention how we’ve reduced the path of resistance to our content.</a:t>
            </a:r>
          </a:p>
        </p:txBody>
      </p:sp>
    </p:spTree>
    <p:extLst>
      <p:ext uri="{BB962C8B-B14F-4D97-AF65-F5344CB8AC3E}">
        <p14:creationId xmlns:p14="http://schemas.microsoft.com/office/powerpoint/2010/main" val="3767479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B870-2148-F3AF-5B0C-2713F6EF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two maintenance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370BA-C9CA-212D-A8C7-D95D0043B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Alignment with the APS style guide</a:t>
            </a:r>
          </a:p>
          <a:p>
            <a:r>
              <a:rPr lang="en-AU" dirty="0"/>
              <a:t>Maintaining content accuracy</a:t>
            </a:r>
          </a:p>
        </p:txBody>
      </p:sp>
    </p:spTree>
    <p:extLst>
      <p:ext uri="{BB962C8B-B14F-4D97-AF65-F5344CB8AC3E}">
        <p14:creationId xmlns:p14="http://schemas.microsoft.com/office/powerpoint/2010/main" val="2171430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40AD-F588-975E-65F6-EAB76681A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Introduce both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60C53-D0C1-1189-3EF5-0568556E6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Octavius</a:t>
            </a:r>
          </a:p>
          <a:p>
            <a:r>
              <a:rPr lang="en-AU" dirty="0"/>
              <a:t>Tripwire</a:t>
            </a:r>
          </a:p>
        </p:txBody>
      </p:sp>
    </p:spTree>
    <p:extLst>
      <p:ext uri="{BB962C8B-B14F-4D97-AF65-F5344CB8AC3E}">
        <p14:creationId xmlns:p14="http://schemas.microsoft.com/office/powerpoint/2010/main" val="1881214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268837C-8A74-8ADE-878A-5F820EBE9297}"/>
              </a:ext>
            </a:extLst>
          </p:cNvPr>
          <p:cNvSpPr txBox="1">
            <a:spLocks/>
          </p:cNvSpPr>
          <p:nvPr/>
        </p:nvSpPr>
        <p:spPr>
          <a:xfrm>
            <a:off x="1317830" y="5438688"/>
            <a:ext cx="10515600" cy="576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Octavius Title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5CBC2-E6D5-9EA3-57AD-9BC8BBC52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875" y="843049"/>
            <a:ext cx="9608151" cy="412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4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BBF6-6B87-64A4-A3C0-F744454BF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 can already use copilot and system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DAF49-B488-D0C2-F64C-D5B004476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1774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D21F215-3B61-535C-6902-DF7EFDC6D6AB}"/>
              </a:ext>
            </a:extLst>
          </p:cNvPr>
          <p:cNvSpPr/>
          <p:nvPr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88481"/>
            <a:endParaRPr lang="en-AU" sz="2192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036E5D-E5D1-69F5-F1FE-DE50E4C9C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84" y="545243"/>
            <a:ext cx="5623316" cy="807261"/>
          </a:xfrm>
        </p:spPr>
        <p:txBody>
          <a:bodyPr/>
          <a:lstStyle/>
          <a:p>
            <a:r>
              <a:rPr lang="en-AU" noProof="0" dirty="0">
                <a:solidFill>
                  <a:schemeClr val="accent3"/>
                </a:solidFill>
              </a:rPr>
              <a:t>The problem:</a:t>
            </a:r>
            <a:br>
              <a:rPr lang="en-AU" noProof="0" dirty="0"/>
            </a:br>
            <a:r>
              <a:rPr lang="en-AU" sz="2400" dirty="0"/>
              <a:t>An impractical number of rules</a:t>
            </a:r>
            <a:endParaRPr lang="en-AU" noProof="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462FDC-1B14-033B-C6D4-19C75024CC3B}"/>
              </a:ext>
            </a:extLst>
          </p:cNvPr>
          <p:cNvSpPr/>
          <p:nvPr/>
        </p:nvSpPr>
        <p:spPr>
          <a:xfrm>
            <a:off x="1139195" y="2487914"/>
            <a:ext cx="3929449" cy="66651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88481"/>
            <a:r>
              <a:rPr lang="en-AU" sz="2000" b="1">
                <a:solidFill>
                  <a:prstClr val="black"/>
                </a:solidFill>
                <a:latin typeface="Calibri"/>
              </a:rPr>
              <a:t>APS style manual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B35168-935A-111B-1F07-09C417E7662C}"/>
              </a:ext>
            </a:extLst>
          </p:cNvPr>
          <p:cNvSpPr/>
          <p:nvPr/>
        </p:nvSpPr>
        <p:spPr>
          <a:xfrm>
            <a:off x="1139195" y="4020824"/>
            <a:ext cx="3929450" cy="66651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88481"/>
            <a:r>
              <a:rPr lang="en-AU" b="1">
                <a:solidFill>
                  <a:prstClr val="black"/>
                </a:solidFill>
                <a:latin typeface="Calibri"/>
              </a:rPr>
              <a:t>IP Australia’s Tone of Voice Guide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2B59BF-61AA-ACC0-4ECE-8FB89319ACDA}"/>
              </a:ext>
            </a:extLst>
          </p:cNvPr>
          <p:cNvSpPr/>
          <p:nvPr/>
        </p:nvSpPr>
        <p:spPr>
          <a:xfrm>
            <a:off x="1139195" y="5652815"/>
            <a:ext cx="3929450" cy="66651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88481"/>
            <a:r>
              <a:rPr lang="en-AU" sz="2000" b="1">
                <a:solidFill>
                  <a:prstClr val="black"/>
                </a:solidFill>
                <a:latin typeface="Calibri"/>
              </a:rPr>
              <a:t>IP First Response style guide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7BACC20C-513B-3D98-499F-A4491B457F9B}"/>
              </a:ext>
            </a:extLst>
          </p:cNvPr>
          <p:cNvSpPr txBox="1">
            <a:spLocks/>
          </p:cNvSpPr>
          <p:nvPr/>
        </p:nvSpPr>
        <p:spPr>
          <a:xfrm>
            <a:off x="1674060" y="1973705"/>
            <a:ext cx="2859718" cy="46402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189210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600" b="1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algn="ctr" defTabSz="946052"/>
            <a:r>
              <a:rPr lang="en-AU" sz="2400">
                <a:solidFill>
                  <a:prstClr val="black"/>
                </a:solidFill>
                <a:latin typeface="Tahoma"/>
              </a:rPr>
              <a:t>180 webpages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4032CDE9-DA9F-1312-448E-B0BD390A23FB}"/>
              </a:ext>
            </a:extLst>
          </p:cNvPr>
          <p:cNvSpPr txBox="1">
            <a:spLocks/>
          </p:cNvSpPr>
          <p:nvPr/>
        </p:nvSpPr>
        <p:spPr>
          <a:xfrm>
            <a:off x="2172966" y="3451148"/>
            <a:ext cx="1861906" cy="50843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189210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600" b="1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algn="ctr" defTabSz="946052"/>
            <a:r>
              <a:rPr lang="en-AU" sz="2400">
                <a:solidFill>
                  <a:prstClr val="black"/>
                </a:solidFill>
                <a:latin typeface="Tahoma"/>
              </a:rPr>
              <a:t>17 pages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228C223-2DC7-DD51-B99A-9A1C8CE9AAD4}"/>
              </a:ext>
            </a:extLst>
          </p:cNvPr>
          <p:cNvSpPr txBox="1">
            <a:spLocks/>
          </p:cNvSpPr>
          <p:nvPr/>
        </p:nvSpPr>
        <p:spPr>
          <a:xfrm>
            <a:off x="2172966" y="5156019"/>
            <a:ext cx="1861906" cy="44661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189210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600" b="1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algn="ctr" defTabSz="946052"/>
            <a:r>
              <a:rPr lang="en-AU" sz="2400">
                <a:solidFill>
                  <a:prstClr val="black"/>
                </a:solidFill>
                <a:latin typeface="Tahoma"/>
              </a:rPr>
              <a:t>30 pages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8439968-CEB7-69A8-9AA4-68C3E40F26EA}"/>
              </a:ext>
            </a:extLst>
          </p:cNvPr>
          <p:cNvGrpSpPr/>
          <p:nvPr/>
        </p:nvGrpSpPr>
        <p:grpSpPr>
          <a:xfrm>
            <a:off x="6971428" y="294306"/>
            <a:ext cx="4350329" cy="6269388"/>
            <a:chOff x="14889268" y="1741165"/>
            <a:chExt cx="7611898" cy="1096973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3917334-26B6-7A84-1CFC-2964856D1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89268" y="2332046"/>
              <a:ext cx="7611897" cy="10378852"/>
            </a:xfrm>
            <a:prstGeom prst="rect">
              <a:avLst/>
            </a:prstGeom>
          </p:spPr>
        </p:pic>
        <p:sp>
          <p:nvSpPr>
            <p:cNvPr id="13" name="Title 2">
              <a:extLst>
                <a:ext uri="{FF2B5EF4-FFF2-40B4-BE49-F238E27FC236}">
                  <a16:creationId xmlns:a16="http://schemas.microsoft.com/office/drawing/2014/main" id="{E1DCA4D9-6576-63EA-88F7-01B902DBA66A}"/>
                </a:ext>
              </a:extLst>
            </p:cNvPr>
            <p:cNvSpPr txBox="1">
              <a:spLocks/>
            </p:cNvSpPr>
            <p:nvPr/>
          </p:nvSpPr>
          <p:spPr>
            <a:xfrm>
              <a:off x="14889268" y="1741165"/>
              <a:ext cx="7611898" cy="1614520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0" tIns="0" rIns="0" bIns="0" rtlCol="0" anchor="ctr">
              <a:noAutofit/>
            </a:bodyPr>
            <a:lstStyle>
              <a:lvl1pPr algn="l" defTabSz="1892104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600" b="1" kern="1200">
                  <a:solidFill>
                    <a:schemeClr val="tx1"/>
                  </a:solidFill>
                  <a:latin typeface="+mj-lt"/>
                  <a:ea typeface="+mj-ea"/>
                  <a:cs typeface="Arial" pitchFamily="34" charset="0"/>
                </a:defRPr>
              </a:lvl1pPr>
            </a:lstStyle>
            <a:p>
              <a:pPr algn="ctr" defTabSz="946052"/>
              <a:r>
                <a:rPr lang="en-AU" sz="1800">
                  <a:solidFill>
                    <a:srgbClr val="323E48">
                      <a:lumMod val="75000"/>
                    </a:srgbClr>
                  </a:solidFill>
                  <a:latin typeface="Calibri"/>
                </a:rPr>
                <a:t>Context rot: </a:t>
              </a:r>
            </a:p>
            <a:p>
              <a:pPr algn="ctr" defTabSz="946052"/>
              <a:r>
                <a:rPr lang="en-AU" sz="1400" b="0">
                  <a:solidFill>
                    <a:srgbClr val="323E48">
                      <a:lumMod val="75000"/>
                    </a:srgbClr>
                  </a:solidFill>
                  <a:latin typeface="Calibri"/>
                </a:rPr>
                <a:t>Degradation of LLM performance in long contexts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7547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FF3E-EF0F-7137-D6FD-8AD489F73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Octavius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ADA5-3A42-9DF3-EC50-A1AD91EF6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48810"/>
          </a:xfrm>
        </p:spPr>
        <p:txBody>
          <a:bodyPr/>
          <a:lstStyle/>
          <a:p>
            <a:pPr lvl="1"/>
            <a:r>
              <a:rPr lang="en-AU" dirty="0"/>
              <a:t>Key requirements</a:t>
            </a:r>
          </a:p>
          <a:p>
            <a:pPr lvl="2"/>
            <a:r>
              <a:rPr lang="en-AU" dirty="0"/>
              <a:t>Transparent</a:t>
            </a:r>
          </a:p>
          <a:p>
            <a:pPr lvl="2"/>
            <a:r>
              <a:rPr lang="en-AU" dirty="0"/>
              <a:t>Repeatable</a:t>
            </a:r>
          </a:p>
          <a:p>
            <a:pPr lvl="2"/>
            <a:r>
              <a:rPr lang="en-AU" dirty="0"/>
              <a:t>Scalable</a:t>
            </a:r>
          </a:p>
          <a:p>
            <a:pPr lvl="2"/>
            <a:r>
              <a:rPr lang="en-AU" dirty="0"/>
              <a:t>Low long-term costs</a:t>
            </a:r>
          </a:p>
          <a:p>
            <a:pPr lvl="2"/>
            <a:r>
              <a:rPr lang="en-AU" dirty="0"/>
              <a:t>Etc (TOM NEEDS TO GO BACK AND ADD ACTUAL REQUIREMENTS)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0804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07DD0-38B1-54B5-CA44-60416E29A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Octavius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1E8E0-40C0-B06A-58F6-3749C09F5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1815"/>
          </a:xfrm>
        </p:spPr>
        <p:txBody>
          <a:bodyPr/>
          <a:lstStyle/>
          <a:p>
            <a:r>
              <a:rPr lang="en-AU" dirty="0"/>
              <a:t>Starting small, validating core requirements</a:t>
            </a:r>
          </a:p>
          <a:p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1663A-8B16-4E1D-9FF8-C7BF6DD13434}"/>
              </a:ext>
            </a:extLst>
          </p:cNvPr>
          <p:cNvSpPr txBox="1">
            <a:spLocks/>
          </p:cNvSpPr>
          <p:nvPr/>
        </p:nvSpPr>
        <p:spPr>
          <a:xfrm>
            <a:off x="6567869" y="4030244"/>
            <a:ext cx="5781957" cy="4925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>
                <a:solidFill>
                  <a:schemeClr val="tx1"/>
                </a:solidFill>
              </a:rPr>
              <a:t>*Example is checking for passive voice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A0117D-1AD0-75B1-1FDA-0A3BA9A4CA21}"/>
              </a:ext>
            </a:extLst>
          </p:cNvPr>
          <p:cNvGrpSpPr/>
          <p:nvPr/>
        </p:nvGrpSpPr>
        <p:grpSpPr>
          <a:xfrm>
            <a:off x="2362200" y="2377440"/>
            <a:ext cx="11029950" cy="6227490"/>
            <a:chOff x="2385220" y="1000213"/>
            <a:chExt cx="19080374" cy="107727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3B17F7E-93C0-41EF-52F7-2C2C79AB4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76470" y="1000213"/>
              <a:ext cx="12889124" cy="620164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D3C3C3-4C1A-7DCD-F4CB-DF21D77CE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85220" y="3984002"/>
              <a:ext cx="12889434" cy="77889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3267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0629-1B1F-9F98-9547-649D4282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BB44332-DDC3-B9A8-B4FC-F8AB3A60990A}"/>
              </a:ext>
            </a:extLst>
          </p:cNvPr>
          <p:cNvSpPr/>
          <p:nvPr/>
        </p:nvSpPr>
        <p:spPr>
          <a:xfrm>
            <a:off x="870250" y="4040662"/>
            <a:ext cx="2905337" cy="1072666"/>
          </a:xfrm>
          <a:prstGeom prst="round2SameRect">
            <a:avLst>
              <a:gd name="adj1" fmla="val 0"/>
              <a:gd name="adj2" fmla="val 23374"/>
            </a:avLst>
          </a:prstGeom>
          <a:solidFill>
            <a:schemeClr val="accent6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88481"/>
            <a:r>
              <a:rPr lang="en-AU" sz="2192" b="1" dirty="0">
                <a:solidFill>
                  <a:prstClr val="white"/>
                </a:solidFill>
                <a:latin typeface="Calibri"/>
              </a:rPr>
              <a:t>Extract individual rules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818C1EB-3EC9-92A4-D38F-D88E520CC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588" y="1485379"/>
            <a:ext cx="2754029" cy="2754029"/>
          </a:xfrm>
          <a:prstGeom prst="rect">
            <a:avLst/>
          </a:prstGeom>
        </p:spPr>
      </p:pic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D9CFB3F6-0B95-0C3D-6B96-7945917FF7EA}"/>
              </a:ext>
            </a:extLst>
          </p:cNvPr>
          <p:cNvSpPr/>
          <p:nvPr/>
        </p:nvSpPr>
        <p:spPr>
          <a:xfrm>
            <a:off x="4643331" y="4040662"/>
            <a:ext cx="2905337" cy="1072666"/>
          </a:xfrm>
          <a:prstGeom prst="round2SameRect">
            <a:avLst>
              <a:gd name="adj1" fmla="val 0"/>
              <a:gd name="adj2" fmla="val 23374"/>
            </a:avLst>
          </a:prstGeom>
          <a:solidFill>
            <a:schemeClr val="accent6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88481"/>
            <a:r>
              <a:rPr lang="en-AU" sz="2192" b="1" dirty="0">
                <a:solidFill>
                  <a:prstClr val="white"/>
                </a:solidFill>
                <a:latin typeface="Calibri"/>
              </a:rPr>
              <a:t>Synthesise and tabulate rules</a:t>
            </a: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4DCDC8CA-7A7E-EBA1-6476-9F1C311D2217}"/>
              </a:ext>
            </a:extLst>
          </p:cNvPr>
          <p:cNvSpPr/>
          <p:nvPr/>
        </p:nvSpPr>
        <p:spPr>
          <a:xfrm>
            <a:off x="8416413" y="4040662"/>
            <a:ext cx="2905337" cy="1072666"/>
          </a:xfrm>
          <a:prstGeom prst="round2SameRect">
            <a:avLst>
              <a:gd name="adj1" fmla="val 0"/>
              <a:gd name="adj2" fmla="val 23374"/>
            </a:avLst>
          </a:prstGeom>
          <a:solidFill>
            <a:schemeClr val="accent6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88481"/>
            <a:r>
              <a:rPr lang="en-AU" sz="2192" b="1">
                <a:solidFill>
                  <a:prstClr val="white"/>
                </a:solidFill>
                <a:latin typeface="Calibri"/>
              </a:rPr>
              <a:t>Generate rules as code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9A91B07-B482-0187-5980-EE7B9A9D30EF}"/>
              </a:ext>
            </a:extLst>
          </p:cNvPr>
          <p:cNvGrpSpPr/>
          <p:nvPr/>
        </p:nvGrpSpPr>
        <p:grpSpPr>
          <a:xfrm>
            <a:off x="718725" y="1834997"/>
            <a:ext cx="3208387" cy="2161901"/>
            <a:chOff x="1437450" y="2928585"/>
            <a:chExt cx="6416773" cy="432380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76112EB-9A24-F26F-73D5-E02670002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7450" y="2928585"/>
              <a:ext cx="6416773" cy="4323802"/>
            </a:xfrm>
            <a:prstGeom prst="rect">
              <a:avLst/>
            </a:prstGeom>
          </p:spPr>
        </p:pic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340DDDDB-7747-A602-AE2E-D0FCAB1CCA12}"/>
                </a:ext>
              </a:extLst>
            </p:cNvPr>
            <p:cNvCxnSpPr/>
            <p:nvPr/>
          </p:nvCxnSpPr>
          <p:spPr>
            <a:xfrm flipV="1">
              <a:off x="3733800" y="3543300"/>
              <a:ext cx="2000250" cy="1352550"/>
            </a:xfrm>
            <a:prstGeom prst="curvedConnector3">
              <a:avLst>
                <a:gd name="adj1" fmla="val 44603"/>
              </a:avLst>
            </a:prstGeom>
            <a:ln w="50800">
              <a:solidFill>
                <a:schemeClr val="accent6">
                  <a:lumMod val="50000"/>
                  <a:lumOff val="50000"/>
                </a:schemeClr>
              </a:solidFill>
              <a:prstDash val="sys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06812023-6490-4E73-4E2D-025D5D0E03F0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4895850"/>
              <a:ext cx="2000250" cy="1775512"/>
            </a:xfrm>
            <a:prstGeom prst="curvedConnector3">
              <a:avLst>
                <a:gd name="adj1" fmla="val 50000"/>
              </a:avLst>
            </a:prstGeom>
            <a:ln w="50800">
              <a:solidFill>
                <a:schemeClr val="accent6">
                  <a:lumMod val="50000"/>
                  <a:lumOff val="50000"/>
                </a:schemeClr>
              </a:solidFill>
              <a:prstDash val="sys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C9360043-0395-0957-F49B-A6BBBADF6E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00" y="4513943"/>
              <a:ext cx="2000250" cy="420007"/>
            </a:xfrm>
            <a:prstGeom prst="curvedConnector3">
              <a:avLst>
                <a:gd name="adj1" fmla="val 53628"/>
              </a:avLst>
            </a:prstGeom>
            <a:ln w="50800">
              <a:solidFill>
                <a:schemeClr val="accent6">
                  <a:lumMod val="50000"/>
                  <a:lumOff val="50000"/>
                </a:schemeClr>
              </a:solidFill>
              <a:prstDash val="sys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: Curved 40">
              <a:extLst>
                <a:ext uri="{FF2B5EF4-FFF2-40B4-BE49-F238E27FC236}">
                  <a16:creationId xmlns:a16="http://schemas.microsoft.com/office/drawing/2014/main" id="{20CA838E-6451-4C06-54EF-B138E4DCA1BB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4933950"/>
              <a:ext cx="2000250" cy="576615"/>
            </a:xfrm>
            <a:prstGeom prst="curvedConnector3">
              <a:avLst>
                <a:gd name="adj1" fmla="val 68141"/>
              </a:avLst>
            </a:prstGeom>
            <a:ln w="50800">
              <a:solidFill>
                <a:schemeClr val="accent6">
                  <a:lumMod val="50000"/>
                  <a:lumOff val="50000"/>
                </a:schemeClr>
              </a:solidFill>
              <a:prstDash val="sys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3BFE3B0-FDC7-4A76-5C35-510436AE204B}"/>
              </a:ext>
            </a:extLst>
          </p:cNvPr>
          <p:cNvSpPr txBox="1"/>
          <p:nvPr/>
        </p:nvSpPr>
        <p:spPr>
          <a:xfrm>
            <a:off x="2001478" y="5820068"/>
            <a:ext cx="81890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88481"/>
            <a:r>
              <a:rPr lang="en-US" sz="4400" b="1">
                <a:solidFill>
                  <a:srgbClr val="1D1A46">
                    <a:lumMod val="75000"/>
                    <a:lumOff val="25000"/>
                  </a:srgbClr>
                </a:solidFill>
                <a:latin typeface="Calibri"/>
              </a:rPr>
              <a:t>Resulting in 801 “working” rules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2CDE4F-6F3F-69F9-F136-5676D9AB593A}"/>
              </a:ext>
            </a:extLst>
          </p:cNvPr>
          <p:cNvSpPr txBox="1"/>
          <p:nvPr/>
        </p:nvSpPr>
        <p:spPr>
          <a:xfrm>
            <a:off x="8309133" y="2146146"/>
            <a:ext cx="3044313" cy="153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88481"/>
            <a:r>
              <a:rPr lang="en-US" sz="5750" b="1">
                <a:solidFill>
                  <a:srgbClr val="1D1A46">
                    <a:lumMod val="75000"/>
                    <a:lumOff val="25000"/>
                  </a:srgbClr>
                </a:solidFill>
                <a:latin typeface="Calibri"/>
              </a:rPr>
              <a:t>~92,400 </a:t>
            </a:r>
          </a:p>
          <a:p>
            <a:pPr algn="ctr" defTabSz="1088481"/>
            <a:r>
              <a:rPr lang="en-US" sz="3600">
                <a:solidFill>
                  <a:prstClr val="white">
                    <a:lumMod val="50000"/>
                  </a:prstClr>
                </a:solidFill>
                <a:latin typeface="Calibri"/>
              </a:rPr>
              <a:t>lines of code</a:t>
            </a:r>
          </a:p>
        </p:txBody>
      </p:sp>
      <p:sp>
        <p:nvSpPr>
          <p:cNvPr id="52" name="Title 2">
            <a:extLst>
              <a:ext uri="{FF2B5EF4-FFF2-40B4-BE49-F238E27FC236}">
                <a16:creationId xmlns:a16="http://schemas.microsoft.com/office/drawing/2014/main" id="{AE024BB9-1B67-AC7A-4095-A20B09CB3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00" y="265591"/>
            <a:ext cx="7174355" cy="807261"/>
          </a:xfrm>
        </p:spPr>
        <p:txBody>
          <a:bodyPr/>
          <a:lstStyle/>
          <a:p>
            <a:r>
              <a:rPr lang="en-AU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W</a:t>
            </a:r>
            <a:r>
              <a:rPr lang="en-AU" noProof="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e rapidly scaled </a:t>
            </a:r>
            <a:r>
              <a:rPr lang="en-AU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up</a:t>
            </a:r>
            <a:endParaRPr lang="en-AU" noProof="0" dirty="0">
              <a:solidFill>
                <a:schemeClr val="accent6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E687DDB-E434-3DC8-7DBA-F57618DDA3FA}"/>
              </a:ext>
            </a:extLst>
          </p:cNvPr>
          <p:cNvGrpSpPr/>
          <p:nvPr/>
        </p:nvGrpSpPr>
        <p:grpSpPr>
          <a:xfrm>
            <a:off x="661575" y="955031"/>
            <a:ext cx="1546055" cy="413869"/>
            <a:chOff x="718725" y="955031"/>
            <a:chExt cx="1546055" cy="41386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09FB8C3-B72C-D24E-7694-5DA76909EFE2}"/>
                </a:ext>
              </a:extLst>
            </p:cNvPr>
            <p:cNvSpPr txBox="1"/>
            <p:nvPr/>
          </p:nvSpPr>
          <p:spPr>
            <a:xfrm>
              <a:off x="718725" y="1091901"/>
              <a:ext cx="116133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088481"/>
              <a:r>
                <a:rPr lang="en-AU" sz="1200" dirty="0">
                  <a:solidFill>
                    <a:srgbClr val="1D1A46">
                      <a:lumMod val="50000"/>
                      <a:lumOff val="50000"/>
                    </a:srgbClr>
                  </a:solidFill>
                  <a:latin typeface="Calibri"/>
                </a:rPr>
                <a:t>(probably too) </a:t>
              </a:r>
              <a:endParaRPr lang="en-AU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47B8138-5E6B-C98B-73D9-69A2B74C1452}"/>
                </a:ext>
              </a:extLst>
            </p:cNvPr>
            <p:cNvSpPr txBox="1"/>
            <p:nvPr/>
          </p:nvSpPr>
          <p:spPr>
            <a:xfrm>
              <a:off x="1103442" y="955031"/>
              <a:ext cx="116133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088481"/>
              <a:r>
                <a:rPr lang="en-AU" sz="1200">
                  <a:solidFill>
                    <a:srgbClr val="1D1A46">
                      <a:lumMod val="50000"/>
                      <a:lumOff val="50000"/>
                    </a:srgbClr>
                  </a:solidFill>
                  <a:latin typeface="Calibri"/>
                </a:rPr>
                <a:t>^</a:t>
              </a:r>
              <a:endParaRPr lang="en-AU" sz="120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1512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A1E7B-3A7B-9E7C-D73F-44757BC2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4FE4-9DCE-C650-745E-CF07C0D73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Extracting individual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AA261-78D6-24C2-5A47-577B7EE69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Establishing a taxonomy</a:t>
            </a:r>
          </a:p>
          <a:p>
            <a:r>
              <a:rPr lang="en-AU" dirty="0"/>
              <a:t>System prompt</a:t>
            </a:r>
          </a:p>
          <a:p>
            <a:r>
              <a:rPr lang="en-AU" dirty="0"/>
              <a:t>Tabulate</a:t>
            </a:r>
          </a:p>
        </p:txBody>
      </p:sp>
    </p:spTree>
    <p:extLst>
      <p:ext uri="{BB962C8B-B14F-4D97-AF65-F5344CB8AC3E}">
        <p14:creationId xmlns:p14="http://schemas.microsoft.com/office/powerpoint/2010/main" val="2490241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15F97-7C50-9988-8A09-135EF457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FF667-EFEC-246E-0319-0C8143F9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Generate – Validate – Regenerate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D43E9E-42B3-FD9D-B4F3-D306133DA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5775"/>
          </a:xfrm>
        </p:spPr>
        <p:txBody>
          <a:bodyPr/>
          <a:lstStyle/>
          <a:p>
            <a:r>
              <a:rPr lang="en-AU" dirty="0"/>
              <a:t>Create the actual code and the test scenarios</a:t>
            </a:r>
          </a:p>
          <a:p>
            <a:r>
              <a:rPr lang="en-AU" dirty="0"/>
              <a:t>Run the tests</a:t>
            </a:r>
          </a:p>
          <a:p>
            <a:r>
              <a:rPr lang="en-AU" dirty="0"/>
              <a:t>Send failures back to LLM for rework</a:t>
            </a:r>
          </a:p>
        </p:txBody>
      </p:sp>
    </p:spTree>
    <p:extLst>
      <p:ext uri="{BB962C8B-B14F-4D97-AF65-F5344CB8AC3E}">
        <p14:creationId xmlns:p14="http://schemas.microsoft.com/office/powerpoint/2010/main" val="1331162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9FAD-0FFD-B1FC-2BA7-0A42EFFE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827D-7FD4-50BF-F3BA-D370721C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06550"/>
          </a:xfrm>
        </p:spPr>
        <p:txBody>
          <a:bodyPr/>
          <a:lstStyle/>
          <a:p>
            <a:r>
              <a:rPr lang="en-AU" b="1" dirty="0"/>
              <a:t>Scaling the rulebook surfaced fundamental issues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3A97F03-30CA-D147-FB18-108AA6280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62" y="2306351"/>
            <a:ext cx="4381319" cy="32859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68FB680-8F38-7207-F9A6-350BB6FD3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48" y="2487727"/>
            <a:ext cx="3086084" cy="308608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138B73D-E24F-0FC1-902C-75897F020874}"/>
              </a:ext>
            </a:extLst>
          </p:cNvPr>
          <p:cNvSpPr/>
          <p:nvPr/>
        </p:nvSpPr>
        <p:spPr>
          <a:xfrm>
            <a:off x="6532682" y="2142903"/>
            <a:ext cx="2873080" cy="5105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88481"/>
            <a:r>
              <a:rPr lang="en-AU" sz="2700" b="1">
                <a:solidFill>
                  <a:srgbClr val="1D1A46">
                    <a:lumMod val="75000"/>
                    <a:lumOff val="25000"/>
                  </a:srgbClr>
                </a:solidFill>
                <a:latin typeface="Calibri"/>
              </a:rPr>
              <a:t>What we needed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FBC848E-F815-C67C-1C8C-830DD8DD3F6C}"/>
              </a:ext>
            </a:extLst>
          </p:cNvPr>
          <p:cNvGrpSpPr/>
          <p:nvPr/>
        </p:nvGrpSpPr>
        <p:grpSpPr>
          <a:xfrm>
            <a:off x="1124865" y="2284256"/>
            <a:ext cx="2956651" cy="2651316"/>
            <a:chOff x="1224918" y="3861061"/>
            <a:chExt cx="8296145" cy="7439398"/>
          </a:xfrm>
        </p:grpSpPr>
        <p:pic>
          <p:nvPicPr>
            <p:cNvPr id="12" name="Picture 11" hidden="1">
              <a:extLst>
                <a:ext uri="{FF2B5EF4-FFF2-40B4-BE49-F238E27FC236}">
                  <a16:creationId xmlns:a16="http://schemas.microsoft.com/office/drawing/2014/main" id="{2C14F15B-825F-AF61-E276-0651FEFC2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4918" y="5993843"/>
              <a:ext cx="8296145" cy="5306616"/>
            </a:xfrm>
            <a:prstGeom prst="rect">
              <a:avLst/>
            </a:prstGeom>
          </p:spPr>
        </p:pic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93DFD28-9AC8-B2CB-F411-A9DC8D75A612}"/>
                </a:ext>
              </a:extLst>
            </p:cNvPr>
            <p:cNvSpPr/>
            <p:nvPr/>
          </p:nvSpPr>
          <p:spPr>
            <a:xfrm>
              <a:off x="2402427" y="3861061"/>
              <a:ext cx="5941126" cy="1266118"/>
            </a:xfrm>
            <a:prstGeom prst="round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088481"/>
              <a:r>
                <a:rPr lang="en-AU" sz="2700" b="1">
                  <a:solidFill>
                    <a:srgbClr val="1D1A46">
                      <a:lumMod val="75000"/>
                      <a:lumOff val="25000"/>
                    </a:srgbClr>
                  </a:solidFill>
                  <a:latin typeface="Calibri"/>
                </a:rPr>
                <a:t>What we built</a:t>
              </a:r>
            </a:p>
          </p:txBody>
        </p:sp>
      </p:grp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D9760D0-6882-BBC8-8090-B3B0DF2E9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16550"/>
            <a:ext cx="10515600" cy="1755775"/>
          </a:xfrm>
        </p:spPr>
        <p:txBody>
          <a:bodyPr/>
          <a:lstStyle/>
          <a:p>
            <a:r>
              <a:rPr lang="en-AU" dirty="0"/>
              <a:t>Far too many false positives. System required a much more nuanced process to parse document structure to apply rules effectively</a:t>
            </a:r>
          </a:p>
        </p:txBody>
      </p:sp>
    </p:spTree>
    <p:extLst>
      <p:ext uri="{BB962C8B-B14F-4D97-AF65-F5344CB8AC3E}">
        <p14:creationId xmlns:p14="http://schemas.microsoft.com/office/powerpoint/2010/main" val="438634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011C8-5228-3FA2-3E9A-3FAEBCA37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1420F-3D61-911D-F301-997C61BA4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06550"/>
          </a:xfrm>
        </p:spPr>
        <p:txBody>
          <a:bodyPr/>
          <a:lstStyle/>
          <a:p>
            <a:r>
              <a:rPr lang="en-AU" b="1" dirty="0"/>
              <a:t>We know a lot more now than when we started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5D737-488B-0A92-F16C-38746C3BB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1088481"/>
            <a:r>
              <a:rPr lang="en-AU" dirty="0">
                <a:latin typeface="Calibri"/>
              </a:rPr>
              <a:t>It can be done but it's an order of magnitude more complex to  construct than initially anticipated.</a:t>
            </a:r>
          </a:p>
          <a:p>
            <a:pPr defTabSz="1088481"/>
            <a:r>
              <a:rPr lang="en-AU" dirty="0">
                <a:latin typeface="Calibri"/>
              </a:rPr>
              <a:t>I’ve created a 53-page construction manual for a V2</a:t>
            </a:r>
          </a:p>
          <a:p>
            <a:pPr defTabSz="1088481"/>
            <a:r>
              <a:rPr lang="en-AU" dirty="0">
                <a:latin typeface="Calibri"/>
              </a:rPr>
              <a:t>Some rules simply can’t be codified</a:t>
            </a:r>
          </a:p>
        </p:txBody>
      </p:sp>
    </p:spTree>
    <p:extLst>
      <p:ext uri="{BB962C8B-B14F-4D97-AF65-F5344CB8AC3E}">
        <p14:creationId xmlns:p14="http://schemas.microsoft.com/office/powerpoint/2010/main" val="2583110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3E76CB-DD5C-D81C-7052-5D76BDF0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666875"/>
            <a:ext cx="10515600" cy="576263"/>
          </a:xfrm>
        </p:spPr>
        <p:txBody>
          <a:bodyPr>
            <a:normAutofit fontScale="90000"/>
          </a:bodyPr>
          <a:lstStyle/>
          <a:p>
            <a:r>
              <a:rPr lang="en-AU" dirty="0"/>
              <a:t>Tripwire Title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033A7B-015C-16EC-28B0-2CB4AA30F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74544" y="618540"/>
            <a:ext cx="3858898" cy="104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79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4494D-D5E4-B9A9-CA99-3D9A067D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Tripwire origins – The AI steward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4F508-C9A7-67E4-E7BC-80EBC8CBF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5688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E60262-A000-22CA-DA49-907731BDBC95}"/>
              </a:ext>
            </a:extLst>
          </p:cNvPr>
          <p:cNvSpPr/>
          <p:nvPr/>
        </p:nvSpPr>
        <p:spPr>
          <a:xfrm>
            <a:off x="5038824" y="881470"/>
            <a:ext cx="5899466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i="1" dirty="0">
                <a:solidFill>
                  <a:srgbClr val="0E2841"/>
                </a:solidFill>
                <a:latin typeface="Aptos" panose="02110004020202020204"/>
              </a:rPr>
              <a:t>The broader the coverage, the more difficult it is to maintain our (and any) platform’s accuracy and currency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B1CC53-C92F-CAC2-87CE-67B6453BF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944" y="796065"/>
            <a:ext cx="3858898" cy="1048335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22E887-F6F7-93E5-B6AF-365D15B7249D}"/>
              </a:ext>
            </a:extLst>
          </p:cNvPr>
          <p:cNvSpPr/>
          <p:nvPr/>
        </p:nvSpPr>
        <p:spPr>
          <a:xfrm>
            <a:off x="4366220" y="4225240"/>
            <a:ext cx="3528000" cy="900000"/>
          </a:xfrm>
          <a:prstGeom prst="roundRect">
            <a:avLst/>
          </a:prstGeom>
          <a:solidFill>
            <a:srgbClr val="2E3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prstClr val="white"/>
                </a:solidFill>
                <a:latin typeface="Aptos" panose="02110004020202020204"/>
              </a:rPr>
              <a:t>Surfaces the content which may be affected by the change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9892EC-64D8-4E9B-D448-2FB3E22662E8}"/>
              </a:ext>
            </a:extLst>
          </p:cNvPr>
          <p:cNvSpPr/>
          <p:nvPr/>
        </p:nvSpPr>
        <p:spPr>
          <a:xfrm>
            <a:off x="8286438" y="4225240"/>
            <a:ext cx="3528000" cy="900000"/>
          </a:xfrm>
          <a:prstGeom prst="roundRect">
            <a:avLst/>
          </a:prstGeom>
          <a:solidFill>
            <a:srgbClr val="2E3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>
                <a:solidFill>
                  <a:prstClr val="white"/>
                </a:solidFill>
                <a:latin typeface="Aptos" panose="02110004020202020204"/>
              </a:rPr>
              <a:t>Determines whether an amendment is necessary and if so, what it should be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7C5433B-30F6-6B75-214C-F0FED6837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15" y="2278915"/>
            <a:ext cx="2141573" cy="214157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C4BA61-D092-FE04-459D-5B764AB67940}"/>
              </a:ext>
            </a:extLst>
          </p:cNvPr>
          <p:cNvSpPr/>
          <p:nvPr/>
        </p:nvSpPr>
        <p:spPr>
          <a:xfrm>
            <a:off x="446001" y="4225240"/>
            <a:ext cx="3528000" cy="900000"/>
          </a:xfrm>
          <a:prstGeom prst="roundRect">
            <a:avLst/>
          </a:prstGeom>
          <a:solidFill>
            <a:srgbClr val="2E3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200" b="1" dirty="0">
                <a:solidFill>
                  <a:prstClr val="white"/>
                </a:solidFill>
                <a:latin typeface="Aptos" panose="02110004020202020204"/>
              </a:rPr>
              <a:t>Identifies changes of target information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E2CBC7-7064-9F5C-A72B-1D0728835508}"/>
              </a:ext>
            </a:extLst>
          </p:cNvPr>
          <p:cNvSpPr txBox="1"/>
          <p:nvPr/>
        </p:nvSpPr>
        <p:spPr>
          <a:xfrm>
            <a:off x="536623" y="5309006"/>
            <a:ext cx="3346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88481"/>
            <a:r>
              <a:rPr lang="en-AU" sz="1600" dirty="0">
                <a:solidFill>
                  <a:prstClr val="black"/>
                </a:solidFill>
                <a:latin typeface="Calibri"/>
              </a:rPr>
              <a:t>Including legislative instruments, web content and news feeds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DD0DB9-6B87-4164-D3EA-EDF8EDCE8DBB}"/>
              </a:ext>
            </a:extLst>
          </p:cNvPr>
          <p:cNvSpPr txBox="1"/>
          <p:nvPr/>
        </p:nvSpPr>
        <p:spPr>
          <a:xfrm>
            <a:off x="4456842" y="5309006"/>
            <a:ext cx="3346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88481"/>
            <a:r>
              <a:rPr lang="en-AU" sz="1600" dirty="0">
                <a:solidFill>
                  <a:prstClr val="black"/>
                </a:solidFill>
                <a:latin typeface="Calibri"/>
              </a:rPr>
              <a:t>Using a mix of keyword and semantic retrieval methods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48262F-FDF9-F55F-6159-51EA328BC155}"/>
              </a:ext>
            </a:extLst>
          </p:cNvPr>
          <p:cNvSpPr txBox="1"/>
          <p:nvPr/>
        </p:nvSpPr>
        <p:spPr>
          <a:xfrm>
            <a:off x="8377060" y="5309006"/>
            <a:ext cx="3346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88481"/>
            <a:r>
              <a:rPr lang="en-AU" sz="1600" dirty="0">
                <a:solidFill>
                  <a:prstClr val="black"/>
                </a:solidFill>
                <a:latin typeface="Calibri"/>
              </a:rPr>
              <a:t>Using an LLM, but only if it exceeds a predefined relevance threshold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7019005-0D66-7D5E-EE41-3B10AA6F07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03"/>
          <a:stretch>
            <a:fillRect/>
          </a:stretch>
        </p:blipFill>
        <p:spPr>
          <a:xfrm>
            <a:off x="4911019" y="2096338"/>
            <a:ext cx="2438400" cy="187508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ED597CC-13AC-F3FF-E5BE-9A9E8D352F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51" y="2116021"/>
            <a:ext cx="1958639" cy="1958639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D20D475-CB6F-9087-3C12-994D6D1FBD19}"/>
              </a:ext>
            </a:extLst>
          </p:cNvPr>
          <p:cNvCxnSpPr/>
          <p:nvPr/>
        </p:nvCxnSpPr>
        <p:spPr>
          <a:xfrm>
            <a:off x="1415382" y="6046839"/>
            <a:ext cx="1589237" cy="0"/>
          </a:xfrm>
          <a:prstGeom prst="line">
            <a:avLst/>
          </a:prstGeom>
          <a:ln w="28575" cap="rnd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E2DBB2-AE30-7569-D63A-290CBD99C0EA}"/>
              </a:ext>
            </a:extLst>
          </p:cNvPr>
          <p:cNvCxnSpPr/>
          <p:nvPr/>
        </p:nvCxnSpPr>
        <p:spPr>
          <a:xfrm>
            <a:off x="5335601" y="6046839"/>
            <a:ext cx="1589237" cy="0"/>
          </a:xfrm>
          <a:prstGeom prst="line">
            <a:avLst/>
          </a:prstGeom>
          <a:ln w="28575" cap="rnd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1775C1E-4EAF-64C9-50E1-9C704BA9674E}"/>
              </a:ext>
            </a:extLst>
          </p:cNvPr>
          <p:cNvCxnSpPr/>
          <p:nvPr/>
        </p:nvCxnSpPr>
        <p:spPr>
          <a:xfrm>
            <a:off x="9255819" y="6046839"/>
            <a:ext cx="1589237" cy="0"/>
          </a:xfrm>
          <a:prstGeom prst="line">
            <a:avLst/>
          </a:prstGeom>
          <a:ln w="28575" cap="rnd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414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141892-9EF3-8967-9C55-0AFA6C57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20" y="521485"/>
            <a:ext cx="6672907" cy="807261"/>
          </a:xfrm>
        </p:spPr>
        <p:txBody>
          <a:bodyPr anchor="t"/>
          <a:lstStyle/>
          <a:p>
            <a:r>
              <a:rPr lang="en-AU" sz="4000" dirty="0">
                <a:latin typeface="Aptos" panose="02110004020202020204"/>
              </a:rPr>
              <a:t>Tripwire in action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319410-274E-1CD1-E2FE-F79F53A6F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58" b="6102"/>
          <a:stretch>
            <a:fillRect/>
          </a:stretch>
        </p:blipFill>
        <p:spPr>
          <a:xfrm>
            <a:off x="6810889" y="1432649"/>
            <a:ext cx="4895229" cy="33037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5ACBA45-9FDD-4FAA-3ADB-BC9625CFD64E}"/>
              </a:ext>
            </a:extLst>
          </p:cNvPr>
          <p:cNvSpPr txBox="1"/>
          <p:nvPr/>
        </p:nvSpPr>
        <p:spPr>
          <a:xfrm>
            <a:off x="1809982" y="5087774"/>
            <a:ext cx="10149408" cy="1432500"/>
          </a:xfrm>
          <a:prstGeom prst="snip2DiagRect">
            <a:avLst/>
          </a:prstGeom>
          <a:solidFill>
            <a:schemeClr val="bg2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defTabSz="1088481"/>
            <a:r>
              <a:rPr lang="en-US" dirty="0">
                <a:solidFill>
                  <a:prstClr val="black"/>
                </a:solidFill>
                <a:latin typeface="Calibri"/>
              </a:rPr>
              <a:t>The upstream change announces that IP Australia has joined the PPH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eXtra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Initiative… </a:t>
            </a:r>
          </a:p>
          <a:p>
            <a:pPr defTabSz="1088481"/>
            <a:r>
              <a:rPr lang="en-US" dirty="0">
                <a:solidFill>
                  <a:prstClr val="black"/>
                </a:solidFill>
                <a:latin typeface="Calibri"/>
              </a:rPr>
              <a:t>The IPFR page already references the PPH and expedited examination generally, and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 the change does not contradict or update any specific statements or guidance in the page. </a:t>
            </a:r>
          </a:p>
          <a:p>
            <a:pPr defTabSz="1088481"/>
            <a:r>
              <a:rPr lang="en-US" b="1" dirty="0">
                <a:solidFill>
                  <a:srgbClr val="84C98F">
                    <a:lumMod val="75000"/>
                  </a:srgbClr>
                </a:solidFill>
                <a:latin typeface="Calibri"/>
              </a:rPr>
              <a:t>Therefore, no amendment to the IPFR page is required.</a:t>
            </a:r>
            <a:endParaRPr lang="en-AU" b="1" dirty="0">
              <a:solidFill>
                <a:srgbClr val="84C98F">
                  <a:lumMod val="75000"/>
                </a:srgbClr>
              </a:solidFill>
              <a:latin typeface="Calibri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9B00FDB-30E3-50CA-8A16-70FCF5E16941}"/>
              </a:ext>
            </a:extLst>
          </p:cNvPr>
          <p:cNvGrpSpPr/>
          <p:nvPr/>
        </p:nvGrpSpPr>
        <p:grpSpPr>
          <a:xfrm>
            <a:off x="473851" y="1017252"/>
            <a:ext cx="4550655" cy="3447008"/>
            <a:chOff x="947702" y="2034504"/>
            <a:chExt cx="9101309" cy="689401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4ADC1EC-42A2-2847-35D1-F1F97550E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0023" y="2034504"/>
              <a:ext cx="2198988" cy="219898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8427E49-9632-140F-3CCF-8AD115A65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1765" y="3742966"/>
              <a:ext cx="9047748" cy="518555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EF21C6-ECA5-DDEB-DBD9-FBB40DEE74B6}"/>
                </a:ext>
              </a:extLst>
            </p:cNvPr>
            <p:cNvSpPr/>
            <p:nvPr/>
          </p:nvSpPr>
          <p:spPr>
            <a:xfrm>
              <a:off x="947702" y="2776806"/>
              <a:ext cx="6872823" cy="743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088481"/>
              <a:r>
                <a:rPr lang="en-AU" sz="2192" b="1" dirty="0">
                  <a:solidFill>
                    <a:srgbClr val="323E48"/>
                  </a:solidFill>
                  <a:latin typeface="Calibri"/>
                </a:rPr>
                <a:t>Change to target information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36FCF11-233E-D646-44B4-FD4BC1EBBF3B}"/>
              </a:ext>
            </a:extLst>
          </p:cNvPr>
          <p:cNvSpPr/>
          <p:nvPr/>
        </p:nvSpPr>
        <p:spPr>
          <a:xfrm>
            <a:off x="6810889" y="842712"/>
            <a:ext cx="4919291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088481"/>
            <a:r>
              <a:rPr lang="en-AU" sz="2192" b="1">
                <a:solidFill>
                  <a:prstClr val="black"/>
                </a:solidFill>
                <a:latin typeface="Calibri"/>
              </a:rPr>
              <a:t>Page which may be influenced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E80CB9E-ED47-8AAA-5D51-85AA2E2EDB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97" b="23103"/>
          <a:stretch>
            <a:fillRect/>
          </a:stretch>
        </p:blipFill>
        <p:spPr>
          <a:xfrm>
            <a:off x="10468462" y="698447"/>
            <a:ext cx="1222908" cy="7117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6B13F1-54C8-6FB1-C8CA-7B6E1DA520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83" y="5202636"/>
            <a:ext cx="1324100" cy="13241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E6A73DE-FD6C-78F2-8DD7-C02F9A53E0CE}"/>
              </a:ext>
            </a:extLst>
          </p:cNvPr>
          <p:cNvSpPr/>
          <p:nvPr/>
        </p:nvSpPr>
        <p:spPr>
          <a:xfrm>
            <a:off x="685890" y="4643105"/>
            <a:ext cx="4895229" cy="371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088481"/>
            <a:r>
              <a:rPr lang="en-AU" sz="2192" b="1">
                <a:solidFill>
                  <a:srgbClr val="323E48"/>
                </a:solidFill>
                <a:latin typeface="Calibri"/>
              </a:rPr>
              <a:t>Assessment of change against IPFR page</a:t>
            </a:r>
          </a:p>
        </p:txBody>
      </p:sp>
    </p:spTree>
    <p:extLst>
      <p:ext uri="{BB962C8B-B14F-4D97-AF65-F5344CB8AC3E}">
        <p14:creationId xmlns:p14="http://schemas.microsoft.com/office/powerpoint/2010/main" val="2143249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80F48-B14A-CF63-3048-DC4BC04E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C89A-D1BA-00CB-FA9A-459DCB66C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06550"/>
          </a:xfrm>
        </p:spPr>
        <p:txBody>
          <a:bodyPr/>
          <a:lstStyle/>
          <a:p>
            <a:r>
              <a:rPr lang="en-AU" b="1" dirty="0"/>
              <a:t>Fundamental purpose of RAG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5D96E-84BB-C6D6-F61D-BFF94A0E7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24650" cy="2232025"/>
          </a:xfrm>
        </p:spPr>
        <p:txBody>
          <a:bodyPr/>
          <a:lstStyle/>
          <a:p>
            <a:pPr defTabSz="1088481"/>
            <a:r>
              <a:rPr lang="en-AU" dirty="0">
                <a:latin typeface="Calibri"/>
              </a:rPr>
              <a:t>How this system is a type of RAG pipeline</a:t>
            </a:r>
          </a:p>
          <a:p>
            <a:pPr defTabSz="1088481"/>
            <a:r>
              <a:rPr lang="en-AU" dirty="0">
                <a:latin typeface="Calibri"/>
              </a:rPr>
              <a:t>Scale of operation influences design</a:t>
            </a:r>
          </a:p>
        </p:txBody>
      </p:sp>
    </p:spTree>
    <p:extLst>
      <p:ext uri="{BB962C8B-B14F-4D97-AF65-F5344CB8AC3E}">
        <p14:creationId xmlns:p14="http://schemas.microsoft.com/office/powerpoint/2010/main" val="1186704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36FB-DA70-78C8-5AF7-1D063800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Tripwire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084B1-7D26-213F-559E-AC0177786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AU" dirty="0"/>
              <a:t>Key requirements</a:t>
            </a:r>
          </a:p>
          <a:p>
            <a:pPr lvl="2"/>
            <a:r>
              <a:rPr lang="en-AU" dirty="0"/>
              <a:t>Transparent process</a:t>
            </a:r>
          </a:p>
          <a:p>
            <a:pPr lvl="2"/>
            <a:r>
              <a:rPr lang="en-AU" dirty="0"/>
              <a:t>Low maintenance</a:t>
            </a:r>
          </a:p>
          <a:p>
            <a:pPr lvl="2"/>
            <a:r>
              <a:rPr lang="en-AU" dirty="0"/>
              <a:t>Filter noise cheaply</a:t>
            </a:r>
          </a:p>
          <a:p>
            <a:pPr lvl="2"/>
            <a:r>
              <a:rPr lang="en-AU" dirty="0"/>
              <a:t>Domain agnostic</a:t>
            </a:r>
          </a:p>
          <a:p>
            <a:pPr lvl="2"/>
            <a:r>
              <a:rPr lang="en-AU" dirty="0"/>
              <a:t>Etc (TOM NEEDS TO GO BACK AND ADD ACTUAL REQUIREMENTS)</a:t>
            </a:r>
          </a:p>
        </p:txBody>
      </p:sp>
    </p:spTree>
    <p:extLst>
      <p:ext uri="{BB962C8B-B14F-4D97-AF65-F5344CB8AC3E}">
        <p14:creationId xmlns:p14="http://schemas.microsoft.com/office/powerpoint/2010/main" val="4057060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DA3E-BDFB-A043-D263-B7CAB978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Influenced vs influencer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CB2BA-C470-3A0C-FB3B-441B44E7B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Clarifying the difference between the content we manage and the content managed externally</a:t>
            </a:r>
          </a:p>
        </p:txBody>
      </p:sp>
    </p:spTree>
    <p:extLst>
      <p:ext uri="{BB962C8B-B14F-4D97-AF65-F5344CB8AC3E}">
        <p14:creationId xmlns:p14="http://schemas.microsoft.com/office/powerpoint/2010/main" val="804410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F06A-5707-7FDB-96DB-CA2DDC1C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different influencers are captured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3D2F6-4F8E-E313-C42B-1A701883B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Federal register of legislation</a:t>
            </a:r>
          </a:p>
          <a:p>
            <a:r>
              <a:rPr lang="en-AU" dirty="0"/>
              <a:t>RSS feeds</a:t>
            </a:r>
          </a:p>
          <a:p>
            <a:r>
              <a:rPr lang="en-AU" dirty="0"/>
              <a:t>Websites</a:t>
            </a:r>
          </a:p>
        </p:txBody>
      </p:sp>
    </p:spTree>
    <p:extLst>
      <p:ext uri="{BB962C8B-B14F-4D97-AF65-F5344CB8AC3E}">
        <p14:creationId xmlns:p14="http://schemas.microsoft.com/office/powerpoint/2010/main" val="986098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F40A3-C321-9383-C6A6-D8A76EA0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explainer of semantic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C744A-CD95-FF4C-D830-AB093820D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Show diagram to demonstrate how one can abstractly represent a text’s ‘meaning’ with numbers</a:t>
            </a:r>
          </a:p>
        </p:txBody>
      </p:sp>
    </p:spTree>
    <p:extLst>
      <p:ext uri="{BB962C8B-B14F-4D97-AF65-F5344CB8AC3E}">
        <p14:creationId xmlns:p14="http://schemas.microsoft.com/office/powerpoint/2010/main" val="4171133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C6EE-5F5E-583C-89F7-C9A6BE37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the ‘influenced’ site is captured (pt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6F399-1312-A602-E3F2-533D5D33C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Sitemap harvesting and normalisation</a:t>
            </a:r>
          </a:p>
          <a:p>
            <a:r>
              <a:rPr lang="en-AU" dirty="0"/>
              <a:t>SHA-256 version</a:t>
            </a:r>
          </a:p>
          <a:p>
            <a:r>
              <a:rPr lang="en-AU" dirty="0"/>
              <a:t>Section aware chunking</a:t>
            </a:r>
          </a:p>
          <a:p>
            <a:r>
              <a:rPr lang="en-AU" dirty="0"/>
              <a:t>Cron-based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049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87EB6-5873-0D9E-1627-3F88A8BDD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829C1-050F-FD5D-27A4-E05787A5D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the ‘influenced’ site is captured (pt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7CDBC-891B-C0B1-2CE2-C114AEEE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Enrichment with NER, YAKE, vector embeddings, quasi graph construction</a:t>
            </a:r>
          </a:p>
          <a:p>
            <a:r>
              <a:rPr lang="en-AU" dirty="0">
                <a:highlight>
                  <a:srgbClr val="FFFF00"/>
                </a:highlight>
              </a:rPr>
              <a:t>NOTE TO SELF: UPDATE GRAPH CONSTRUCTION TO </a:t>
            </a:r>
            <a:r>
              <a:rPr lang="en-AU" b="1" dirty="0">
                <a:highlight>
                  <a:srgbClr val="FFFF00"/>
                </a:highlight>
              </a:rPr>
              <a:t>ACTUALLY</a:t>
            </a:r>
            <a:r>
              <a:rPr lang="en-AU" dirty="0">
                <a:highlight>
                  <a:srgbClr val="FFFF00"/>
                </a:highlight>
              </a:rPr>
              <a:t> EXTRACT WEBPAGES WHICH REFER TO EACHOTHER</a:t>
            </a:r>
          </a:p>
        </p:txBody>
      </p:sp>
    </p:spTree>
    <p:extLst>
      <p:ext uri="{BB962C8B-B14F-4D97-AF65-F5344CB8AC3E}">
        <p14:creationId xmlns:p14="http://schemas.microsoft.com/office/powerpoint/2010/main" val="2601039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B8F27-410D-360C-474D-736F0816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Tripwire seeks to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806B-6957-59F8-ECDF-9D668A249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 Did the target information meaningfully change?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 Is the change potentially relevant to IPFR content?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 Which IPFR pages are most likely affected?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 What should be done about it?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56439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75A3-9858-F0BB-F870-4DA4DD680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78BB3-4DE5-2960-F29D-8E37F8C7B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Detection and pre-processing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F5D2CB-68DD-53CB-1690-7C9E4DEB2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51100"/>
          </a:xfrm>
        </p:spPr>
        <p:txBody>
          <a:bodyPr/>
          <a:lstStyle/>
          <a:p>
            <a:r>
              <a:rPr lang="en-AU" dirty="0"/>
              <a:t>Metadata probe</a:t>
            </a:r>
          </a:p>
          <a:p>
            <a:r>
              <a:rPr lang="en-AU" dirty="0"/>
              <a:t>Change detection (including noise filtration)</a:t>
            </a:r>
          </a:p>
          <a:p>
            <a:r>
              <a:rPr lang="en-AU" dirty="0"/>
              <a:t>Significance fingerprint</a:t>
            </a:r>
          </a:p>
          <a:p>
            <a:r>
              <a:rPr lang="en-AU" dirty="0"/>
              <a:t>Diff generation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C7AC5-D1EC-397F-815D-27FCC7B054AC}"/>
              </a:ext>
            </a:extLst>
          </p:cNvPr>
          <p:cNvSpPr txBox="1"/>
          <p:nvPr/>
        </p:nvSpPr>
        <p:spPr>
          <a:xfrm>
            <a:off x="838200" y="13213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Did the target information meaningfully change?</a:t>
            </a:r>
          </a:p>
        </p:txBody>
      </p:sp>
    </p:spTree>
    <p:extLst>
      <p:ext uri="{BB962C8B-B14F-4D97-AF65-F5344CB8AC3E}">
        <p14:creationId xmlns:p14="http://schemas.microsoft.com/office/powerpoint/2010/main" val="1946892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F01A-AF3C-A830-18BE-5871FBB3B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665C-8D9C-1B0A-D9FA-FCE30A75F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Hybrid retrieval and filtering (coarse)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51DD2D-B28C-D5E7-7F4C-AD6F55BB3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YAKE-driven BM25</a:t>
            </a:r>
          </a:p>
          <a:p>
            <a:r>
              <a:rPr lang="en-AU" dirty="0"/>
              <a:t>Bi-encoder cosine similarity</a:t>
            </a:r>
          </a:p>
          <a:p>
            <a:r>
              <a:rPr lang="en-AU" dirty="0"/>
              <a:t>RRF</a:t>
            </a:r>
          </a:p>
          <a:p>
            <a:r>
              <a:rPr lang="en-US" dirty="0"/>
              <a:t>Top-N candidates OR score threshold exceeded (mention </a:t>
            </a:r>
            <a:r>
              <a:rPr lang="en-AU" dirty="0"/>
              <a:t>fast pass modifier)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Chunk the incoming change document</a:t>
            </a:r>
          </a:p>
          <a:p>
            <a:r>
              <a:rPr lang="en-US" dirty="0"/>
              <a:t>Compute cosine similarity against IPFR content chunks</a:t>
            </a:r>
          </a:p>
          <a:p>
            <a:r>
              <a:rPr lang="en-US" dirty="0"/>
              <a:t>Proceed if any single chunk scores ≥ 0.75, OR 3+ chunks from the same IPFR page score ≥ 0.45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566408-3109-DF2B-6ABD-0E0169E6A420}"/>
              </a:ext>
            </a:extLst>
          </p:cNvPr>
          <p:cNvSpPr txBox="1"/>
          <p:nvPr/>
        </p:nvSpPr>
        <p:spPr>
          <a:xfrm>
            <a:off x="838200" y="13213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Is this change potentially relevant to IPFR content?  </a:t>
            </a:r>
          </a:p>
        </p:txBody>
      </p:sp>
    </p:spTree>
    <p:extLst>
      <p:ext uri="{BB962C8B-B14F-4D97-AF65-F5344CB8AC3E}">
        <p14:creationId xmlns:p14="http://schemas.microsoft.com/office/powerpoint/2010/main" val="14144916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998B9-4B9D-0047-7E1B-0B4CA0C3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5288-EE8F-E810-2AF0-977C1E80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Hybrid retrieval and filtering (precise)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C9D5B5-9923-7812-6835-AD9BC940D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Stage 6</a:t>
            </a:r>
          </a:p>
          <a:p>
            <a:r>
              <a:rPr lang="en-AU" dirty="0"/>
              <a:t>Cross encoder score</a:t>
            </a:r>
          </a:p>
          <a:p>
            <a:r>
              <a:rPr lang="en-AU" dirty="0"/>
              <a:t>Score full IPFR page vs full change document</a:t>
            </a:r>
          </a:p>
          <a:p>
            <a:r>
              <a:rPr lang="en-US" dirty="0" err="1"/>
              <a:t>Rerank</a:t>
            </a:r>
            <a:r>
              <a:rPr lang="en-US" dirty="0"/>
              <a:t> semantic findings with lexical results and </a:t>
            </a:r>
            <a:r>
              <a:rPr lang="en-AU" dirty="0"/>
              <a:t>pre-computed quasi-graph relationships</a:t>
            </a:r>
          </a:p>
          <a:p>
            <a:r>
              <a:rPr lang="en-US" dirty="0"/>
              <a:t>Propagate alerts to graph-connected IPFR pages (decay 0.25 per hop, max 3 hops, floor 0.05)</a:t>
            </a:r>
          </a:p>
          <a:p>
            <a:r>
              <a:rPr lang="en-US" b="1" dirty="0">
                <a:highlight>
                  <a:srgbClr val="FFFF00"/>
                </a:highlight>
              </a:rPr>
              <a:t>REMINDER TO SELF: </a:t>
            </a:r>
            <a:r>
              <a:rPr lang="en-US" dirty="0">
                <a:highlight>
                  <a:srgbClr val="FFFF00"/>
                </a:highlight>
              </a:rPr>
              <a:t>FIX THE GRAPH PROPOGATION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36F9CB-01BF-F7D3-E607-6DF538B76ED0}"/>
              </a:ext>
            </a:extLst>
          </p:cNvPr>
          <p:cNvSpPr txBox="1"/>
          <p:nvPr/>
        </p:nvSpPr>
        <p:spPr>
          <a:xfrm>
            <a:off x="838200" y="13213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Which IPFR pages are most likely affected?</a:t>
            </a:r>
          </a:p>
        </p:txBody>
      </p:sp>
    </p:spTree>
    <p:extLst>
      <p:ext uri="{BB962C8B-B14F-4D97-AF65-F5344CB8AC3E}">
        <p14:creationId xmlns:p14="http://schemas.microsoft.com/office/powerpoint/2010/main" val="3171538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E324-DF93-6154-41E4-B82AF44BB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8400"/>
          </a:xfrm>
        </p:spPr>
        <p:txBody>
          <a:bodyPr/>
          <a:lstStyle/>
          <a:p>
            <a:r>
              <a:rPr lang="en-AU" dirty="0"/>
              <a:t>Assessment and alerting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2A6D9-98FB-3822-3F91-E97452ED8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4525"/>
            <a:ext cx="10515600" cy="42624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Group all triggers per IPFR page within this run. </a:t>
            </a:r>
          </a:p>
          <a:p>
            <a:r>
              <a:rPr lang="en-US" dirty="0"/>
              <a:t>Batch all relevant diffs for each IPFR page into a single unit for LLM assessment.</a:t>
            </a:r>
          </a:p>
          <a:p>
            <a:r>
              <a:rPr lang="en-AU" dirty="0"/>
              <a:t>One discrete LLM call per IPFR page (not per trigger).</a:t>
            </a:r>
          </a:p>
          <a:p>
            <a:r>
              <a:rPr lang="en-AU" dirty="0"/>
              <a:t>Inputs:</a:t>
            </a:r>
          </a:p>
          <a:p>
            <a:pPr lvl="1"/>
            <a:r>
              <a:rPr lang="en-AU" dirty="0"/>
              <a:t>Cached system prompt </a:t>
            </a:r>
          </a:p>
          <a:p>
            <a:pPr lvl="1"/>
            <a:r>
              <a:rPr lang="en-AU" dirty="0"/>
              <a:t>All relevant diffs for this page</a:t>
            </a:r>
          </a:p>
          <a:p>
            <a:pPr lvl="1"/>
            <a:r>
              <a:rPr lang="en-AU" dirty="0"/>
              <a:t>The IPFR page content</a:t>
            </a:r>
          </a:p>
          <a:p>
            <a:pPr lvl="1"/>
            <a:r>
              <a:rPr lang="en-AU" dirty="0"/>
              <a:t>Bi-encoder cosine scores per chunk </a:t>
            </a:r>
          </a:p>
          <a:p>
            <a:pPr lvl="1"/>
            <a:r>
              <a:rPr lang="en-AU" dirty="0"/>
              <a:t>Relevance scores (lexical, semantic, reranked) </a:t>
            </a:r>
          </a:p>
          <a:p>
            <a:r>
              <a:rPr lang="en-AU" dirty="0"/>
              <a:t>Output: structured JSON against a validated schema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20CDB-7CAA-E4D3-65FA-DA3242C67528}"/>
              </a:ext>
            </a:extLst>
          </p:cNvPr>
          <p:cNvSpPr txBox="1"/>
          <p:nvPr/>
        </p:nvSpPr>
        <p:spPr>
          <a:xfrm>
            <a:off x="838200" y="14332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Monaspace Neon"/>
              </a:rPr>
              <a:t>Should the IPFR page be amended? If so, why? </a:t>
            </a:r>
          </a:p>
        </p:txBody>
      </p:sp>
    </p:spTree>
    <p:extLst>
      <p:ext uri="{BB962C8B-B14F-4D97-AF65-F5344CB8AC3E}">
        <p14:creationId xmlns:p14="http://schemas.microsoft.com/office/powerpoint/2010/main" val="2036732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4CAE-2715-5708-190F-98117572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barrier is now willingness, not capability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3FE44-5899-62A9-FFD9-72E4D7500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08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Small, cheap experiments beat big transformation programs. No business case, no vendor, no 18-month roadmap. The enabling condition wasn't money — it was permission to try and tolerance for things not working the first time.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645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98861-CEB5-C15C-3960-AE6DD8B2F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"Ready or not" cuts both ways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11DCA-056E-9255-BD48-3292FD4B4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dirty="0"/>
              <a:t>The more questions you can anticipate, the more likely you are to succeed. Simply, be thoughtful about your implementation.</a:t>
            </a:r>
          </a:p>
          <a:p>
            <a:r>
              <a:rPr lang="en-US" dirty="0"/>
              <a:t>Who maintains code an AI wrote? </a:t>
            </a:r>
          </a:p>
          <a:p>
            <a:r>
              <a:rPr lang="en-US" dirty="0"/>
              <a:t>How do you assure quality, security, and accountability?</a:t>
            </a:r>
          </a:p>
          <a:p>
            <a:r>
              <a:rPr lang="en-US" dirty="0"/>
              <a:t>Developing an enterprise solution is a real engineering and governance problem, not a vibe.</a:t>
            </a:r>
          </a:p>
        </p:txBody>
      </p:sp>
    </p:spTree>
    <p:extLst>
      <p:ext uri="{BB962C8B-B14F-4D97-AF65-F5344CB8AC3E}">
        <p14:creationId xmlns:p14="http://schemas.microsoft.com/office/powerpoint/2010/main" val="1371906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2E331-C00F-D2B3-40DD-91CE37C4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Scaling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96482-47F5-880E-EF3B-82B84E721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150"/>
            <a:ext cx="10515600" cy="4351338"/>
          </a:xfrm>
        </p:spPr>
        <p:txBody>
          <a:bodyPr/>
          <a:lstStyle/>
          <a:p>
            <a:r>
              <a:rPr lang="en-US" dirty="0"/>
              <a:t>(Refer to: Guidance for AI proof of concept to scale [https://www.digital.gov.au/policy/ai/AI-POC-to-scale]).</a:t>
            </a:r>
          </a:p>
          <a:p>
            <a:r>
              <a:rPr lang="en-US" dirty="0"/>
              <a:t>The act of scaling/implementing will likely be the most time and effort you actually spend on the project.</a:t>
            </a:r>
          </a:p>
          <a:p>
            <a:r>
              <a:rPr lang="en-US" dirty="0"/>
              <a:t>There’s a reason this is called ‘building’ at the speed of curiosity and not ‘deploying’ at the speed of curiosity.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77576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1A98-E144-7AD3-F348-767FC3AD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Individual’s disrupting systemic norms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2DD4-C877-10F3-C4DD-CA1C5E83E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36900"/>
          </a:xfrm>
        </p:spPr>
        <p:txBody>
          <a:bodyPr/>
          <a:lstStyle/>
          <a:p>
            <a:r>
              <a:rPr lang="en-US" dirty="0"/>
              <a:t>Building a working solution makes the value proposition clear and much more clearer understanding of the solution’s requirements</a:t>
            </a:r>
          </a:p>
          <a:p>
            <a:r>
              <a:rPr lang="en-US" dirty="0"/>
              <a:t>Building things in this way will apply pressure to </a:t>
            </a:r>
            <a:r>
              <a:rPr lang="en-US" dirty="0" err="1"/>
              <a:t>organisations</a:t>
            </a:r>
            <a:r>
              <a:rPr lang="en-US" dirty="0"/>
              <a:t> to enable iteration and implement processes to onboard bespoke systems.</a:t>
            </a:r>
          </a:p>
          <a:p>
            <a:r>
              <a:rPr lang="en-US" dirty="0"/>
              <a:t>Technology SME’s may throw curveballs at you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83881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A9F2-ABC7-5DB9-A2A8-289909F6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Cone of possibilities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FEA30-122F-C408-4956-6B09A2325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998"/>
            <a:ext cx="10515600" cy="4351338"/>
          </a:xfrm>
        </p:spPr>
        <p:txBody>
          <a:bodyPr/>
          <a:lstStyle/>
          <a:p>
            <a:r>
              <a:rPr lang="en-AU" dirty="0"/>
              <a:t>Individual efforts may only make small changes. </a:t>
            </a:r>
          </a:p>
          <a:p>
            <a:r>
              <a:rPr lang="en-AU" dirty="0"/>
              <a:t>The more individual’s that innovate, the more likely an organisation may and the more likely an organisation is to, the more likely a system is. Only by starting to innovate as individual’s can we hope that our organisation or the systems it adheres to may adopt this kind of rapid development.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E47707-38F7-1405-140C-D21485252C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1" t="22333" r="7687" b="9960"/>
          <a:stretch>
            <a:fillRect/>
          </a:stretch>
        </p:blipFill>
        <p:spPr bwMode="auto">
          <a:xfrm>
            <a:off x="-1" y="3878580"/>
            <a:ext cx="7309951" cy="2833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EA85DC-5AAF-E02F-B19E-9FC02577B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4319240"/>
            <a:ext cx="5787239" cy="225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527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83C85-3C6F-C9D0-37F8-856354A9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2966638"/>
            <a:ext cx="10515600" cy="1325563"/>
          </a:xfrm>
        </p:spPr>
        <p:txBody>
          <a:bodyPr>
            <a:normAutofit/>
          </a:bodyPr>
          <a:lstStyle/>
          <a:p>
            <a:r>
              <a:rPr lang="en-AU" sz="3200" b="1" dirty="0"/>
              <a:t>Keep asking obvious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C1FD4-9EBA-6566-341B-658E44B20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3975042"/>
            <a:ext cx="10515600" cy="2499518"/>
          </a:xfrm>
        </p:spPr>
        <p:txBody>
          <a:bodyPr>
            <a:normAutofit fontScale="77500" lnSpcReduction="20000"/>
          </a:bodyPr>
          <a:lstStyle/>
          <a:p>
            <a:r>
              <a:rPr lang="en-AU" dirty="0"/>
              <a:t>What are the alternatives? What are their pros and cons?</a:t>
            </a:r>
          </a:p>
          <a:p>
            <a:r>
              <a:rPr lang="en-AU" dirty="0"/>
              <a:t>I’m not a programmer, please explain this more simply using an analogy</a:t>
            </a:r>
          </a:p>
          <a:p>
            <a:r>
              <a:rPr lang="en-AU" dirty="0"/>
              <a:t>Is there an existing solution to this or a problem similar to mine?</a:t>
            </a:r>
          </a:p>
          <a:p>
            <a:r>
              <a:rPr lang="en-AU" dirty="0"/>
              <a:t>Is there anything I may have overlooked?</a:t>
            </a:r>
          </a:p>
          <a:p>
            <a:r>
              <a:rPr lang="en-AU" dirty="0"/>
              <a:t>Please conduct an in-depth analysis of what has been done and provide me with a constructive, actionable critique</a:t>
            </a:r>
          </a:p>
          <a:p>
            <a:r>
              <a:rPr lang="en-AU" dirty="0"/>
              <a:t>Ask me lots of questions about this which I haven’t yet addressed. Seriously grill me!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564AC-FAFF-4422-2D77-A4C9A41C8FB3}"/>
              </a:ext>
            </a:extLst>
          </p:cNvPr>
          <p:cNvSpPr txBox="1">
            <a:spLocks/>
          </p:cNvSpPr>
          <p:nvPr/>
        </p:nvSpPr>
        <p:spPr>
          <a:xfrm>
            <a:off x="528637" y="383440"/>
            <a:ext cx="107727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/>
              <a:t>Your time and intelligence is the scarce resource, use it wisely.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7A9CFB-E329-52D6-D712-C281281777C7}"/>
              </a:ext>
            </a:extLst>
          </p:cNvPr>
          <p:cNvSpPr txBox="1">
            <a:spLocks/>
          </p:cNvSpPr>
          <p:nvPr/>
        </p:nvSpPr>
        <p:spPr>
          <a:xfrm>
            <a:off x="785812" y="1349769"/>
            <a:ext cx="10515600" cy="227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Establish your goals and requirements early</a:t>
            </a:r>
          </a:p>
          <a:p>
            <a:pPr lvl="1"/>
            <a:r>
              <a:rPr lang="en-AU" dirty="0"/>
              <a:t>Project brief</a:t>
            </a:r>
          </a:p>
          <a:p>
            <a:pPr lvl="1"/>
            <a:r>
              <a:rPr lang="en-AU" dirty="0"/>
              <a:t>Design brief</a:t>
            </a:r>
          </a:p>
          <a:p>
            <a:pPr lvl="1"/>
            <a:r>
              <a:rPr lang="en-AU" dirty="0"/>
              <a:t>Specifications document</a:t>
            </a:r>
          </a:p>
        </p:txBody>
      </p:sp>
    </p:spTree>
    <p:extLst>
      <p:ext uri="{BB962C8B-B14F-4D97-AF65-F5344CB8AC3E}">
        <p14:creationId xmlns:p14="http://schemas.microsoft.com/office/powerpoint/2010/main" val="3824588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01 Template Instructions">
  <a:themeElements>
    <a:clrScheme name="IP Australia Colour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323E48"/>
      </a:accent1>
      <a:accent2>
        <a:srgbClr val="30AEB6"/>
      </a:accent2>
      <a:accent3>
        <a:srgbClr val="DE4326"/>
      </a:accent3>
      <a:accent4>
        <a:srgbClr val="84C98F"/>
      </a:accent4>
      <a:accent5>
        <a:srgbClr val="F1AC1E"/>
      </a:accent5>
      <a:accent6>
        <a:srgbClr val="1D1A46"/>
      </a:accent6>
      <a:hlink>
        <a:srgbClr val="323E48"/>
      </a:hlink>
      <a:folHlink>
        <a:srgbClr val="30AEB6"/>
      </a:folHlink>
    </a:clrScheme>
    <a:fontScheme name="IP Australia Fonts">
      <a:majorFont>
        <a:latin typeface="Tahom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6E6E6"/>
        </a:solidFill>
        <a:ln>
          <a:noFill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2" id="{A9A70A04-9D9F-44C9-B1F5-16BE8D51516F}" vid="{6A4E1FDE-61E9-48D7-9ADE-C4D8C3F6CC0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552FF6B21D054C897DA953F09932C9" ma:contentTypeVersion="28" ma:contentTypeDescription="Create a new document." ma:contentTypeScope="" ma:versionID="b1496cd7e181afe6180823cec8423570">
  <xsd:schema xmlns:xsd="http://www.w3.org/2001/XMLSchema" xmlns:xs="http://www.w3.org/2001/XMLSchema" xmlns:p="http://schemas.microsoft.com/office/2006/metadata/properties" xmlns:ns2="15ecf9ca-56e7-496a-a0ba-56f3f0e97a38" xmlns:ns3="d0408138-5b4c-4df3-9e62-c268ce5ad134" targetNamespace="http://schemas.microsoft.com/office/2006/metadata/properties" ma:root="true" ma:fieldsID="0b6813fe88bed201db869b511b8ad86d" ns2:_="" ns3:_="">
    <xsd:import namespace="15ecf9ca-56e7-496a-a0ba-56f3f0e97a38"/>
    <xsd:import namespace="d0408138-5b4c-4df3-9e62-c268ce5ad13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kef50b0e48db46eabf3b17ba9e38a774" minOccurs="0"/>
                <xsd:element ref="ns2:TaxCatchAll" minOccurs="0"/>
                <xsd:element ref="ns3:ha68a150a779463ba86bdcf8b4cd5d37" minOccurs="0"/>
                <xsd:element ref="ns3:kcd22347e3bb4e789dff585e1d2dc435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2:SharedWithUsers" minOccurs="0"/>
                <xsd:element ref="ns2:SharedWithDetail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Readytosendy_x002f_n" minOccurs="0"/>
                <xsd:element ref="ns3:SentRhy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ecf9ca-56e7-496a-a0ba-56f3f0e97a38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hidden="true" ma:list="{99112c3d-721e-45cd-9cef-3dea7c799477}" ma:internalName="TaxCatchAll" ma:showField="CatchAllData" ma:web="15ecf9ca-56e7-496a-a0ba-56f3f0e97a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408138-5b4c-4df3-9e62-c268ce5ad134" elementFormDefault="qualified">
    <xsd:import namespace="http://schemas.microsoft.com/office/2006/documentManagement/types"/>
    <xsd:import namespace="http://schemas.microsoft.com/office/infopath/2007/PartnerControls"/>
    <xsd:element name="kef50b0e48db46eabf3b17ba9e38a774" ma:index="12" ma:taxonomy="true" ma:internalName="kef50b0e48db46eabf3b17ba9e38a774" ma:taxonomyFieldName="Protective_x0020_Marking" ma:displayName="Protective Marking" ma:default="1;#Official|4853f9bf-723b-4d78-be55-781858c49d5a" ma:fieldId="{4ef50b0e-48db-46ea-bf3b-17ba9e38a774}" ma:sspId="1400d69b-c4ee-4dab-8955-6fb8aa649365" ma:termSetId="097b9bd7-9625-44c0-bf7b-b786f477a60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a68a150a779463ba86bdcf8b4cd5d37" ma:index="15" ma:taxonomy="true" ma:internalName="ha68a150a779463ba86bdcf8b4cd5d37" ma:taxonomyFieldName="Disposal_x0020_Class" ma:displayName="Disposal Class" ma:default="2;#62625|f8c64807-6b86-4213-8e81-7e150d16f081" ma:fieldId="{1a68a150-a779-463b-a86b-dcf8b4cd5d37}" ma:sspId="1400d69b-c4ee-4dab-8955-6fb8aa649365" ma:termSetId="fa51789b-4566-4725-8c81-830dbb1c333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d22347e3bb4e789dff585e1d2dc435" ma:index="17" nillable="true" ma:taxonomy="true" ma:internalName="kcd22347e3bb4e789dff585e1d2dc435" ma:taxonomyFieldName="DLM" ma:displayName="DLM" ma:default="" ma:fieldId="{4cd22347-e3bb-4e78-9dff-585e1d2dc435}" ma:sspId="1400d69b-c4ee-4dab-8955-6fb8aa649365" ma:termSetId="e9c921e6-90aa-41dc-8d49-0d388ba89ad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Metadata" ma:index="1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24" nillable="true" ma:displayName="Tags" ma:internalName="MediaServiceAutoTags" ma:readOnly="true">
      <xsd:simpleType>
        <xsd:restriction base="dms:Text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9" nillable="true" ma:taxonomy="true" ma:internalName="lcf76f155ced4ddcb4097134ff3c332f" ma:taxonomyFieldName="MediaServiceImageTags" ma:displayName="Image Tags" ma:readOnly="false" ma:fieldId="{5cf76f15-5ced-4ddc-b409-7134ff3c332f}" ma:taxonomyMulti="true" ma:sspId="1400d69b-c4ee-4dab-8955-6fb8aa6493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3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31" nillable="true" ma:displayName="Location" ma:internalName="MediaServiceLocation" ma:readOnly="true">
      <xsd:simpleType>
        <xsd:restriction base="dms:Text"/>
      </xsd:simpleType>
    </xsd:element>
    <xsd:element name="MediaLengthInSeconds" ma:index="3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3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5" nillable="true" ma:displayName="MediaServiceBillingMetadata" ma:hidden="true" ma:internalName="MediaServiceBillingMetadata" ma:readOnly="true">
      <xsd:simpleType>
        <xsd:restriction base="dms:Note"/>
      </xsd:simpleType>
    </xsd:element>
    <xsd:element name="Readytosendy_x002f_n" ma:index="36" nillable="true" ma:displayName="Ready to send y/n" ma:internalName="Readytosendy_x002f_n">
      <xsd:simpleType>
        <xsd:restriction base="dms:Text">
          <xsd:maxLength value="255"/>
        </xsd:restriction>
      </xsd:simpleType>
    </xsd:element>
    <xsd:element name="SentRhys" ma:index="37" nillable="true" ma:displayName="Sent Rhys" ma:format="Dropdown" ma:internalName="SentRhys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adytosendy_x002f_n xmlns="d0408138-5b4c-4df3-9e62-c268ce5ad134" xsi:nil="true"/>
    <SentRhys xmlns="d0408138-5b4c-4df3-9e62-c268ce5ad134" xsi:nil="true"/>
    <lcf76f155ced4ddcb4097134ff3c332f xmlns="d0408138-5b4c-4df3-9e62-c268ce5ad134">
      <Terms xmlns="http://schemas.microsoft.com/office/infopath/2007/PartnerControls"/>
    </lcf76f155ced4ddcb4097134ff3c332f>
    <ha68a150a779463ba86bdcf8b4cd5d37 xmlns="d0408138-5b4c-4df3-9e62-c268ce5ad1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62625</TermName>
          <TermId xmlns="http://schemas.microsoft.com/office/infopath/2007/PartnerControls">f8c64807-6b86-4213-8e81-7e150d16f081</TermId>
        </TermInfo>
      </Terms>
    </ha68a150a779463ba86bdcf8b4cd5d37>
    <TaxCatchAll xmlns="15ecf9ca-56e7-496a-a0ba-56f3f0e97a38">
      <Value>2</Value>
      <Value>1</Value>
    </TaxCatchAll>
    <kcd22347e3bb4e789dff585e1d2dc435 xmlns="d0408138-5b4c-4df3-9e62-c268ce5ad134">
      <Terms xmlns="http://schemas.microsoft.com/office/infopath/2007/PartnerControls"/>
    </kcd22347e3bb4e789dff585e1d2dc435>
    <kef50b0e48db46eabf3b17ba9e38a774 xmlns="d0408138-5b4c-4df3-9e62-c268ce5ad1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Official</TermName>
          <TermId xmlns="http://schemas.microsoft.com/office/infopath/2007/PartnerControls">4853f9bf-723b-4d78-be55-781858c49d5a</TermId>
        </TermInfo>
      </Terms>
    </kef50b0e48db46eabf3b17ba9e38a774>
    <_dlc_DocId xmlns="15ecf9ca-56e7-496a-a0ba-56f3f0e97a38">A6SYCQ5DCTPK-1944563297-11965</_dlc_DocId>
    <_dlc_DocIdUrl xmlns="15ecf9ca-56e7-496a-a0ba-56f3f0e97a38">
      <Url>https://ipagov.sharepoint.com/sites/IPAVentures/_layouts/15/DocIdRedir.aspx?ID=A6SYCQ5DCTPK-1944563297-11965</Url>
      <Description>A6SYCQ5DCTPK-1944563297-11965</Description>
    </_dlc_DocIdUrl>
  </documentManagement>
</p:properties>
</file>

<file path=customXml/itemProps1.xml><?xml version="1.0" encoding="utf-8"?>
<ds:datastoreItem xmlns:ds="http://schemas.openxmlformats.org/officeDocument/2006/customXml" ds:itemID="{BD62AA86-8923-4302-9E49-1A5324FBE8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ecf9ca-56e7-496a-a0ba-56f3f0e97a38"/>
    <ds:schemaRef ds:uri="d0408138-5b4c-4df3-9e62-c268ce5ad1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C2ED6F-83C7-4CD4-969A-6D2A921DCA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8A5D01-0D32-463F-8B3E-99A2F42FD86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316EE06B-D172-42B4-B744-5E84B7770AD8}">
  <ds:schemaRefs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d0408138-5b4c-4df3-9e62-c268ce5ad134"/>
    <ds:schemaRef ds:uri="15ecf9ca-56e7-496a-a0ba-56f3f0e97a3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1447</Words>
  <Application>Microsoft Office PowerPoint</Application>
  <PresentationFormat>Widescreen</PresentationFormat>
  <Paragraphs>183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Century Gothic</vt:lpstr>
      <vt:lpstr>Monaspace Neon</vt:lpstr>
      <vt:lpstr>Tahoma</vt:lpstr>
      <vt:lpstr>Office Theme</vt:lpstr>
      <vt:lpstr>01 Template Instructions</vt:lpstr>
      <vt:lpstr>Building at the speed of curiosity</vt:lpstr>
      <vt:lpstr>What I hope you’ll take away</vt:lpstr>
      <vt:lpstr>Acknowledgement of country</vt:lpstr>
      <vt:lpstr>What I’ll be covering</vt:lpstr>
      <vt:lpstr>About me</vt:lpstr>
      <vt:lpstr>About IPAV</vt:lpstr>
      <vt:lpstr>About IP First Response</vt:lpstr>
      <vt:lpstr>The two maintenance problems</vt:lpstr>
      <vt:lpstr>Introduce both solutions</vt:lpstr>
      <vt:lpstr>PowerPoint Presentation</vt:lpstr>
      <vt:lpstr>We can already use copilot and system prompts</vt:lpstr>
      <vt:lpstr>The problem: An impractical number of rules</vt:lpstr>
      <vt:lpstr>Octavius</vt:lpstr>
      <vt:lpstr>Octavius</vt:lpstr>
      <vt:lpstr>We rapidly scaled up</vt:lpstr>
      <vt:lpstr>Extracting individual rules</vt:lpstr>
      <vt:lpstr>Generate – Validate – Regenerate </vt:lpstr>
      <vt:lpstr>Scaling the rulebook surfaced fundamental issues</vt:lpstr>
      <vt:lpstr>We know a lot more now than when we started</vt:lpstr>
      <vt:lpstr>Tripwire Title page</vt:lpstr>
      <vt:lpstr>Tripwire origins – The AI steward dashboard</vt:lpstr>
      <vt:lpstr>PowerPoint Presentation</vt:lpstr>
      <vt:lpstr>Tripwire in action</vt:lpstr>
      <vt:lpstr>Fundamental purpose of RAG</vt:lpstr>
      <vt:lpstr>Tripwire</vt:lpstr>
      <vt:lpstr>Influenced vs influencer</vt:lpstr>
      <vt:lpstr>How different influencers are captured</vt:lpstr>
      <vt:lpstr>Quick explainer of semantic representation</vt:lpstr>
      <vt:lpstr>How the ‘influenced’ site is captured (pt 1)</vt:lpstr>
      <vt:lpstr>How the ‘influenced’ site is captured (pt 2)</vt:lpstr>
      <vt:lpstr>Tripwire seeks to answer</vt:lpstr>
      <vt:lpstr>Detection and pre-processing</vt:lpstr>
      <vt:lpstr>Hybrid retrieval and filtering (coarse)</vt:lpstr>
      <vt:lpstr>Hybrid retrieval and filtering (precise)</vt:lpstr>
      <vt:lpstr>Assessment and alerting</vt:lpstr>
      <vt:lpstr>The barrier is now willingness, not capability</vt:lpstr>
      <vt:lpstr>"Ready or not" cuts both ways</vt:lpstr>
      <vt:lpstr>Scaling solutions</vt:lpstr>
      <vt:lpstr>Individual’s disrupting systemic norms</vt:lpstr>
      <vt:lpstr>Cone of possibilities</vt:lpstr>
      <vt:lpstr>Keep asking obvious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Amann</dc:creator>
  <cp:lastModifiedBy>Thomas Amann</cp:lastModifiedBy>
  <cp:revision>3</cp:revision>
  <dcterms:created xsi:type="dcterms:W3CDTF">2026-06-10T01:44:56Z</dcterms:created>
  <dcterms:modified xsi:type="dcterms:W3CDTF">2026-07-15T03:53:07Z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17a1598-6906-4e90-a6e7-c88804991a4d_Enabled">
    <vt:lpwstr>true</vt:lpwstr>
  </property>
  <property fmtid="{D5CDD505-2E9C-101B-9397-08002B2CF9AE}" pid="3" name="MSIP_Label_917a1598-6906-4e90-a6e7-c88804991a4d_SetDate">
    <vt:lpwstr>2026-06-10T01:51:06Z</vt:lpwstr>
  </property>
  <property fmtid="{D5CDD505-2E9C-101B-9397-08002B2CF9AE}" pid="4" name="MSIP_Label_917a1598-6906-4e90-a6e7-c88804991a4d_Method">
    <vt:lpwstr>Privileged</vt:lpwstr>
  </property>
  <property fmtid="{D5CDD505-2E9C-101B-9397-08002B2CF9AE}" pid="5" name="MSIP_Label_917a1598-6906-4e90-a6e7-c88804991a4d_Name">
    <vt:lpwstr>OFFICIAL - No markings</vt:lpwstr>
  </property>
  <property fmtid="{D5CDD505-2E9C-101B-9397-08002B2CF9AE}" pid="6" name="MSIP_Label_917a1598-6906-4e90-a6e7-c88804991a4d_SiteId">
    <vt:lpwstr>1eae4a1d-fcf5-4be9-81d4-b60976404837</vt:lpwstr>
  </property>
  <property fmtid="{D5CDD505-2E9C-101B-9397-08002B2CF9AE}" pid="7" name="MSIP_Label_917a1598-6906-4e90-a6e7-c88804991a4d_ActionId">
    <vt:lpwstr>8dfb33cf-427e-4c0d-8703-6a3ec1271c7d</vt:lpwstr>
  </property>
  <property fmtid="{D5CDD505-2E9C-101B-9397-08002B2CF9AE}" pid="8" name="MSIP_Label_917a1598-6906-4e90-a6e7-c88804991a4d_ContentBits">
    <vt:lpwstr>0</vt:lpwstr>
  </property>
  <property fmtid="{D5CDD505-2E9C-101B-9397-08002B2CF9AE}" pid="9" name="MSIP_Label_917a1598-6906-4e90-a6e7-c88804991a4d_Tag">
    <vt:lpwstr>10, 0, 1, 1</vt:lpwstr>
  </property>
  <property fmtid="{D5CDD505-2E9C-101B-9397-08002B2CF9AE}" pid="10" name="ContentTypeId">
    <vt:lpwstr>0x01010087552FF6B21D054C897DA953F09932C9</vt:lpwstr>
  </property>
  <property fmtid="{D5CDD505-2E9C-101B-9397-08002B2CF9AE}" pid="11" name="Protective Marking">
    <vt:lpwstr>1;#Official|4853f9bf-723b-4d78-be55-781858c49d5a</vt:lpwstr>
  </property>
  <property fmtid="{D5CDD505-2E9C-101B-9397-08002B2CF9AE}" pid="12" name="DLM">
    <vt:lpwstr/>
  </property>
  <property fmtid="{D5CDD505-2E9C-101B-9397-08002B2CF9AE}" pid="13" name="_dlc_DocIdItemGuid">
    <vt:lpwstr>904c47fa-3335-4340-9712-67a97b26e2bc</vt:lpwstr>
  </property>
  <property fmtid="{D5CDD505-2E9C-101B-9397-08002B2CF9AE}" pid="14" name="MediaServiceImageTags">
    <vt:lpwstr/>
  </property>
  <property fmtid="{D5CDD505-2E9C-101B-9397-08002B2CF9AE}" pid="15" name="Disposal Class">
    <vt:lpwstr>2;#62625|f8c64807-6b86-4213-8e81-7e150d16f081</vt:lpwstr>
  </property>
  <property fmtid="{D5CDD505-2E9C-101B-9397-08002B2CF9AE}" pid="16" name="Disposal_x0020_Class">
    <vt:lpwstr>2;#62625|f8c64807-6b86-4213-8e81-7e150d16f081</vt:lpwstr>
  </property>
  <property fmtid="{D5CDD505-2E9C-101B-9397-08002B2CF9AE}" pid="17" name="Protective_x0020_Marking">
    <vt:lpwstr>1;#Official|4853f9bf-723b-4d78-be55-781858c49d5a</vt:lpwstr>
  </property>
</Properties>
</file>