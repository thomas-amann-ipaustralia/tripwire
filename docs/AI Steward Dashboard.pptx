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Steward Dashboard is a three-part automated pipeline. (1) A curated set of government and private-sector AI policy pages is monitored. (2) main.py scrapes each page with Selenium-stealth, extracts the content and computes an MD5 hash, comparing it to the stored hash to detect changes. (3) When a page changes, the old and new content are sent to Google Gemini 2.5 Flash, which returns a plain-language summary, a markdown analysis and a priority rating (critical/high/medium/low), saved as JSON. (4) A React single-page app reads the data and publishes a searchable dashboard grouped by category with detail pages, change history and priority badges. The whole thing is orchestrated by GitHub Actions daily: run scraper, commit new snapshots/analyses, rebuild the React app and deploy to GitHub Pages. Unchanged pages never call the LLM, keeping cost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Steward Dashboard</a:t>
            </a:r>
            <a:pPr algn="l" indent="0" marL="0">
              <a:buNone/>
            </a:pPr>
            <a:r>
              <a:rPr lang="en-US" sz="20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original Tripwire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pipeline turns a policy-page edit into a prioritised, searchable alert for the APS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720072" y="402336"/>
            <a:ext cx="2011680" cy="658368"/>
          </a:xfrm>
          <a:prstGeom prst="roundRect">
            <a:avLst>
              <a:gd name="adj" fmla="val 12500"/>
            </a:avLst>
          </a:prstGeom>
          <a:solidFill>
            <a:srgbClr val="18263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02952" y="603504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10104120" y="4572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dashboard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2468880" cy="2761488"/>
          </a:xfrm>
          <a:prstGeom prst="roundRect">
            <a:avLst>
              <a:gd name="adj" fmla="val 3704"/>
            </a:avLst>
          </a:prstGeom>
          <a:solidFill>
            <a:srgbClr val="18263F"/>
          </a:solidFill>
          <a:ln w="12700">
            <a:solidFill>
              <a:srgbClr val="2C3E5F"/>
            </a:solidFill>
            <a:prstDash val="solid"/>
          </a:ln>
          <a:effectLst>
            <a:outerShdw sx="100000" sy="100000" kx="0" ky="0" algn="bl" rotWithShape="0" blurRad="101600" dist="38100" dir="5400000">
              <a:srgbClr val="060B14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16736" y="1700784"/>
            <a:ext cx="749808" cy="74980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27000" dist="50800" dir="5400000">
              <a:srgbClr val="38BDF8">
                <a:alpha val="4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8470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542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7614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sources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1792" y="3108960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set of government &amp; private-sector AI policy and terms pages, defined in policy_sets.json.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" y="3877056"/>
            <a:ext cx="682752" cy="274320"/>
          </a:xfrm>
          <a:prstGeom prst="roundRect">
            <a:avLst>
              <a:gd name="adj" fmla="val 16667"/>
            </a:avLst>
          </a:prstGeom>
          <a:solidFill>
            <a:srgbClr val="22344F"/>
          </a:solidFill>
          <a:ln w="9525">
            <a:solidFill>
              <a:srgbClr val="2C3E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877056"/>
            <a:ext cx="682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Aust. Gov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350264" y="3877056"/>
            <a:ext cx="682752" cy="274320"/>
          </a:xfrm>
          <a:prstGeom prst="roundRect">
            <a:avLst>
              <a:gd name="adj" fmla="val 16667"/>
            </a:avLst>
          </a:prstGeom>
          <a:solidFill>
            <a:srgbClr val="22344F"/>
          </a:solidFill>
          <a:ln w="9525">
            <a:solidFill>
              <a:srgbClr val="2C3E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50264" y="3877056"/>
            <a:ext cx="682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Gov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06168" y="3877056"/>
            <a:ext cx="682752" cy="274320"/>
          </a:xfrm>
          <a:prstGeom prst="roundRect">
            <a:avLst>
              <a:gd name="adj" fmla="val 16667"/>
            </a:avLst>
          </a:prstGeom>
          <a:solidFill>
            <a:srgbClr val="22344F"/>
          </a:solidFill>
          <a:ln w="9525">
            <a:solidFill>
              <a:srgbClr val="2C3E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06168" y="3877056"/>
            <a:ext cx="682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392424" y="1481328"/>
            <a:ext cx="2468880" cy="2761488"/>
          </a:xfrm>
          <a:prstGeom prst="roundRect">
            <a:avLst>
              <a:gd name="adj" fmla="val 3704"/>
            </a:avLst>
          </a:prstGeom>
          <a:solidFill>
            <a:srgbClr val="18263F"/>
          </a:solidFill>
          <a:ln w="12700">
            <a:solidFill>
              <a:srgbClr val="2C3E5F"/>
            </a:solidFill>
            <a:prstDash val="solid"/>
          </a:ln>
          <a:effectLst>
            <a:outerShdw sx="100000" sy="100000" kx="0" ky="0" algn="bl" rotWithShape="0" blurRad="101600" dist="38100" dir="5400000">
              <a:srgbClr val="060B14">
                <a:alpha val="5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251960" y="1700784"/>
            <a:ext cx="749808" cy="74980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27000" dist="50800" dir="5400000">
              <a:srgbClr val="22D3EE">
                <a:alpha val="45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83664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92424" y="2542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92424" y="27614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&amp; detect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3557016" y="3108960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fetches each URL with Selenium-stealth (proxy fallback), extracts the content and MD5-hashes it.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529584" y="3877056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22344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29584" y="3877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hash ≠ stored hash  →  changed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6327648" y="1481328"/>
            <a:ext cx="2468880" cy="2761488"/>
          </a:xfrm>
          <a:prstGeom prst="roundRect">
            <a:avLst>
              <a:gd name="adj" fmla="val 3704"/>
            </a:avLst>
          </a:prstGeom>
          <a:solidFill>
            <a:srgbClr val="18263F"/>
          </a:solidFill>
          <a:ln w="12700">
            <a:solidFill>
              <a:srgbClr val="2C3E5F"/>
            </a:solidFill>
            <a:prstDash val="solid"/>
          </a:ln>
          <a:effectLst>
            <a:outerShdw sx="100000" sy="100000" kx="0" ky="0" algn="bl" rotWithShape="0" blurRad="101600" dist="38100" dir="5400000">
              <a:srgbClr val="060B14">
                <a:alpha val="5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187184" y="1700784"/>
            <a:ext cx="749808" cy="749808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27000" dist="50800" dir="5400000">
              <a:srgbClr val="A78BFA">
                <a:alpha val="45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847088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27648" y="2542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327648" y="27614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6492240" y="3108960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a change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old + new text go to Gemini 2.5 Flash, which returns a summary, analysis &amp; priority.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464808" y="3877056"/>
            <a:ext cx="507492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34" name="Text 29"/>
          <p:cNvSpPr/>
          <p:nvPr/>
        </p:nvSpPr>
        <p:spPr>
          <a:xfrm>
            <a:off x="6464808" y="3877056"/>
            <a:ext cx="5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7027164" y="3877056"/>
            <a:ext cx="507492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36" name="Text 31"/>
          <p:cNvSpPr/>
          <p:nvPr/>
        </p:nvSpPr>
        <p:spPr>
          <a:xfrm>
            <a:off x="7027164" y="3877056"/>
            <a:ext cx="5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7589520" y="3877056"/>
            <a:ext cx="507492" cy="27432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/>
        </p:spPr>
      </p:sp>
      <p:sp>
        <p:nvSpPr>
          <p:cNvPr id="38" name="Text 33"/>
          <p:cNvSpPr/>
          <p:nvPr/>
        </p:nvSpPr>
        <p:spPr>
          <a:xfrm>
            <a:off x="7589520" y="3877056"/>
            <a:ext cx="5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8151876" y="3877056"/>
            <a:ext cx="507492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40" name="Text 35"/>
          <p:cNvSpPr/>
          <p:nvPr/>
        </p:nvSpPr>
        <p:spPr>
          <a:xfrm>
            <a:off x="8151876" y="3877056"/>
            <a:ext cx="5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1" name="Shape 36"/>
          <p:cNvSpPr/>
          <p:nvPr/>
        </p:nvSpPr>
        <p:spPr>
          <a:xfrm>
            <a:off x="9262872" y="1481328"/>
            <a:ext cx="2468880" cy="2761488"/>
          </a:xfrm>
          <a:prstGeom prst="roundRect">
            <a:avLst>
              <a:gd name="adj" fmla="val 3704"/>
            </a:avLst>
          </a:prstGeom>
          <a:solidFill>
            <a:srgbClr val="18263F"/>
          </a:solidFill>
          <a:ln w="12700">
            <a:solidFill>
              <a:srgbClr val="2C3E5F"/>
            </a:solidFill>
            <a:prstDash val="solid"/>
          </a:ln>
          <a:effectLst>
            <a:outerShdw sx="100000" sy="100000" kx="0" ky="0" algn="bl" rotWithShape="0" blurRad="101600" dist="38100" dir="5400000">
              <a:srgbClr val="060B14">
                <a:alpha val="5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10122408" y="1700784"/>
            <a:ext cx="749808" cy="749808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27000" dist="50800" dir="5400000">
              <a:srgbClr val="34D399">
                <a:alpha val="45000"/>
              </a:srgbClr>
            </a:outerShdw>
          </a:effectLst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1847088"/>
            <a:ext cx="457200" cy="45720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262872" y="2542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9262872" y="27614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9427464" y="3108960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app reads the JSON and shows policies by category, detail pages, change history &amp; badges.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9400032" y="3877056"/>
            <a:ext cx="682752" cy="274320"/>
          </a:xfrm>
          <a:prstGeom prst="roundRect">
            <a:avLst>
              <a:gd name="adj" fmla="val 16667"/>
            </a:avLst>
          </a:prstGeom>
          <a:solidFill>
            <a:srgbClr val="22344F"/>
          </a:solidFill>
          <a:ln w="9525">
            <a:solidFill>
              <a:srgbClr val="2C3E5F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9400032" y="3877056"/>
            <a:ext cx="682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10155936" y="3877056"/>
            <a:ext cx="682752" cy="274320"/>
          </a:xfrm>
          <a:prstGeom prst="roundRect">
            <a:avLst>
              <a:gd name="adj" fmla="val 16667"/>
            </a:avLst>
          </a:prstGeom>
          <a:solidFill>
            <a:srgbClr val="22344F"/>
          </a:solidFill>
          <a:ln w="9525">
            <a:solidFill>
              <a:srgbClr val="2C3E5F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10155936" y="3877056"/>
            <a:ext cx="682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10911840" y="3877056"/>
            <a:ext cx="682752" cy="274320"/>
          </a:xfrm>
          <a:prstGeom prst="roundRect">
            <a:avLst>
              <a:gd name="adj" fmla="val 16667"/>
            </a:avLst>
          </a:prstGeom>
          <a:solidFill>
            <a:srgbClr val="22344F"/>
          </a:solidFill>
          <a:ln w="9525">
            <a:solidFill>
              <a:srgbClr val="2C3E5F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10911840" y="3877056"/>
            <a:ext cx="682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800" dirty="0"/>
          </a:p>
        </p:txBody>
      </p:sp>
      <p:sp>
        <p:nvSpPr>
          <p:cNvPr id="53" name="Shape 47"/>
          <p:cNvSpPr/>
          <p:nvPr/>
        </p:nvSpPr>
        <p:spPr>
          <a:xfrm>
            <a:off x="2939796" y="2660904"/>
            <a:ext cx="438912" cy="402336"/>
          </a:xfrm>
          <a:prstGeom prst="chevron">
            <a:avLst/>
          </a:prstGeom>
          <a:solidFill>
            <a:srgbClr val="2DD4BF"/>
          </a:solidFill>
          <a:ln/>
        </p:spPr>
      </p:sp>
      <p:sp>
        <p:nvSpPr>
          <p:cNvPr id="54" name="Shape 48"/>
          <p:cNvSpPr/>
          <p:nvPr/>
        </p:nvSpPr>
        <p:spPr>
          <a:xfrm>
            <a:off x="5875020" y="2660904"/>
            <a:ext cx="438912" cy="402336"/>
          </a:xfrm>
          <a:prstGeom prst="chevron">
            <a:avLst/>
          </a:prstGeom>
          <a:solidFill>
            <a:srgbClr val="2DD4BF"/>
          </a:solidFill>
          <a:ln/>
        </p:spPr>
      </p:sp>
      <p:sp>
        <p:nvSpPr>
          <p:cNvPr id="55" name="Shape 49"/>
          <p:cNvSpPr/>
          <p:nvPr/>
        </p:nvSpPr>
        <p:spPr>
          <a:xfrm>
            <a:off x="8810244" y="2660904"/>
            <a:ext cx="438912" cy="402336"/>
          </a:xfrm>
          <a:prstGeom prst="chevron">
            <a:avLst/>
          </a:prstGeom>
          <a:solidFill>
            <a:srgbClr val="2DD4BF"/>
          </a:solidFill>
          <a:ln/>
        </p:spPr>
      </p:sp>
      <p:sp>
        <p:nvSpPr>
          <p:cNvPr id="56" name="Shape 50"/>
          <p:cNvSpPr/>
          <p:nvPr/>
        </p:nvSpPr>
        <p:spPr>
          <a:xfrm>
            <a:off x="457200" y="4617720"/>
            <a:ext cx="11274552" cy="1170432"/>
          </a:xfrm>
          <a:prstGeom prst="roundRect">
            <a:avLst>
              <a:gd name="adj" fmla="val 7813"/>
            </a:avLst>
          </a:prstGeom>
          <a:solidFill>
            <a:srgbClr val="13203A"/>
          </a:solidFill>
          <a:ln w="12700">
            <a:solidFill>
              <a:srgbClr val="2C3E5F"/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28616"/>
            <a:ext cx="548640" cy="548640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1463040" y="4837176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GitHub Actions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daily at 00:00 UTC — no change means no LLM call, so cost stays low</a:t>
            </a:r>
            <a:endParaRPr lang="en-US" sz="1300" dirty="0"/>
          </a:p>
        </p:txBody>
      </p:sp>
      <p:sp>
        <p:nvSpPr>
          <p:cNvPr id="59" name="Shape 52"/>
          <p:cNvSpPr/>
          <p:nvPr/>
        </p:nvSpPr>
        <p:spPr>
          <a:xfrm>
            <a:off x="5029200" y="4910328"/>
            <a:ext cx="1417320" cy="585216"/>
          </a:xfrm>
          <a:prstGeom prst="roundRect">
            <a:avLst>
              <a:gd name="adj" fmla="val 12500"/>
            </a:avLst>
          </a:prstGeom>
          <a:solidFill>
            <a:srgbClr val="18263F"/>
          </a:solidFill>
          <a:ln w="9525">
            <a:solidFill>
              <a:srgbClr val="2C3E5F"/>
            </a:solidFill>
            <a:prstDash val="solid"/>
          </a:ln>
        </p:spPr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4" y="5093208"/>
            <a:ext cx="219456" cy="219456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5431536" y="4910328"/>
            <a:ext cx="960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scraper</a:t>
            </a:r>
            <a:endParaRPr lang="en-US" sz="950" dirty="0"/>
          </a:p>
        </p:txBody>
      </p:sp>
      <p:sp>
        <p:nvSpPr>
          <p:cNvPr id="62" name="Text 54"/>
          <p:cNvSpPr/>
          <p:nvPr/>
        </p:nvSpPr>
        <p:spPr>
          <a:xfrm>
            <a:off x="6428232" y="4910328"/>
            <a:ext cx="292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3" name="Shape 55"/>
          <p:cNvSpPr/>
          <p:nvPr/>
        </p:nvSpPr>
        <p:spPr>
          <a:xfrm>
            <a:off x="6739128" y="4910328"/>
            <a:ext cx="1417320" cy="585216"/>
          </a:xfrm>
          <a:prstGeom prst="roundRect">
            <a:avLst>
              <a:gd name="adj" fmla="val 12500"/>
            </a:avLst>
          </a:prstGeom>
          <a:solidFill>
            <a:srgbClr val="18263F"/>
          </a:solidFill>
          <a:ln w="9525">
            <a:solidFill>
              <a:srgbClr val="2C3E5F"/>
            </a:solidFill>
            <a:prstDash val="solid"/>
          </a:ln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432" y="5093208"/>
            <a:ext cx="219456" cy="219456"/>
          </a:xfrm>
          <a:prstGeom prst="rect">
            <a:avLst/>
          </a:prstGeom>
        </p:spPr>
      </p:pic>
      <p:sp>
        <p:nvSpPr>
          <p:cNvPr id="65" name="Text 56"/>
          <p:cNvSpPr/>
          <p:nvPr/>
        </p:nvSpPr>
        <p:spPr>
          <a:xfrm>
            <a:off x="7141464" y="4910328"/>
            <a:ext cx="960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data</a:t>
            </a:r>
            <a:endParaRPr lang="en-US" sz="950" dirty="0"/>
          </a:p>
        </p:txBody>
      </p:sp>
      <p:sp>
        <p:nvSpPr>
          <p:cNvPr id="66" name="Text 57"/>
          <p:cNvSpPr/>
          <p:nvPr/>
        </p:nvSpPr>
        <p:spPr>
          <a:xfrm>
            <a:off x="8138160" y="4910328"/>
            <a:ext cx="292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7" name="Shape 58"/>
          <p:cNvSpPr/>
          <p:nvPr/>
        </p:nvSpPr>
        <p:spPr>
          <a:xfrm>
            <a:off x="8449056" y="4910328"/>
            <a:ext cx="1417320" cy="585216"/>
          </a:xfrm>
          <a:prstGeom prst="roundRect">
            <a:avLst>
              <a:gd name="adj" fmla="val 12500"/>
            </a:avLst>
          </a:prstGeom>
          <a:solidFill>
            <a:srgbClr val="18263F"/>
          </a:solidFill>
          <a:ln w="9525">
            <a:solidFill>
              <a:srgbClr val="2C3E5F"/>
            </a:solidFill>
            <a:prstDash val="solid"/>
          </a:ln>
        </p:spPr>
      </p:sp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5093208"/>
            <a:ext cx="219456" cy="219456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8851392" y="4910328"/>
            <a:ext cx="960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app</a:t>
            </a:r>
            <a:endParaRPr lang="en-US" sz="950" dirty="0"/>
          </a:p>
        </p:txBody>
      </p:sp>
      <p:sp>
        <p:nvSpPr>
          <p:cNvPr id="70" name="Text 60"/>
          <p:cNvSpPr/>
          <p:nvPr/>
        </p:nvSpPr>
        <p:spPr>
          <a:xfrm>
            <a:off x="9848088" y="4910328"/>
            <a:ext cx="292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1" name="Shape 61"/>
          <p:cNvSpPr/>
          <p:nvPr/>
        </p:nvSpPr>
        <p:spPr>
          <a:xfrm>
            <a:off x="10158984" y="4910328"/>
            <a:ext cx="1417320" cy="585216"/>
          </a:xfrm>
          <a:prstGeom prst="roundRect">
            <a:avLst>
              <a:gd name="adj" fmla="val 12500"/>
            </a:avLst>
          </a:prstGeom>
          <a:solidFill>
            <a:srgbClr val="18263F"/>
          </a:solidFill>
          <a:ln w="9525">
            <a:solidFill>
              <a:srgbClr val="2C3E5F"/>
            </a:solidFill>
            <a:prstDash val="solid"/>
          </a:ln>
        </p:spPr>
      </p:sp>
      <p:pic>
        <p:nvPicPr>
          <p:cNvPr id="7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5288" y="5093208"/>
            <a:ext cx="219456" cy="219456"/>
          </a:xfrm>
          <a:prstGeom prst="rect">
            <a:avLst/>
          </a:prstGeom>
        </p:spPr>
      </p:pic>
      <p:sp>
        <p:nvSpPr>
          <p:cNvPr id="73" name="Text 62"/>
          <p:cNvSpPr/>
          <p:nvPr/>
        </p:nvSpPr>
        <p:spPr>
          <a:xfrm>
            <a:off x="10561320" y="4910328"/>
            <a:ext cx="960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Pages</a:t>
            </a:r>
            <a:endParaRPr lang="en-US" sz="950" dirty="0"/>
          </a:p>
        </p:txBody>
      </p:sp>
      <p:sp>
        <p:nvSpPr>
          <p:cNvPr id="74" name="Text 63"/>
          <p:cNvSpPr/>
          <p:nvPr/>
        </p:nvSpPr>
        <p:spPr>
          <a:xfrm>
            <a:off x="457200" y="59893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by design:  </a:t>
            </a:r>
            <a:pPr algn="l" indent="0" marL="0">
              <a:buNone/>
            </a:pPr>
            <a:r>
              <a:rPr lang="en-US" sz="1000" dirty="0">
                <a:solidFill>
                  <a:srgbClr val="6C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pages are skipped entirely · every past version is archived under logs/ for a full change history</a:t>
            </a:r>
            <a:endParaRPr lang="en-US" sz="1000" dirty="0"/>
          </a:p>
        </p:txBody>
      </p:sp>
      <p:sp>
        <p:nvSpPr>
          <p:cNvPr id="75" name="Text 64"/>
          <p:cNvSpPr/>
          <p:nvPr/>
        </p:nvSpPr>
        <p:spPr>
          <a:xfrm>
            <a:off x="8412480" y="598932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C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thomas-amann-ipaustralia.github.io/ai-steward-dashboard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2026-07-23T15:43:30Z</dcterms:created>
  <dcterms:modified xsi:type="dcterms:W3CDTF">2026-07-23T15:43:30Z</dcterms:modified>
</cp:coreProperties>
</file>