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spc="200" kern="0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521208" y="9692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9-Stage Filter-Funnel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42646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IP-monitoring pipeline that reserves expensive analysis for the few changes that survive cheaper upstream gates.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8640" cy="548640"/>
          </a:xfrm>
          <a:prstGeom prst="ellipse">
            <a:avLst/>
          </a:prstGeom>
          <a:solidFill>
            <a:srgbClr val="273A7A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22567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066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PRE-PROCESSING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989320" y="2066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1–3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70432" y="2414016"/>
            <a:ext cx="6190488" cy="0"/>
          </a:xfrm>
          <a:prstGeom prst="line">
            <a:avLst/>
          </a:prstGeom>
          <a:noFill/>
          <a:ln w="12700">
            <a:solidFill>
              <a:srgbClr val="D6D4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Metadata Probe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Cheapest signals detect if a source changed.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70432" y="28117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Change Detection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Hash + word-diff filter out cosmetic edits.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70432" y="31181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Diff Generation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clean, normalised diff per source type.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3602736"/>
            <a:ext cx="548640" cy="548640"/>
          </a:xfrm>
          <a:prstGeom prst="ellipse">
            <a:avLst/>
          </a:prstGeom>
          <a:solidFill>
            <a:srgbClr val="3B5AA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" y="3756355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3566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FILTERING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989320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4–6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170432" y="3913632"/>
            <a:ext cx="6190488" cy="0"/>
          </a:xfrm>
          <a:prstGeom prst="line">
            <a:avLst/>
          </a:prstGeom>
          <a:noFill/>
          <a:ln w="12700">
            <a:solidFill>
              <a:srgbClr val="D6D4C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70432" y="4005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Relevance Scoring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Keyword + semantic fusion ranks candidates.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170432" y="43113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Bi-Encoder Matching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Coarse chunk pass finds matching IPFR pages.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70432" y="4617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Cross-Encoder Refinement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Precise rerank plus graph propagation.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5102352"/>
            <a:ext cx="548640" cy="548640"/>
          </a:xfrm>
          <a:prstGeom prst="ellipse">
            <a:avLst/>
          </a:prstGeom>
          <a:solidFill>
            <a:srgbClr val="8B8C5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" y="5255971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70432" y="50657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ALERTING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989320" y="50657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7–9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170432" y="5413248"/>
            <a:ext cx="6190488" cy="0"/>
          </a:xfrm>
          <a:prstGeom prst="line">
            <a:avLst/>
          </a:prstGeom>
          <a:noFill/>
          <a:ln w="12700">
            <a:solidFill>
              <a:srgbClr val="D6D4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170432" y="55046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Trigger Aggregation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Group every trigger by IPFR page.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170432" y="58110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LLM Assessment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verdict, confidence, and edit suggestions.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70432" y="611733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Notification  </a:t>
            </a:r>
            <a:pPr indent="0" marL="0">
              <a:buNone/>
            </a:pPr>
            <a:r>
              <a:rPr lang="en-US" sz="115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consolidated email with feedback links.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 flipV="1">
            <a:off x="7680960" y="2103120"/>
            <a:ext cx="4297680" cy="3886200"/>
          </a:xfrm>
          <a:prstGeom prst="triangle">
            <a:avLst/>
          </a:prstGeom>
          <a:solidFill>
            <a:srgbClr val="B4B58A">
              <a:alpha val="28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7932420" y="2148840"/>
            <a:ext cx="3794760" cy="914400"/>
          </a:xfrm>
          <a:prstGeom prst="roundRect">
            <a:avLst>
              <a:gd name="adj" fmla="val 9000"/>
            </a:avLst>
          </a:prstGeom>
          <a:solidFill>
            <a:srgbClr val="273A7A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7932420" y="22860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1–3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7932420" y="26517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Pre-processing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 flipV="1">
            <a:off x="9710928" y="3108960"/>
            <a:ext cx="237744" cy="219456"/>
          </a:xfrm>
          <a:prstGeom prst="triangle">
            <a:avLst/>
          </a:prstGeom>
          <a:solidFill>
            <a:srgbClr val="B4B58A"/>
          </a:solidFill>
          <a:ln/>
        </p:spPr>
      </p:sp>
      <p:sp>
        <p:nvSpPr>
          <p:cNvPr id="34" name="Shape 29"/>
          <p:cNvSpPr/>
          <p:nvPr/>
        </p:nvSpPr>
        <p:spPr>
          <a:xfrm>
            <a:off x="8298180" y="3374136"/>
            <a:ext cx="3063240" cy="914400"/>
          </a:xfrm>
          <a:prstGeom prst="roundRect">
            <a:avLst>
              <a:gd name="adj" fmla="val 9000"/>
            </a:avLst>
          </a:prstGeom>
          <a:solidFill>
            <a:srgbClr val="3B5AA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8298180" y="35112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4–6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8298180" y="38770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Filtering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 flipV="1">
            <a:off x="9710928" y="4334256"/>
            <a:ext cx="237744" cy="219456"/>
          </a:xfrm>
          <a:prstGeom prst="triangle">
            <a:avLst/>
          </a:prstGeom>
          <a:solidFill>
            <a:srgbClr val="B4B58A"/>
          </a:solidFill>
          <a:ln/>
        </p:spPr>
      </p:sp>
      <p:sp>
        <p:nvSpPr>
          <p:cNvPr id="38" name="Shape 33"/>
          <p:cNvSpPr/>
          <p:nvPr/>
        </p:nvSpPr>
        <p:spPr>
          <a:xfrm>
            <a:off x="8663940" y="4599432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8B8C5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8663940" y="4736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7–9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8663940" y="5102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Alerting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 flipV="1">
            <a:off x="9710928" y="5824728"/>
            <a:ext cx="237744" cy="219456"/>
          </a:xfrm>
          <a:prstGeom prst="triangle">
            <a:avLst/>
          </a:prstGeom>
          <a:solidFill>
            <a:srgbClr val="B4B58A"/>
          </a:solidFill>
          <a:ln/>
        </p:spPr>
      </p:sp>
      <p:sp>
        <p:nvSpPr>
          <p:cNvPr id="42" name="Shape 37"/>
          <p:cNvSpPr/>
          <p:nvPr/>
        </p:nvSpPr>
        <p:spPr>
          <a:xfrm>
            <a:off x="8915400" y="6099048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BFAF4"/>
          </a:solidFill>
          <a:ln w="15875">
            <a:solidFill>
              <a:srgbClr val="273A7A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6272784"/>
            <a:ext cx="310896" cy="31089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409176" y="609904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REPORT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 –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Pre-Processing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exact filters stop cosmetic noise before a single expensive operation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55580" y="457200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273A7A"/>
          </a:solidFill>
          <a:ln/>
        </p:spPr>
      </p:sp>
      <p:sp>
        <p:nvSpPr>
          <p:cNvPr id="6" name="Shape 4"/>
          <p:cNvSpPr/>
          <p:nvPr/>
        </p:nvSpPr>
        <p:spPr>
          <a:xfrm>
            <a:off x="10492740" y="777240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E4E2D2"/>
          </a:solidFill>
          <a:ln w="15875">
            <a:solidFill>
              <a:srgbClr val="BEB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29900" y="1097280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E4E2D2"/>
          </a:solidFill>
          <a:ln w="15875">
            <a:solidFill>
              <a:srgbClr val="BEB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2240280"/>
            <a:ext cx="603504" cy="603504"/>
          </a:xfrm>
          <a:prstGeom prst="ellipse">
            <a:avLst/>
          </a:prstGeom>
          <a:solidFill>
            <a:srgbClr val="273A7A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933" y="2409261"/>
            <a:ext cx="265542" cy="2655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08760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Probe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7240" y="3044952"/>
            <a:ext cx="2960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whether a source changed at all — using the cheapest signals available, before anything is scraped. A source is probed only when its scheduled check is due.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3816" y="4352544"/>
            <a:ext cx="294223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ETag · Last-Modified · Content-Length · FRL version ID · RSS pub-date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 signal → Stage 2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77240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useful signal? Proceed anyway — an unnecessary scrape is cheap.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341266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97298" y="2240280"/>
            <a:ext cx="603504" cy="603504"/>
          </a:xfrm>
          <a:prstGeom prst="ellipse">
            <a:avLst/>
          </a:prstGeom>
          <a:solidFill>
            <a:srgbClr val="3B5AA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80" y="2409261"/>
            <a:ext cx="265542" cy="26554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7106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7106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Detection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615586" y="3044952"/>
            <a:ext cx="2960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meaningful edits from cosmetic ones on webpages via a three-pass system. FRL and RSS sources skip it — their changes are already structured.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652162" y="4352544"/>
            <a:ext cx="294223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Hash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match ⇒ skip immediately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Diff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word-level; whitespace-only ⇒ cosmetic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Fingerprint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terms, $ amounts, dates, cross-refs, modal verbs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4615586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fingerprint tags high vs standard — it never vetoes a real change.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179613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5645" y="2240280"/>
            <a:ext cx="603504" cy="603504"/>
          </a:xfrm>
          <a:prstGeom prst="ellipse">
            <a:avLst/>
          </a:prstGeom>
          <a:solidFill>
            <a:srgbClr val="8B8C5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26" y="2409261"/>
            <a:ext cx="265542" cy="26554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85453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185453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Generation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8453933" y="3044952"/>
            <a:ext cx="2960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 precise, source-appropriate representation of what changed, then normalises it into one canonical plain-text string for every stage that follows.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490509" y="4352544"/>
            <a:ext cx="294223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Webpage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.diff vs prior snapshot (6 kept)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FRL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Explanatory Statement DOCX → text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per-item GUID / field-level delta</a:t>
            </a:r>
            <a:endParaRPr lang="en-US" sz="1080" dirty="0"/>
          </a:p>
        </p:txBody>
      </p:sp>
      <p:sp>
        <p:nvSpPr>
          <p:cNvPr id="32" name="Text 27"/>
          <p:cNvSpPr/>
          <p:nvPr/>
        </p:nvSpPr>
        <p:spPr>
          <a:xfrm>
            <a:off x="8453933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Normalise: decode entities, collapse whitespace, NFC — never lowercased.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4 –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Filtering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Progressively more precise — and more expensive — matching narrows the field to the pages a change truly affects.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55580" y="457200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E4E2D2"/>
          </a:solidFill>
          <a:ln w="15875">
            <a:solidFill>
              <a:srgbClr val="BEB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2740" y="777240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3B5AA6"/>
          </a:solidFill>
          <a:ln/>
        </p:spPr>
      </p:sp>
      <p:sp>
        <p:nvSpPr>
          <p:cNvPr id="7" name="Shape 5"/>
          <p:cNvSpPr/>
          <p:nvPr/>
        </p:nvSpPr>
        <p:spPr>
          <a:xfrm>
            <a:off x="10629900" y="1097280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E4E2D2"/>
          </a:solidFill>
          <a:ln w="15875">
            <a:solidFill>
              <a:srgbClr val="BEB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2240280"/>
            <a:ext cx="603504" cy="603504"/>
          </a:xfrm>
          <a:prstGeom prst="ellipse">
            <a:avLst/>
          </a:prstGeom>
          <a:solidFill>
            <a:srgbClr val="273A7A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933" y="2409261"/>
            <a:ext cx="265542" cy="2655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08760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Scoring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7240" y="3044952"/>
            <a:ext cx="2960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IPFR pages could this change touch? Two signals are fused by weighted Reciprocal Rank Fusion before any heavy semantic work begins.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3816" y="4352544"/>
            <a:ext cx="294223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YAKE keyphrases vs full-page index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Bi-encoder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 cosine vs page embeddings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weighted 2× keyword (k = 60)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77240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+ threshold + fast-pass keep a major change from being capped at 5 pages.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341266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97298" y="2240280"/>
            <a:ext cx="603504" cy="603504"/>
          </a:xfrm>
          <a:prstGeom prst="ellipse">
            <a:avLst/>
          </a:prstGeom>
          <a:solidFill>
            <a:srgbClr val="3B5AA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80" y="2409261"/>
            <a:ext cx="265542" cy="26554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7106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7106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Bi-Encoder Matching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615586" y="3044952"/>
            <a:ext cx="2960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coarse chunk-level pass. The change is chunked and BGE-encoded, then cosine-compared against every precomputed IPFR chunk embedding.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652162" y="4352544"/>
            <a:ext cx="294223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if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single chunk ≥ 0.75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chunks from a page ≥ 0.45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4615586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dot products over embeddings already built during corpus ingestion.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179613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5645" y="2240280"/>
            <a:ext cx="603504" cy="603504"/>
          </a:xfrm>
          <a:prstGeom prst="ellipse">
            <a:avLst/>
          </a:prstGeom>
          <a:solidFill>
            <a:srgbClr val="8B8C5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26" y="2409261"/>
            <a:ext cx="265542" cy="26554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85453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185453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Refinement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8453933" y="3044952"/>
            <a:ext cx="29605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reranking of the survivors with the gte-reranker cross-encoder (8,192-token window), fusing semantic, lexical and graph signals.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490509" y="4352544"/>
            <a:ext cx="294223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+ Stage-4 lexical + quasi-graph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Propagate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flow along edges (decay 0.45 / hop, ≤ 3 hops)</a:t>
            </a:r>
            <a:endParaRPr lang="en-US" sz="1080" dirty="0"/>
          </a:p>
        </p:txBody>
      </p:sp>
      <p:sp>
        <p:nvSpPr>
          <p:cNvPr id="32" name="Text 27"/>
          <p:cNvSpPr/>
          <p:nvPr/>
        </p:nvSpPr>
        <p:spPr>
          <a:xfrm>
            <a:off x="8453933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 only boost, never lower; pages ≥ 0.60 proceed to aggregation.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7 –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Alerting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are grouped, judged by a generative model, and delivered as a single actionable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55580" y="457200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E4E2D2"/>
          </a:solidFill>
          <a:ln w="15875">
            <a:solidFill>
              <a:srgbClr val="BEB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2740" y="777240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E4E2D2"/>
          </a:solidFill>
          <a:ln w="15875">
            <a:solidFill>
              <a:srgbClr val="BEB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29900" y="1097280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8B8C56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2240280"/>
            <a:ext cx="603504" cy="603504"/>
          </a:xfrm>
          <a:prstGeom prst="ellipse">
            <a:avLst/>
          </a:prstGeom>
          <a:solidFill>
            <a:srgbClr val="273A7A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933" y="2409261"/>
            <a:ext cx="265542" cy="2655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08760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Aggregation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7240" y="3044952"/>
            <a:ext cx="29605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every trigger that survived Stage 6 by IPFR page — so the owner gets one alert per page and the model can reason over the combined effect of several changes.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3816" y="4581144"/>
            <a:ext cx="294223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diffs + source metadata + Stage 4–6 scores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27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bundle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IPFR page → Stage 8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77240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duplicate notifications about the same page in one run.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341266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97298" y="2240280"/>
            <a:ext cx="603504" cy="603504"/>
          </a:xfrm>
          <a:prstGeom prst="ellipse">
            <a:avLst/>
          </a:prstGeom>
          <a:solidFill>
            <a:srgbClr val="3B5AA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80" y="2409261"/>
            <a:ext cx="265542" cy="26554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7106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7106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Assessment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615586" y="3044952"/>
            <a:ext cx="29605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LLM call per page returns a structured verdict. UNCERTAIN is a valid, expected output — the model never guesses to resolve genuine ambiguity.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652162" y="4581144"/>
            <a:ext cx="294223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CHANGE_REQUIRED · NO_CHANGE · UNCERTAIN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page + diffs + bi-/cross-encoder scores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3B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reasoning, suggested edits (validated JSON)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4615586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Fail-closed: schema-invalid twice → skip page and log to health.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179613" y="1965960"/>
            <a:ext cx="3509162" cy="4526280"/>
          </a:xfrm>
          <a:prstGeom prst="roundRect">
            <a:avLst>
              <a:gd name="adj" fmla="val 2606"/>
            </a:avLst>
          </a:prstGeom>
          <a:solidFill>
            <a:srgbClr val="FBFAF4"/>
          </a:solidFill>
          <a:ln w="12700">
            <a:solidFill>
              <a:srgbClr val="D6D4C6"/>
            </a:solidFill>
            <a:prstDash val="solid"/>
          </a:ln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5645" y="2240280"/>
            <a:ext cx="603504" cy="603504"/>
          </a:xfrm>
          <a:prstGeom prst="ellipse">
            <a:avLst/>
          </a:prstGeom>
          <a:solidFill>
            <a:srgbClr val="8B8C56"/>
          </a:solidFill>
          <a:ln/>
          <a:effectLst>
            <a:outerShdw sx="100000" sy="100000" kx="0" ky="0" algn="bl" rotWithShape="0" blurRad="88900" dist="38100" dir="5400000">
              <a:srgbClr val="9A9788">
                <a:alpha val="2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26" y="2409261"/>
            <a:ext cx="265542" cy="26554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85453" y="224028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9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185453" y="2459736"/>
            <a:ext cx="2302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8453933" y="3044952"/>
            <a:ext cx="29605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consolidated email per run summarises every flagged page. If nothing is flagged, no email is sent — but the run is still fully logged.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490509" y="4581144"/>
            <a:ext cx="294223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page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diff, reasoning, full edits, score evidence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human-review (UNCERTAIN) · rejected candidates</a:t>
            </a:r>
            <a:endParaRPr lang="en-US" sz="108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080" b="1" dirty="0">
                <a:solidFill>
                  <a:srgbClr val="8B8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</a:t>
            </a:r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24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mailto links calibrate the system over time</a:t>
            </a:r>
            <a:endParaRPr lang="en-US" sz="1080" dirty="0"/>
          </a:p>
        </p:txBody>
      </p:sp>
      <p:sp>
        <p:nvSpPr>
          <p:cNvPr id="32" name="Text 27"/>
          <p:cNvSpPr/>
          <p:nvPr/>
        </p:nvSpPr>
        <p:spPr>
          <a:xfrm>
            <a:off x="8453933" y="5980176"/>
            <a:ext cx="29605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via GitHub Actions + smtplib to the content owner.</a:t>
            </a:r>
            <a:endParaRPr lang="en-US" sz="980" dirty="0"/>
          </a:p>
        </p:txBody>
      </p:sp>
      <p:sp>
        <p:nvSpPr>
          <p:cNvPr id="33" name="Text 28"/>
          <p:cNvSpPr/>
          <p:nvPr/>
        </p:nvSpPr>
        <p:spPr>
          <a:xfrm>
            <a:off x="502920" y="658368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mode runs Stages 1–7 and logs scores while skipping Stages 8–9 during calibration; LLM calls that fail after retries are deferred and retried at the start of the next run.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Tripwire — 9-Stage Filter-Funnel Architecture</dc:title>
  <dc:subject>PptxGenJS Presentation</dc:subject>
  <dc:creator>Tripwire</dc:creator>
  <cp:lastModifiedBy>Tripwire</cp:lastModifiedBy>
  <cp:revision>1</cp:revision>
  <dcterms:created xsi:type="dcterms:W3CDTF">2026-07-23T14:53:27Z</dcterms:created>
  <dcterms:modified xsi:type="dcterms:W3CDTF">2026-07-23T14:53:27Z</dcterms:modified>
</cp:coreProperties>
</file>